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7"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300" r:id="rId26"/>
    <p:sldId id="280" r:id="rId27"/>
    <p:sldId id="281" r:id="rId28"/>
    <p:sldId id="301" r:id="rId29"/>
    <p:sldId id="282" r:id="rId30"/>
    <p:sldId id="283" r:id="rId31"/>
    <p:sldId id="284" r:id="rId32"/>
    <p:sldId id="285" r:id="rId33"/>
    <p:sldId id="286" r:id="rId34"/>
    <p:sldId id="287" r:id="rId35"/>
    <p:sldId id="288" r:id="rId36"/>
    <p:sldId id="289" r:id="rId37"/>
    <p:sldId id="302" r:id="rId38"/>
    <p:sldId id="290" r:id="rId39"/>
    <p:sldId id="291" r:id="rId40"/>
    <p:sldId id="292" r:id="rId41"/>
    <p:sldId id="293" r:id="rId42"/>
    <p:sldId id="294" r:id="rId43"/>
    <p:sldId id="295" r:id="rId44"/>
    <p:sldId id="296" r:id="rId45"/>
    <p:sldId id="297" r:id="rId46"/>
    <p:sldId id="298" r:id="rId47"/>
    <p:sldId id="299" r:id="rId48"/>
  </p:sldIdLst>
  <p:sldSz cx="9144000" cy="5143500" type="screen16x9"/>
  <p:notesSz cx="6858000" cy="9144000"/>
  <p:embeddedFontLst>
    <p:embeddedFont>
      <p:font typeface="Poppins" pitchFamily="2" charset="77"/>
      <p:regular r:id="rId50"/>
      <p:bold r:id="rId51"/>
      <p:italic r:id="rId52"/>
      <p:boldItalic r:id="rId53"/>
    </p:embeddedFont>
    <p:embeddedFont>
      <p:font typeface="Poppins ExtraBold" panose="00000900000000000000"/>
      <p:bold r:id="rId54"/>
      <p:italic r:id="rId55"/>
      <p:boldItalic r:id="rId56"/>
    </p:embeddedFont>
    <p:embeddedFont>
      <p:font typeface="Poppins Light" panose="00000400000000000000"/>
      <p:regular r:id="rId57"/>
      <p:bold r:id="rId58"/>
      <p:italic r:id="rId59"/>
      <p:boldItalic r:id="rId6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A16D522-D285-4379-80FD-8D04E42976DE}">
  <a:tblStyle styleId="{7A16D522-D285-4379-80FD-8D04E42976DE}"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60" d="100"/>
          <a:sy n="160" d="100"/>
        </p:scale>
        <p:origin x="784"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1.fntdata"/><Relationship Id="rId55" Type="http://schemas.openxmlformats.org/officeDocument/2006/relationships/font" Target="fonts/font6.fntdata"/><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font" Target="fonts/font9.fntdata"/><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7.fntdata"/><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5.fntdata"/><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font" Target="fonts/font8.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60"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2e765b648f9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2e765b648f9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3e097f27ac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3e097f27ac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ca26fb31b2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ca26fb31b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e097f27ac8_4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e097f27ac8_4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3e097f27ac8_4_3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3e097f27ac8_4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e097f27ac8_4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e097f27ac8_4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e097f27ac8_4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e097f27ac8_4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e097f27ac8_4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e097f27ac8_4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e097f27ac8_4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e097f27ac8_4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ML leans patterns and relationships based on the data we used for training. Basically knowledge. This knowledge is used to produce output for  the input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e097f27ac8_4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e097f27ac8_4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3e097f27ac8_4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3e097f27ac8_4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ML - trained for specific taks</a:t>
            </a:r>
            <a:endParaRPr/>
          </a:p>
          <a:p>
            <a:pPr marL="0" lvl="0" indent="0" algn="l" rtl="0">
              <a:spcBef>
                <a:spcPts val="0"/>
              </a:spcBef>
              <a:spcAft>
                <a:spcPts val="0"/>
              </a:spcAft>
              <a:buNone/>
            </a:pPr>
            <a:r>
              <a:rPr lang="en"/>
              <a:t>Neural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3e097f27ac8_4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3e097f27ac8_4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e097f27ac8_4_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e097f27ac8_4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3e097f27ac8_4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3e097f27ac8_4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e097f27ac8_4_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3e097f27ac8_4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3e097f27ac8_4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3e097f27ac8_4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e097f27ac8_4_1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e097f27ac8_4_1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e097f27ac8_4_1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3e097f27ac8_4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e097f27ac8_4_1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e097f27ac8_4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e097f27ac8_4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9" name="Google Shape;199;g3e097f27ac8_4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Best to use engliush since optimized utilization of token</a:t>
            </a:r>
            <a:endParaRPr/>
          </a:p>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3e097f27ac8_4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3e097f27ac8_4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Summarize at 80%. We must do summarize at 50% with guide line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3e097f27ac8_4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3e097f27ac8_4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g3e097f27ac8_4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9" name="Google Shape;219;g3e097f27ac8_4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3e097f27ac8_4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3e097f27ac8_4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e097f27ac8_4_1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3e097f27ac8_4_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e097f27ac8_4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7" name="Google Shape;237;g3e097f27ac8_4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3e097f27ac8_4_1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3e097f27ac8_4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3e5d1bd2c65_0_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3e5d1bd2c65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3e5d1bd2c65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3e5d1bd2c65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e5d1bd2c65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3e5d1bd2c65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3e5d1bd2c65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3e5d1bd2c65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3e097f27ac8_4_1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3e097f27ac8_4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3e097f27ac8_4_1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3e097f27ac8_4_1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e097f27ac8_4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3e097f27ac8_4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3e097f27ac8_4_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 name="Google Shape;331;g3e097f27ac8_4_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3e5d1bd2c65_0_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3e5d1bd2c65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g3e097f27ac8_4_2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4" name="Google Shape;344;g3e097f27ac8_4_2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3e097f27ac8_4_2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3e097f27ac8_4_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3e097f27ac8_4_2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3e097f27ac8_4_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g3e097f27ac8_4_2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6" name="Google Shape;366;g3e097f27ac8_4_2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3e097f27ac8_4_2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3e097f27ac8_4_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3e097f27ac8_4_2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3e097f27ac8_4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3e097f27ac8_4_2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5" name="Google Shape;385;g3e097f27ac8_4_2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3e097f27ac8_4_2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1" name="Google Shape;391;g3e097f27ac8_4_2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Slide">
  <p:cSld name="TITLE_1_1">
    <p:spTree>
      <p:nvGrpSpPr>
        <p:cNvPr id="1"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a:stretch/>
        </p:blipFill>
        <p:spPr>
          <a:xfrm>
            <a:off x="0" y="0"/>
            <a:ext cx="9144010" cy="5143503"/>
          </a:xfrm>
          <a:prstGeom prst="rect">
            <a:avLst/>
          </a:prstGeom>
          <a:noFill/>
          <a:ln>
            <a:noFill/>
          </a:ln>
        </p:spPr>
      </p:pic>
      <p:sp>
        <p:nvSpPr>
          <p:cNvPr id="11" name="Google Shape;11;p2"/>
          <p:cNvSpPr txBox="1"/>
          <p:nvPr/>
        </p:nvSpPr>
        <p:spPr>
          <a:xfrm>
            <a:off x="3085500" y="4904653"/>
            <a:ext cx="2973000" cy="15270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0"/>
              </a:spcBef>
              <a:spcAft>
                <a:spcPts val="0"/>
              </a:spcAft>
              <a:buClr>
                <a:srgbClr val="000000"/>
              </a:buClr>
              <a:buSzPts val="1100"/>
              <a:buFont typeface="Arial"/>
              <a:buNone/>
            </a:pPr>
            <a:r>
              <a:rPr lang="en" sz="500">
                <a:solidFill>
                  <a:schemeClr val="lt1"/>
                </a:solidFill>
                <a:latin typeface="Poppins Light"/>
                <a:ea typeface="Poppins Light"/>
                <a:cs typeface="Poppins Light"/>
                <a:sym typeface="Poppins Light"/>
              </a:rPr>
              <a:t>Confidential | Copyright 2025, Asthra HealthTech. All rights reserved.</a:t>
            </a:r>
            <a:endParaRPr sz="500">
              <a:solidFill>
                <a:schemeClr val="lt1"/>
              </a:solidFill>
              <a:latin typeface="Poppins"/>
              <a:ea typeface="Poppins"/>
              <a:cs typeface="Poppins"/>
              <a:sym typeface="Poppi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reak Slide">
  <p:cSld name="TITLE_1_1_4">
    <p:spTree>
      <p:nvGrpSpPr>
        <p:cNvPr id="1" name="Shape 12"/>
        <p:cNvGrpSpPr/>
        <p:nvPr/>
      </p:nvGrpSpPr>
      <p:grpSpPr>
        <a:xfrm>
          <a:off x="0" y="0"/>
          <a:ext cx="0" cy="0"/>
          <a:chOff x="0" y="0"/>
          <a:chExt cx="0" cy="0"/>
        </a:xfrm>
      </p:grpSpPr>
      <p:pic>
        <p:nvPicPr>
          <p:cNvPr id="13" name="Google Shape;13;p3"/>
          <p:cNvPicPr preferRelativeResize="0"/>
          <p:nvPr/>
        </p:nvPicPr>
        <p:blipFill rotWithShape="1">
          <a:blip r:embed="rId2">
            <a:alphaModFix/>
          </a:blip>
          <a:srcRect/>
          <a:stretch/>
        </p:blipFill>
        <p:spPr>
          <a:xfrm>
            <a:off x="0" y="0"/>
            <a:ext cx="9144010" cy="5143503"/>
          </a:xfrm>
          <a:prstGeom prst="rect">
            <a:avLst/>
          </a:prstGeom>
          <a:noFill/>
          <a:ln>
            <a:noFill/>
          </a:ln>
        </p:spPr>
      </p:pic>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chemeClr val="lt1"/>
              </a:buClr>
              <a:buSzPts val="3600"/>
              <a:buNone/>
              <a:defRPr sz="3600" b="1">
                <a:solidFill>
                  <a:schemeClr val="lt1"/>
                </a:solidFill>
              </a:defRPr>
            </a:lvl1pPr>
            <a:lvl2pPr lvl="1" algn="ctr" rtl="0">
              <a:spcBef>
                <a:spcPts val="0"/>
              </a:spcBef>
              <a:spcAft>
                <a:spcPts val="0"/>
              </a:spcAft>
              <a:buClr>
                <a:schemeClr val="lt1"/>
              </a:buClr>
              <a:buSzPts val="3600"/>
              <a:buNone/>
              <a:defRPr sz="3600" b="1">
                <a:solidFill>
                  <a:schemeClr val="lt1"/>
                </a:solidFill>
              </a:defRPr>
            </a:lvl2pPr>
            <a:lvl3pPr lvl="2" algn="ctr" rtl="0">
              <a:spcBef>
                <a:spcPts val="0"/>
              </a:spcBef>
              <a:spcAft>
                <a:spcPts val="0"/>
              </a:spcAft>
              <a:buClr>
                <a:schemeClr val="lt1"/>
              </a:buClr>
              <a:buSzPts val="3600"/>
              <a:buNone/>
              <a:defRPr sz="3600" b="1">
                <a:solidFill>
                  <a:schemeClr val="lt1"/>
                </a:solidFill>
              </a:defRPr>
            </a:lvl3pPr>
            <a:lvl4pPr lvl="3" algn="ctr" rtl="0">
              <a:spcBef>
                <a:spcPts val="0"/>
              </a:spcBef>
              <a:spcAft>
                <a:spcPts val="0"/>
              </a:spcAft>
              <a:buClr>
                <a:schemeClr val="lt1"/>
              </a:buClr>
              <a:buSzPts val="3600"/>
              <a:buNone/>
              <a:defRPr sz="3600" b="1">
                <a:solidFill>
                  <a:schemeClr val="lt1"/>
                </a:solidFill>
              </a:defRPr>
            </a:lvl4pPr>
            <a:lvl5pPr lvl="4" algn="ctr" rtl="0">
              <a:spcBef>
                <a:spcPts val="0"/>
              </a:spcBef>
              <a:spcAft>
                <a:spcPts val="0"/>
              </a:spcAft>
              <a:buClr>
                <a:schemeClr val="lt1"/>
              </a:buClr>
              <a:buSzPts val="3600"/>
              <a:buNone/>
              <a:defRPr sz="3600" b="1">
                <a:solidFill>
                  <a:schemeClr val="lt1"/>
                </a:solidFill>
              </a:defRPr>
            </a:lvl5pPr>
            <a:lvl6pPr lvl="5" algn="ctr" rtl="0">
              <a:spcBef>
                <a:spcPts val="0"/>
              </a:spcBef>
              <a:spcAft>
                <a:spcPts val="0"/>
              </a:spcAft>
              <a:buClr>
                <a:schemeClr val="lt1"/>
              </a:buClr>
              <a:buSzPts val="3600"/>
              <a:buNone/>
              <a:defRPr sz="3600" b="1">
                <a:solidFill>
                  <a:schemeClr val="lt1"/>
                </a:solidFill>
              </a:defRPr>
            </a:lvl6pPr>
            <a:lvl7pPr lvl="6" algn="ctr" rtl="0">
              <a:spcBef>
                <a:spcPts val="0"/>
              </a:spcBef>
              <a:spcAft>
                <a:spcPts val="0"/>
              </a:spcAft>
              <a:buClr>
                <a:schemeClr val="lt1"/>
              </a:buClr>
              <a:buSzPts val="3600"/>
              <a:buNone/>
              <a:defRPr sz="3600" b="1">
                <a:solidFill>
                  <a:schemeClr val="lt1"/>
                </a:solidFill>
              </a:defRPr>
            </a:lvl7pPr>
            <a:lvl8pPr lvl="7" algn="ctr" rtl="0">
              <a:spcBef>
                <a:spcPts val="0"/>
              </a:spcBef>
              <a:spcAft>
                <a:spcPts val="0"/>
              </a:spcAft>
              <a:buClr>
                <a:schemeClr val="lt1"/>
              </a:buClr>
              <a:buSzPts val="3600"/>
              <a:buNone/>
              <a:defRPr sz="3600" b="1">
                <a:solidFill>
                  <a:schemeClr val="lt1"/>
                </a:solidFill>
              </a:defRPr>
            </a:lvl8pPr>
            <a:lvl9pPr lvl="8" algn="ctr" rtl="0">
              <a:spcBef>
                <a:spcPts val="0"/>
              </a:spcBef>
              <a:spcAft>
                <a:spcPts val="0"/>
              </a:spcAft>
              <a:buClr>
                <a:schemeClr val="lt1"/>
              </a:buClr>
              <a:buSzPts val="3600"/>
              <a:buNone/>
              <a:defRPr sz="3600" b="1">
                <a:solidFill>
                  <a:schemeClr val="lt1"/>
                </a:solidFill>
              </a:defRPr>
            </a:lvl9pPr>
          </a:lstStyle>
          <a:p>
            <a:endParaRPr/>
          </a:p>
        </p:txBody>
      </p:sp>
      <p:pic>
        <p:nvPicPr>
          <p:cNvPr id="15" name="Google Shape;15;p3"/>
          <p:cNvPicPr preferRelativeResize="0"/>
          <p:nvPr/>
        </p:nvPicPr>
        <p:blipFill rotWithShape="1">
          <a:blip r:embed="rId3">
            <a:alphaModFix/>
          </a:blip>
          <a:stretch>
            <a:fillRect/>
          </a:stretch>
        </p:blipFill>
        <p:spPr>
          <a:xfrm>
            <a:off x="76200" y="4677475"/>
            <a:ext cx="1068750" cy="360000"/>
          </a:xfrm>
          <a:prstGeom prst="rect">
            <a:avLst/>
          </a:prstGeom>
          <a:noFill/>
          <a:ln>
            <a:noFill/>
          </a:ln>
        </p:spPr>
      </p:pic>
      <p:sp>
        <p:nvSpPr>
          <p:cNvPr id="16" name="Google Shape;16;p3"/>
          <p:cNvSpPr txBox="1"/>
          <p:nvPr/>
        </p:nvSpPr>
        <p:spPr>
          <a:xfrm>
            <a:off x="8472450" y="4806749"/>
            <a:ext cx="548700" cy="3423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800">
                <a:solidFill>
                  <a:schemeClr val="lt1"/>
                </a:solidFill>
                <a:latin typeface="Poppins"/>
                <a:ea typeface="Poppins"/>
                <a:cs typeface="Poppins"/>
                <a:sym typeface="Poppins"/>
              </a:rPr>
              <a:t>‹#›</a:t>
            </a:fld>
            <a:endParaRPr sz="800">
              <a:solidFill>
                <a:schemeClr val="lt1"/>
              </a:solidFill>
              <a:latin typeface="Poppins"/>
              <a:ea typeface="Poppins"/>
              <a:cs typeface="Poppins"/>
              <a:sym typeface="Poppins"/>
            </a:endParaRPr>
          </a:p>
        </p:txBody>
      </p:sp>
      <p:sp>
        <p:nvSpPr>
          <p:cNvPr id="17" name="Google Shape;17;p3"/>
          <p:cNvSpPr txBox="1"/>
          <p:nvPr/>
        </p:nvSpPr>
        <p:spPr>
          <a:xfrm>
            <a:off x="3085500" y="4904653"/>
            <a:ext cx="2973000" cy="15270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0"/>
              </a:spcBef>
              <a:spcAft>
                <a:spcPts val="0"/>
              </a:spcAft>
              <a:buClr>
                <a:srgbClr val="000000"/>
              </a:buClr>
              <a:buSzPts val="1100"/>
              <a:buFont typeface="Arial"/>
              <a:buNone/>
            </a:pPr>
            <a:r>
              <a:rPr lang="en" sz="500">
                <a:solidFill>
                  <a:schemeClr val="lt1"/>
                </a:solidFill>
                <a:latin typeface="Poppins Light"/>
                <a:ea typeface="Poppins Light"/>
                <a:cs typeface="Poppins Light"/>
                <a:sym typeface="Poppins Light"/>
              </a:rPr>
              <a:t>Confidential | Copyright 2025, Asthra HealthTech. All rights reserved.</a:t>
            </a:r>
            <a:endParaRPr sz="500">
              <a:solidFill>
                <a:schemeClr val="lt1"/>
              </a:solidFill>
              <a:latin typeface="Poppins"/>
              <a:ea typeface="Poppins"/>
              <a:cs typeface="Poppins"/>
              <a:sym typeface="Poppi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Questions Slide">
  <p:cSld name="TITLE_1_1_4_1">
    <p:spTree>
      <p:nvGrpSpPr>
        <p:cNvPr id="1" name="Shape 18"/>
        <p:cNvGrpSpPr/>
        <p:nvPr/>
      </p:nvGrpSpPr>
      <p:grpSpPr>
        <a:xfrm>
          <a:off x="0" y="0"/>
          <a:ext cx="0" cy="0"/>
          <a:chOff x="0" y="0"/>
          <a:chExt cx="0" cy="0"/>
        </a:xfrm>
      </p:grpSpPr>
      <p:pic>
        <p:nvPicPr>
          <p:cNvPr id="19" name="Google Shape;19;p4"/>
          <p:cNvPicPr preferRelativeResize="0"/>
          <p:nvPr/>
        </p:nvPicPr>
        <p:blipFill rotWithShape="1">
          <a:blip r:embed="rId2">
            <a:alphaModFix/>
          </a:blip>
          <a:srcRect/>
          <a:stretch/>
        </p:blipFill>
        <p:spPr>
          <a:xfrm>
            <a:off x="0" y="0"/>
            <a:ext cx="9144010" cy="5143503"/>
          </a:xfrm>
          <a:prstGeom prst="rect">
            <a:avLst/>
          </a:prstGeom>
          <a:noFill/>
          <a:ln>
            <a:noFill/>
          </a:ln>
        </p:spPr>
      </p:pic>
      <p:sp>
        <p:nvSpPr>
          <p:cNvPr id="20" name="Google Shape;20;p4"/>
          <p:cNvSpPr txBox="1"/>
          <p:nvPr/>
        </p:nvSpPr>
        <p:spPr>
          <a:xfrm>
            <a:off x="3085500" y="4904653"/>
            <a:ext cx="2973000" cy="15270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0"/>
              </a:spcBef>
              <a:spcAft>
                <a:spcPts val="0"/>
              </a:spcAft>
              <a:buClr>
                <a:srgbClr val="000000"/>
              </a:buClr>
              <a:buSzPts val="1100"/>
              <a:buFont typeface="Arial"/>
              <a:buNone/>
            </a:pPr>
            <a:r>
              <a:rPr lang="en" sz="500">
                <a:solidFill>
                  <a:schemeClr val="lt1"/>
                </a:solidFill>
                <a:latin typeface="Poppins Light"/>
                <a:ea typeface="Poppins Light"/>
                <a:cs typeface="Poppins Light"/>
                <a:sym typeface="Poppins Light"/>
              </a:rPr>
              <a:t>Confidential | Copyright 2025, Asthra HealthTech. All rights reserved.</a:t>
            </a:r>
            <a:endParaRPr sz="500">
              <a:solidFill>
                <a:schemeClr val="lt1"/>
              </a:solidFill>
              <a:latin typeface="Poppins"/>
              <a:ea typeface="Poppins"/>
              <a:cs typeface="Poppins"/>
              <a:sym typeface="Poppins"/>
            </a:endParaRPr>
          </a:p>
        </p:txBody>
      </p:sp>
      <p:sp>
        <p:nvSpPr>
          <p:cNvPr id="21" name="Google Shape;21;p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chemeClr val="lt1"/>
              </a:buClr>
              <a:buSzPts val="3600"/>
              <a:buNone/>
              <a:defRPr sz="3600" b="1">
                <a:solidFill>
                  <a:schemeClr val="lt1"/>
                </a:solidFill>
              </a:defRPr>
            </a:lvl1pPr>
            <a:lvl2pPr lvl="1" algn="ctr" rtl="0">
              <a:spcBef>
                <a:spcPts val="0"/>
              </a:spcBef>
              <a:spcAft>
                <a:spcPts val="0"/>
              </a:spcAft>
              <a:buClr>
                <a:schemeClr val="lt1"/>
              </a:buClr>
              <a:buSzPts val="3600"/>
              <a:buNone/>
              <a:defRPr sz="3600" b="1">
                <a:solidFill>
                  <a:schemeClr val="lt1"/>
                </a:solidFill>
              </a:defRPr>
            </a:lvl2pPr>
            <a:lvl3pPr lvl="2" algn="ctr" rtl="0">
              <a:spcBef>
                <a:spcPts val="0"/>
              </a:spcBef>
              <a:spcAft>
                <a:spcPts val="0"/>
              </a:spcAft>
              <a:buClr>
                <a:schemeClr val="lt1"/>
              </a:buClr>
              <a:buSzPts val="3600"/>
              <a:buNone/>
              <a:defRPr sz="3600" b="1">
                <a:solidFill>
                  <a:schemeClr val="lt1"/>
                </a:solidFill>
              </a:defRPr>
            </a:lvl3pPr>
            <a:lvl4pPr lvl="3" algn="ctr" rtl="0">
              <a:spcBef>
                <a:spcPts val="0"/>
              </a:spcBef>
              <a:spcAft>
                <a:spcPts val="0"/>
              </a:spcAft>
              <a:buClr>
                <a:schemeClr val="lt1"/>
              </a:buClr>
              <a:buSzPts val="3600"/>
              <a:buNone/>
              <a:defRPr sz="3600" b="1">
                <a:solidFill>
                  <a:schemeClr val="lt1"/>
                </a:solidFill>
              </a:defRPr>
            </a:lvl4pPr>
            <a:lvl5pPr lvl="4" algn="ctr" rtl="0">
              <a:spcBef>
                <a:spcPts val="0"/>
              </a:spcBef>
              <a:spcAft>
                <a:spcPts val="0"/>
              </a:spcAft>
              <a:buClr>
                <a:schemeClr val="lt1"/>
              </a:buClr>
              <a:buSzPts val="3600"/>
              <a:buNone/>
              <a:defRPr sz="3600" b="1">
                <a:solidFill>
                  <a:schemeClr val="lt1"/>
                </a:solidFill>
              </a:defRPr>
            </a:lvl5pPr>
            <a:lvl6pPr lvl="5" algn="ctr" rtl="0">
              <a:spcBef>
                <a:spcPts val="0"/>
              </a:spcBef>
              <a:spcAft>
                <a:spcPts val="0"/>
              </a:spcAft>
              <a:buClr>
                <a:schemeClr val="lt1"/>
              </a:buClr>
              <a:buSzPts val="3600"/>
              <a:buNone/>
              <a:defRPr sz="3600" b="1">
                <a:solidFill>
                  <a:schemeClr val="lt1"/>
                </a:solidFill>
              </a:defRPr>
            </a:lvl6pPr>
            <a:lvl7pPr lvl="6" algn="ctr" rtl="0">
              <a:spcBef>
                <a:spcPts val="0"/>
              </a:spcBef>
              <a:spcAft>
                <a:spcPts val="0"/>
              </a:spcAft>
              <a:buClr>
                <a:schemeClr val="lt1"/>
              </a:buClr>
              <a:buSzPts val="3600"/>
              <a:buNone/>
              <a:defRPr sz="3600" b="1">
                <a:solidFill>
                  <a:schemeClr val="lt1"/>
                </a:solidFill>
              </a:defRPr>
            </a:lvl7pPr>
            <a:lvl8pPr lvl="7" algn="ctr" rtl="0">
              <a:spcBef>
                <a:spcPts val="0"/>
              </a:spcBef>
              <a:spcAft>
                <a:spcPts val="0"/>
              </a:spcAft>
              <a:buClr>
                <a:schemeClr val="lt1"/>
              </a:buClr>
              <a:buSzPts val="3600"/>
              <a:buNone/>
              <a:defRPr sz="3600" b="1">
                <a:solidFill>
                  <a:schemeClr val="lt1"/>
                </a:solidFill>
              </a:defRPr>
            </a:lvl8pPr>
            <a:lvl9pPr lvl="8" algn="ctr" rtl="0">
              <a:spcBef>
                <a:spcPts val="0"/>
              </a:spcBef>
              <a:spcAft>
                <a:spcPts val="0"/>
              </a:spcAft>
              <a:buClr>
                <a:schemeClr val="lt1"/>
              </a:buClr>
              <a:buSzPts val="3600"/>
              <a:buNone/>
              <a:defRPr sz="3600" b="1">
                <a:solidFill>
                  <a:schemeClr val="lt1"/>
                </a:solidFill>
              </a:defRPr>
            </a:lvl9pPr>
          </a:lstStyle>
          <a:p>
            <a:endParaRPr/>
          </a:p>
        </p:txBody>
      </p:sp>
      <p:pic>
        <p:nvPicPr>
          <p:cNvPr id="22" name="Google Shape;22;p4"/>
          <p:cNvPicPr preferRelativeResize="0"/>
          <p:nvPr/>
        </p:nvPicPr>
        <p:blipFill rotWithShape="1">
          <a:blip r:embed="rId3">
            <a:alphaModFix/>
          </a:blip>
          <a:stretch>
            <a:fillRect/>
          </a:stretch>
        </p:blipFill>
        <p:spPr>
          <a:xfrm>
            <a:off x="76200" y="4677475"/>
            <a:ext cx="1068750" cy="360000"/>
          </a:xfrm>
          <a:prstGeom prst="rect">
            <a:avLst/>
          </a:prstGeom>
          <a:noFill/>
          <a:ln>
            <a:noFill/>
          </a:ln>
        </p:spPr>
      </p:pic>
      <p:sp>
        <p:nvSpPr>
          <p:cNvPr id="23" name="Google Shape;23;p4"/>
          <p:cNvSpPr txBox="1"/>
          <p:nvPr/>
        </p:nvSpPr>
        <p:spPr>
          <a:xfrm>
            <a:off x="8472450" y="4806749"/>
            <a:ext cx="548700" cy="3423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800">
                <a:solidFill>
                  <a:schemeClr val="accent1"/>
                </a:solidFill>
                <a:latin typeface="Poppins"/>
                <a:ea typeface="Poppins"/>
                <a:cs typeface="Poppins"/>
                <a:sym typeface="Poppins"/>
              </a:rPr>
              <a:t>‹#›</a:t>
            </a:fld>
            <a:endParaRPr sz="800">
              <a:solidFill>
                <a:schemeClr val="accent1"/>
              </a:solidFill>
              <a:latin typeface="Poppins"/>
              <a:ea typeface="Poppins"/>
              <a:cs typeface="Poppins"/>
              <a:sym typeface="Poppi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 Bottom Graphic">
  <p:cSld name="SECTION_HEADER_1_2">
    <p:spTree>
      <p:nvGrpSpPr>
        <p:cNvPr id="1" name="Shape 24"/>
        <p:cNvGrpSpPr/>
        <p:nvPr/>
      </p:nvGrpSpPr>
      <p:grpSpPr>
        <a:xfrm>
          <a:off x="0" y="0"/>
          <a:ext cx="0" cy="0"/>
          <a:chOff x="0" y="0"/>
          <a:chExt cx="0" cy="0"/>
        </a:xfrm>
      </p:grpSpPr>
      <p:pic>
        <p:nvPicPr>
          <p:cNvPr id="25" name="Google Shape;25;p5"/>
          <p:cNvPicPr preferRelativeResize="0"/>
          <p:nvPr/>
        </p:nvPicPr>
        <p:blipFill rotWithShape="1">
          <a:blip r:embed="rId2">
            <a:alphaModFix/>
          </a:blip>
          <a:srcRect t="86881" b="80"/>
          <a:stretch/>
        </p:blipFill>
        <p:spPr>
          <a:xfrm>
            <a:off x="2451" y="4472800"/>
            <a:ext cx="9144003" cy="670700"/>
          </a:xfrm>
          <a:prstGeom prst="rect">
            <a:avLst/>
          </a:prstGeom>
          <a:noFill/>
          <a:ln>
            <a:noFill/>
          </a:ln>
        </p:spPr>
      </p:pic>
      <p:sp>
        <p:nvSpPr>
          <p:cNvPr id="26" name="Google Shape;26;p5"/>
          <p:cNvSpPr/>
          <p:nvPr/>
        </p:nvSpPr>
        <p:spPr>
          <a:xfrm>
            <a:off x="-8150" y="-13700"/>
            <a:ext cx="9160500" cy="78000"/>
          </a:xfrm>
          <a:prstGeom prst="rect">
            <a:avLst/>
          </a:prstGeom>
          <a:solidFill>
            <a:srgbClr val="002D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5"/>
          <p:cNvSpPr txBox="1">
            <a:spLocks noGrp="1"/>
          </p:cNvSpPr>
          <p:nvPr>
            <p:ph type="title"/>
          </p:nvPr>
        </p:nvSpPr>
        <p:spPr>
          <a:xfrm>
            <a:off x="544400" y="1719225"/>
            <a:ext cx="3836100" cy="841800"/>
          </a:xfrm>
          <a:prstGeom prst="rect">
            <a:avLst/>
          </a:prstGeom>
        </p:spPr>
        <p:txBody>
          <a:bodyPr spcFirstLastPara="1" wrap="square" lIns="91425" tIns="91425" rIns="91425" bIns="91425" anchor="ctr" anchorCtr="0">
            <a:normAutofit/>
          </a:bodyPr>
          <a:lstStyle>
            <a:lvl1pPr lvl="0" rtl="0">
              <a:lnSpc>
                <a:spcPct val="80000"/>
              </a:lnSpc>
              <a:spcBef>
                <a:spcPts val="0"/>
              </a:spcBef>
              <a:spcAft>
                <a:spcPts val="0"/>
              </a:spcAft>
              <a:buClr>
                <a:srgbClr val="002D5C"/>
              </a:buClr>
              <a:buSzPts val="3000"/>
              <a:buNone/>
              <a:defRPr sz="3000" b="1">
                <a:solidFill>
                  <a:srgbClr val="002D5C"/>
                </a:solidFill>
              </a:defRPr>
            </a:lvl1pPr>
            <a:lvl2pPr lvl="1" algn="ctr" rtl="0">
              <a:spcBef>
                <a:spcPts val="0"/>
              </a:spcBef>
              <a:spcAft>
                <a:spcPts val="0"/>
              </a:spcAft>
              <a:buSzPts val="3600"/>
              <a:buNone/>
              <a:defRPr sz="3600" b="1"/>
            </a:lvl2pPr>
            <a:lvl3pPr lvl="2" algn="ctr" rtl="0">
              <a:spcBef>
                <a:spcPts val="0"/>
              </a:spcBef>
              <a:spcAft>
                <a:spcPts val="0"/>
              </a:spcAft>
              <a:buSzPts val="3600"/>
              <a:buNone/>
              <a:defRPr sz="3600" b="1"/>
            </a:lvl3pPr>
            <a:lvl4pPr lvl="3" algn="ctr" rtl="0">
              <a:spcBef>
                <a:spcPts val="0"/>
              </a:spcBef>
              <a:spcAft>
                <a:spcPts val="0"/>
              </a:spcAft>
              <a:buSzPts val="3600"/>
              <a:buNone/>
              <a:defRPr sz="3600" b="1"/>
            </a:lvl4pPr>
            <a:lvl5pPr lvl="4" algn="ctr" rtl="0">
              <a:spcBef>
                <a:spcPts val="0"/>
              </a:spcBef>
              <a:spcAft>
                <a:spcPts val="0"/>
              </a:spcAft>
              <a:buSzPts val="3600"/>
              <a:buNone/>
              <a:defRPr sz="3600" b="1"/>
            </a:lvl5pPr>
            <a:lvl6pPr lvl="5" algn="ctr" rtl="0">
              <a:spcBef>
                <a:spcPts val="0"/>
              </a:spcBef>
              <a:spcAft>
                <a:spcPts val="0"/>
              </a:spcAft>
              <a:buSzPts val="3600"/>
              <a:buNone/>
              <a:defRPr sz="3600" b="1"/>
            </a:lvl6pPr>
            <a:lvl7pPr lvl="6" algn="ctr" rtl="0">
              <a:spcBef>
                <a:spcPts val="0"/>
              </a:spcBef>
              <a:spcAft>
                <a:spcPts val="0"/>
              </a:spcAft>
              <a:buSzPts val="3600"/>
              <a:buNone/>
              <a:defRPr sz="3600" b="1"/>
            </a:lvl7pPr>
            <a:lvl8pPr lvl="7" algn="ctr" rtl="0">
              <a:spcBef>
                <a:spcPts val="0"/>
              </a:spcBef>
              <a:spcAft>
                <a:spcPts val="0"/>
              </a:spcAft>
              <a:buSzPts val="3600"/>
              <a:buNone/>
              <a:defRPr sz="3600" b="1"/>
            </a:lvl8pPr>
            <a:lvl9pPr lvl="8" algn="ctr" rtl="0">
              <a:spcBef>
                <a:spcPts val="0"/>
              </a:spcBef>
              <a:spcAft>
                <a:spcPts val="0"/>
              </a:spcAft>
              <a:buSzPts val="3600"/>
              <a:buNone/>
              <a:defRPr sz="3600" b="1"/>
            </a:lvl9pPr>
          </a:lstStyle>
          <a:p>
            <a:endParaRPr/>
          </a:p>
        </p:txBody>
      </p:sp>
      <p:pic>
        <p:nvPicPr>
          <p:cNvPr id="28" name="Google Shape;28;p5"/>
          <p:cNvPicPr preferRelativeResize="0"/>
          <p:nvPr/>
        </p:nvPicPr>
        <p:blipFill rotWithShape="1">
          <a:blip r:embed="rId3">
            <a:alphaModFix/>
          </a:blip>
          <a:stretch>
            <a:fillRect/>
          </a:stretch>
        </p:blipFill>
        <p:spPr>
          <a:xfrm>
            <a:off x="76200" y="4677475"/>
            <a:ext cx="1068750" cy="360000"/>
          </a:xfrm>
          <a:prstGeom prst="rect">
            <a:avLst/>
          </a:prstGeom>
          <a:noFill/>
          <a:ln>
            <a:noFill/>
          </a:ln>
        </p:spPr>
      </p:pic>
      <p:sp>
        <p:nvSpPr>
          <p:cNvPr id="29" name="Google Shape;29;p5"/>
          <p:cNvSpPr txBox="1"/>
          <p:nvPr/>
        </p:nvSpPr>
        <p:spPr>
          <a:xfrm>
            <a:off x="8472450" y="4806749"/>
            <a:ext cx="548700" cy="3423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800">
                <a:solidFill>
                  <a:schemeClr val="accent1"/>
                </a:solidFill>
                <a:latin typeface="Poppins"/>
                <a:ea typeface="Poppins"/>
                <a:cs typeface="Poppins"/>
                <a:sym typeface="Poppins"/>
              </a:rPr>
              <a:t>‹#›</a:t>
            </a:fld>
            <a:endParaRPr sz="800">
              <a:solidFill>
                <a:schemeClr val="accent1"/>
              </a:solidFill>
              <a:latin typeface="Poppins"/>
              <a:ea typeface="Poppins"/>
              <a:cs typeface="Poppins"/>
              <a:sym typeface="Poppins"/>
            </a:endParaRPr>
          </a:p>
        </p:txBody>
      </p:sp>
      <p:sp>
        <p:nvSpPr>
          <p:cNvPr id="30" name="Google Shape;30;p5"/>
          <p:cNvSpPr txBox="1"/>
          <p:nvPr/>
        </p:nvSpPr>
        <p:spPr>
          <a:xfrm>
            <a:off x="3085500" y="4904653"/>
            <a:ext cx="2973000" cy="15270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0"/>
              </a:spcBef>
              <a:spcAft>
                <a:spcPts val="0"/>
              </a:spcAft>
              <a:buClr>
                <a:srgbClr val="000000"/>
              </a:buClr>
              <a:buSzPts val="1100"/>
              <a:buFont typeface="Arial"/>
              <a:buNone/>
            </a:pPr>
            <a:r>
              <a:rPr lang="en" sz="500">
                <a:solidFill>
                  <a:schemeClr val="lt1"/>
                </a:solidFill>
                <a:latin typeface="Poppins Light"/>
                <a:ea typeface="Poppins Light"/>
                <a:cs typeface="Poppins Light"/>
                <a:sym typeface="Poppins Light"/>
              </a:rPr>
              <a:t>Confidential | Copyright 2025, Asthra HealthTech. All rights reserved.</a:t>
            </a:r>
            <a:endParaRPr sz="500">
              <a:solidFill>
                <a:schemeClr val="lt1"/>
              </a:solidFill>
              <a:latin typeface="Poppins"/>
              <a:ea typeface="Poppins"/>
              <a:cs typeface="Poppins"/>
              <a:sym typeface="Poppi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 Top and Bottom Graphic">
  <p:cSld name="SECTION_HEADER_1_2_1">
    <p:spTree>
      <p:nvGrpSpPr>
        <p:cNvPr id="1" name="Shape 31"/>
        <p:cNvGrpSpPr/>
        <p:nvPr/>
      </p:nvGrpSpPr>
      <p:grpSpPr>
        <a:xfrm>
          <a:off x="0" y="0"/>
          <a:ext cx="0" cy="0"/>
          <a:chOff x="0" y="0"/>
          <a:chExt cx="0" cy="0"/>
        </a:xfrm>
      </p:grpSpPr>
      <p:pic>
        <p:nvPicPr>
          <p:cNvPr id="32" name="Google Shape;32;p6"/>
          <p:cNvPicPr preferRelativeResize="0"/>
          <p:nvPr/>
        </p:nvPicPr>
        <p:blipFill>
          <a:blip r:embed="rId2">
            <a:alphaModFix/>
          </a:blip>
          <a:stretch>
            <a:fillRect/>
          </a:stretch>
        </p:blipFill>
        <p:spPr>
          <a:xfrm>
            <a:off x="0" y="0"/>
            <a:ext cx="9144000" cy="5149051"/>
          </a:xfrm>
          <a:prstGeom prst="rect">
            <a:avLst/>
          </a:prstGeom>
          <a:noFill/>
          <a:ln>
            <a:noFill/>
          </a:ln>
        </p:spPr>
      </p:pic>
      <p:pic>
        <p:nvPicPr>
          <p:cNvPr id="33" name="Google Shape;33;p6"/>
          <p:cNvPicPr preferRelativeResize="0"/>
          <p:nvPr/>
        </p:nvPicPr>
        <p:blipFill rotWithShape="1">
          <a:blip r:embed="rId3">
            <a:alphaModFix/>
          </a:blip>
          <a:stretch>
            <a:fillRect/>
          </a:stretch>
        </p:blipFill>
        <p:spPr>
          <a:xfrm>
            <a:off x="76200" y="4677475"/>
            <a:ext cx="1068750" cy="360000"/>
          </a:xfrm>
          <a:prstGeom prst="rect">
            <a:avLst/>
          </a:prstGeom>
          <a:noFill/>
          <a:ln>
            <a:noFill/>
          </a:ln>
        </p:spPr>
      </p:pic>
      <p:sp>
        <p:nvSpPr>
          <p:cNvPr id="34" name="Google Shape;34;p6"/>
          <p:cNvSpPr txBox="1"/>
          <p:nvPr/>
        </p:nvSpPr>
        <p:spPr>
          <a:xfrm>
            <a:off x="8472450" y="4806749"/>
            <a:ext cx="548700" cy="3423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800">
                <a:solidFill>
                  <a:srgbClr val="FFFFFF"/>
                </a:solidFill>
                <a:latin typeface="Poppins"/>
                <a:ea typeface="Poppins"/>
                <a:cs typeface="Poppins"/>
                <a:sym typeface="Poppins"/>
              </a:rPr>
              <a:t>‹#›</a:t>
            </a:fld>
            <a:endParaRPr sz="800">
              <a:solidFill>
                <a:srgbClr val="FFFFFF"/>
              </a:solidFill>
              <a:latin typeface="Poppins"/>
              <a:ea typeface="Poppins"/>
              <a:cs typeface="Poppins"/>
              <a:sym typeface="Poppins"/>
            </a:endParaRPr>
          </a:p>
        </p:txBody>
      </p:sp>
      <p:sp>
        <p:nvSpPr>
          <p:cNvPr id="35" name="Google Shape;35;p6"/>
          <p:cNvSpPr txBox="1"/>
          <p:nvPr/>
        </p:nvSpPr>
        <p:spPr>
          <a:xfrm>
            <a:off x="3085500" y="4904653"/>
            <a:ext cx="2973000" cy="15270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0"/>
              </a:spcBef>
              <a:spcAft>
                <a:spcPts val="0"/>
              </a:spcAft>
              <a:buClr>
                <a:srgbClr val="000000"/>
              </a:buClr>
              <a:buSzPts val="1100"/>
              <a:buFont typeface="Arial"/>
              <a:buNone/>
            </a:pPr>
            <a:r>
              <a:rPr lang="en" sz="500">
                <a:solidFill>
                  <a:schemeClr val="accent5"/>
                </a:solidFill>
                <a:latin typeface="Poppins Light"/>
                <a:ea typeface="Poppins Light"/>
                <a:cs typeface="Poppins Light"/>
                <a:sym typeface="Poppins Light"/>
              </a:rPr>
              <a:t>Confidential | Copyright 2025, Asthra HealthTech. All rights reserved.</a:t>
            </a:r>
            <a:endParaRPr sz="500">
              <a:solidFill>
                <a:schemeClr val="accent5"/>
              </a:solidFill>
              <a:latin typeface="Poppins"/>
              <a:ea typeface="Poppins"/>
              <a:cs typeface="Poppins"/>
              <a:sym typeface="Poppins"/>
            </a:endParaRPr>
          </a:p>
        </p:txBody>
      </p:sp>
      <p:sp>
        <p:nvSpPr>
          <p:cNvPr id="36" name="Google Shape;36;p6"/>
          <p:cNvSpPr txBox="1">
            <a:spLocks noGrp="1"/>
          </p:cNvSpPr>
          <p:nvPr>
            <p:ph type="title"/>
          </p:nvPr>
        </p:nvSpPr>
        <p:spPr>
          <a:xfrm>
            <a:off x="544400" y="1719225"/>
            <a:ext cx="3836100" cy="841800"/>
          </a:xfrm>
          <a:prstGeom prst="rect">
            <a:avLst/>
          </a:prstGeom>
        </p:spPr>
        <p:txBody>
          <a:bodyPr spcFirstLastPara="1" wrap="square" lIns="91425" tIns="91425" rIns="91425" bIns="91425" anchor="ctr" anchorCtr="0">
            <a:normAutofit/>
          </a:bodyPr>
          <a:lstStyle>
            <a:lvl1pPr lvl="0" rtl="0">
              <a:lnSpc>
                <a:spcPct val="80000"/>
              </a:lnSpc>
              <a:spcBef>
                <a:spcPts val="0"/>
              </a:spcBef>
              <a:spcAft>
                <a:spcPts val="0"/>
              </a:spcAft>
              <a:buClr>
                <a:srgbClr val="002D5C"/>
              </a:buClr>
              <a:buSzPts val="3000"/>
              <a:buNone/>
              <a:defRPr sz="3000" b="1">
                <a:solidFill>
                  <a:srgbClr val="002D5C"/>
                </a:solidFill>
              </a:defRPr>
            </a:lvl1pPr>
            <a:lvl2pPr lvl="1" algn="ctr" rtl="0">
              <a:spcBef>
                <a:spcPts val="0"/>
              </a:spcBef>
              <a:spcAft>
                <a:spcPts val="0"/>
              </a:spcAft>
              <a:buSzPts val="3600"/>
              <a:buNone/>
              <a:defRPr sz="3600" b="1"/>
            </a:lvl2pPr>
            <a:lvl3pPr lvl="2" algn="ctr" rtl="0">
              <a:spcBef>
                <a:spcPts val="0"/>
              </a:spcBef>
              <a:spcAft>
                <a:spcPts val="0"/>
              </a:spcAft>
              <a:buSzPts val="3600"/>
              <a:buNone/>
              <a:defRPr sz="3600" b="1"/>
            </a:lvl3pPr>
            <a:lvl4pPr lvl="3" algn="ctr" rtl="0">
              <a:spcBef>
                <a:spcPts val="0"/>
              </a:spcBef>
              <a:spcAft>
                <a:spcPts val="0"/>
              </a:spcAft>
              <a:buSzPts val="3600"/>
              <a:buNone/>
              <a:defRPr sz="3600" b="1"/>
            </a:lvl4pPr>
            <a:lvl5pPr lvl="4" algn="ctr" rtl="0">
              <a:spcBef>
                <a:spcPts val="0"/>
              </a:spcBef>
              <a:spcAft>
                <a:spcPts val="0"/>
              </a:spcAft>
              <a:buSzPts val="3600"/>
              <a:buNone/>
              <a:defRPr sz="3600" b="1"/>
            </a:lvl5pPr>
            <a:lvl6pPr lvl="5" algn="ctr" rtl="0">
              <a:spcBef>
                <a:spcPts val="0"/>
              </a:spcBef>
              <a:spcAft>
                <a:spcPts val="0"/>
              </a:spcAft>
              <a:buSzPts val="3600"/>
              <a:buNone/>
              <a:defRPr sz="3600" b="1"/>
            </a:lvl6pPr>
            <a:lvl7pPr lvl="6" algn="ctr" rtl="0">
              <a:spcBef>
                <a:spcPts val="0"/>
              </a:spcBef>
              <a:spcAft>
                <a:spcPts val="0"/>
              </a:spcAft>
              <a:buSzPts val="3600"/>
              <a:buNone/>
              <a:defRPr sz="3600" b="1"/>
            </a:lvl7pPr>
            <a:lvl8pPr lvl="7" algn="ctr" rtl="0">
              <a:spcBef>
                <a:spcPts val="0"/>
              </a:spcBef>
              <a:spcAft>
                <a:spcPts val="0"/>
              </a:spcAft>
              <a:buSzPts val="3600"/>
              <a:buNone/>
              <a:defRPr sz="3600" b="1"/>
            </a:lvl8pPr>
            <a:lvl9pPr lvl="8" algn="ctr" rtl="0">
              <a:spcBef>
                <a:spcPts val="0"/>
              </a:spcBef>
              <a:spcAft>
                <a:spcPts val="0"/>
              </a:spcAft>
              <a:buSzPts val="3600"/>
              <a:buNone/>
              <a:defRPr sz="3600" b="1"/>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tandard Slide - Bottom Graphic">
  <p:cSld name="TITLE_AND_BODY_1">
    <p:spTree>
      <p:nvGrpSpPr>
        <p:cNvPr id="1" name="Shape 37"/>
        <p:cNvGrpSpPr/>
        <p:nvPr/>
      </p:nvGrpSpPr>
      <p:grpSpPr>
        <a:xfrm>
          <a:off x="0" y="0"/>
          <a:ext cx="0" cy="0"/>
          <a:chOff x="0" y="0"/>
          <a:chExt cx="0" cy="0"/>
        </a:xfrm>
      </p:grpSpPr>
      <p:pic>
        <p:nvPicPr>
          <p:cNvPr id="38" name="Google Shape;38;p7"/>
          <p:cNvPicPr preferRelativeResize="0"/>
          <p:nvPr/>
        </p:nvPicPr>
        <p:blipFill rotWithShape="1">
          <a:blip r:embed="rId2">
            <a:alphaModFix/>
          </a:blip>
          <a:srcRect t="86881" b="80"/>
          <a:stretch/>
        </p:blipFill>
        <p:spPr>
          <a:xfrm>
            <a:off x="2451" y="4472800"/>
            <a:ext cx="9144003" cy="670700"/>
          </a:xfrm>
          <a:prstGeom prst="rect">
            <a:avLst/>
          </a:prstGeom>
          <a:noFill/>
          <a:ln>
            <a:noFill/>
          </a:ln>
        </p:spPr>
      </p:pic>
      <p:sp>
        <p:nvSpPr>
          <p:cNvPr id="39" name="Google Shape;39;p7"/>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rgbClr val="002D5C"/>
              </a:buClr>
              <a:buSzPts val="2200"/>
              <a:buNone/>
              <a:defRPr sz="2200" b="1">
                <a:solidFill>
                  <a:srgbClr val="002D5C"/>
                </a:solidFill>
              </a:defRPr>
            </a:lvl1pPr>
            <a:lvl2pPr lvl="1" algn="ctr" rtl="0">
              <a:spcBef>
                <a:spcPts val="0"/>
              </a:spcBef>
              <a:spcAft>
                <a:spcPts val="0"/>
              </a:spcAft>
              <a:buClr>
                <a:srgbClr val="002D5C"/>
              </a:buClr>
              <a:buSzPts val="2200"/>
              <a:buNone/>
              <a:defRPr sz="2200" b="1">
                <a:solidFill>
                  <a:srgbClr val="002D5C"/>
                </a:solidFill>
              </a:defRPr>
            </a:lvl2pPr>
            <a:lvl3pPr lvl="2" algn="ctr" rtl="0">
              <a:spcBef>
                <a:spcPts val="0"/>
              </a:spcBef>
              <a:spcAft>
                <a:spcPts val="0"/>
              </a:spcAft>
              <a:buClr>
                <a:srgbClr val="002D5C"/>
              </a:buClr>
              <a:buSzPts val="2200"/>
              <a:buNone/>
              <a:defRPr sz="2200" b="1">
                <a:solidFill>
                  <a:srgbClr val="002D5C"/>
                </a:solidFill>
              </a:defRPr>
            </a:lvl3pPr>
            <a:lvl4pPr lvl="3" algn="ctr" rtl="0">
              <a:spcBef>
                <a:spcPts val="0"/>
              </a:spcBef>
              <a:spcAft>
                <a:spcPts val="0"/>
              </a:spcAft>
              <a:buClr>
                <a:srgbClr val="002D5C"/>
              </a:buClr>
              <a:buSzPts val="2200"/>
              <a:buNone/>
              <a:defRPr sz="2200" b="1">
                <a:solidFill>
                  <a:srgbClr val="002D5C"/>
                </a:solidFill>
              </a:defRPr>
            </a:lvl4pPr>
            <a:lvl5pPr lvl="4" algn="ctr" rtl="0">
              <a:spcBef>
                <a:spcPts val="0"/>
              </a:spcBef>
              <a:spcAft>
                <a:spcPts val="0"/>
              </a:spcAft>
              <a:buClr>
                <a:srgbClr val="002D5C"/>
              </a:buClr>
              <a:buSzPts val="2200"/>
              <a:buNone/>
              <a:defRPr sz="2200" b="1">
                <a:solidFill>
                  <a:srgbClr val="002D5C"/>
                </a:solidFill>
              </a:defRPr>
            </a:lvl5pPr>
            <a:lvl6pPr lvl="5" algn="ctr" rtl="0">
              <a:spcBef>
                <a:spcPts val="0"/>
              </a:spcBef>
              <a:spcAft>
                <a:spcPts val="0"/>
              </a:spcAft>
              <a:buClr>
                <a:srgbClr val="002D5C"/>
              </a:buClr>
              <a:buSzPts val="2200"/>
              <a:buNone/>
              <a:defRPr sz="2200" b="1">
                <a:solidFill>
                  <a:srgbClr val="002D5C"/>
                </a:solidFill>
              </a:defRPr>
            </a:lvl6pPr>
            <a:lvl7pPr lvl="6" algn="ctr" rtl="0">
              <a:spcBef>
                <a:spcPts val="0"/>
              </a:spcBef>
              <a:spcAft>
                <a:spcPts val="0"/>
              </a:spcAft>
              <a:buClr>
                <a:srgbClr val="002D5C"/>
              </a:buClr>
              <a:buSzPts val="2200"/>
              <a:buNone/>
              <a:defRPr sz="2200" b="1">
                <a:solidFill>
                  <a:srgbClr val="002D5C"/>
                </a:solidFill>
              </a:defRPr>
            </a:lvl7pPr>
            <a:lvl8pPr lvl="7" algn="ctr" rtl="0">
              <a:spcBef>
                <a:spcPts val="0"/>
              </a:spcBef>
              <a:spcAft>
                <a:spcPts val="0"/>
              </a:spcAft>
              <a:buClr>
                <a:srgbClr val="002D5C"/>
              </a:buClr>
              <a:buSzPts val="2200"/>
              <a:buNone/>
              <a:defRPr sz="2200" b="1">
                <a:solidFill>
                  <a:srgbClr val="002D5C"/>
                </a:solidFill>
              </a:defRPr>
            </a:lvl8pPr>
            <a:lvl9pPr lvl="8" algn="ctr" rtl="0">
              <a:spcBef>
                <a:spcPts val="0"/>
              </a:spcBef>
              <a:spcAft>
                <a:spcPts val="0"/>
              </a:spcAft>
              <a:buClr>
                <a:srgbClr val="002D5C"/>
              </a:buClr>
              <a:buSzPts val="2200"/>
              <a:buNone/>
              <a:defRPr sz="2200" b="1">
                <a:solidFill>
                  <a:srgbClr val="002D5C"/>
                </a:solidFill>
              </a:defRPr>
            </a:lvl9pPr>
          </a:lstStyle>
          <a:p>
            <a:endParaRPr/>
          </a:p>
        </p:txBody>
      </p:sp>
      <p:sp>
        <p:nvSpPr>
          <p:cNvPr id="40" name="Google Shape;40;p7"/>
          <p:cNvSpPr/>
          <p:nvPr/>
        </p:nvSpPr>
        <p:spPr>
          <a:xfrm>
            <a:off x="-8150" y="-13700"/>
            <a:ext cx="9160500" cy="78000"/>
          </a:xfrm>
          <a:prstGeom prst="rect">
            <a:avLst/>
          </a:prstGeom>
          <a:solidFill>
            <a:srgbClr val="002D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7"/>
          <p:cNvSpPr txBox="1">
            <a:spLocks noGrp="1"/>
          </p:cNvSpPr>
          <p:nvPr>
            <p:ph type="body" idx="1"/>
          </p:nvPr>
        </p:nvSpPr>
        <p:spPr>
          <a:xfrm>
            <a:off x="311700" y="97942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Clr>
                <a:schemeClr val="dk1"/>
              </a:buClr>
              <a:buSzPts val="1800"/>
              <a:buChar char="●"/>
              <a:defRPr>
                <a:solidFill>
                  <a:schemeClr val="dk1"/>
                </a:solidFill>
              </a:defRPr>
            </a:lvl1pPr>
            <a:lvl2pPr marL="914400" lvl="1" indent="-317500" rtl="0">
              <a:spcBef>
                <a:spcPts val="0"/>
              </a:spcBef>
              <a:spcAft>
                <a:spcPts val="0"/>
              </a:spcAft>
              <a:buClr>
                <a:schemeClr val="dk1"/>
              </a:buClr>
              <a:buSzPts val="1400"/>
              <a:buChar char="○"/>
              <a:defRPr>
                <a:solidFill>
                  <a:schemeClr val="dk1"/>
                </a:solidFill>
              </a:defRPr>
            </a:lvl2pPr>
            <a:lvl3pPr marL="1371600" lvl="2" indent="-317500" rtl="0">
              <a:spcBef>
                <a:spcPts val="0"/>
              </a:spcBef>
              <a:spcAft>
                <a:spcPts val="0"/>
              </a:spcAft>
              <a:buClr>
                <a:schemeClr val="dk1"/>
              </a:buClr>
              <a:buSzPts val="1400"/>
              <a:buChar char="■"/>
              <a:defRPr>
                <a:solidFill>
                  <a:schemeClr val="dk1"/>
                </a:solidFill>
              </a:defRPr>
            </a:lvl3pPr>
            <a:lvl4pPr marL="1828800" lvl="3" indent="-317500" rtl="0">
              <a:spcBef>
                <a:spcPts val="0"/>
              </a:spcBef>
              <a:spcAft>
                <a:spcPts val="0"/>
              </a:spcAft>
              <a:buClr>
                <a:schemeClr val="dk1"/>
              </a:buClr>
              <a:buSzPts val="1400"/>
              <a:buChar char="●"/>
              <a:defRPr>
                <a:solidFill>
                  <a:schemeClr val="dk1"/>
                </a:solidFill>
              </a:defRPr>
            </a:lvl4pPr>
            <a:lvl5pPr marL="2286000" lvl="4" indent="-317500" rtl="0">
              <a:spcBef>
                <a:spcPts val="0"/>
              </a:spcBef>
              <a:spcAft>
                <a:spcPts val="0"/>
              </a:spcAft>
              <a:buClr>
                <a:schemeClr val="dk1"/>
              </a:buClr>
              <a:buSzPts val="1400"/>
              <a:buChar char="○"/>
              <a:defRPr>
                <a:solidFill>
                  <a:schemeClr val="dk1"/>
                </a:solidFill>
              </a:defRPr>
            </a:lvl5pPr>
            <a:lvl6pPr marL="2743200" lvl="5" indent="-317500" rtl="0">
              <a:spcBef>
                <a:spcPts val="0"/>
              </a:spcBef>
              <a:spcAft>
                <a:spcPts val="0"/>
              </a:spcAft>
              <a:buClr>
                <a:schemeClr val="dk1"/>
              </a:buClr>
              <a:buSzPts val="1400"/>
              <a:buChar char="■"/>
              <a:defRPr>
                <a:solidFill>
                  <a:schemeClr val="dk1"/>
                </a:solidFill>
              </a:defRPr>
            </a:lvl6pPr>
            <a:lvl7pPr marL="3200400" lvl="6" indent="-317500" rtl="0">
              <a:spcBef>
                <a:spcPts val="0"/>
              </a:spcBef>
              <a:spcAft>
                <a:spcPts val="0"/>
              </a:spcAft>
              <a:buClr>
                <a:schemeClr val="dk1"/>
              </a:buClr>
              <a:buSzPts val="1400"/>
              <a:buChar char="●"/>
              <a:defRPr>
                <a:solidFill>
                  <a:schemeClr val="dk1"/>
                </a:solidFill>
              </a:defRPr>
            </a:lvl7pPr>
            <a:lvl8pPr marL="3657600" lvl="7" indent="-317500" rtl="0">
              <a:spcBef>
                <a:spcPts val="0"/>
              </a:spcBef>
              <a:spcAft>
                <a:spcPts val="0"/>
              </a:spcAft>
              <a:buClr>
                <a:schemeClr val="dk1"/>
              </a:buClr>
              <a:buSzPts val="1400"/>
              <a:buChar char="○"/>
              <a:defRPr>
                <a:solidFill>
                  <a:schemeClr val="dk1"/>
                </a:solidFill>
              </a:defRPr>
            </a:lvl8pPr>
            <a:lvl9pPr marL="4114800" lvl="8" indent="-317500" rtl="0">
              <a:spcBef>
                <a:spcPts val="0"/>
              </a:spcBef>
              <a:spcAft>
                <a:spcPts val="0"/>
              </a:spcAft>
              <a:buClr>
                <a:schemeClr val="dk1"/>
              </a:buClr>
              <a:buSzPts val="1400"/>
              <a:buChar char="■"/>
              <a:defRPr>
                <a:solidFill>
                  <a:schemeClr val="dk1"/>
                </a:solidFill>
              </a:defRPr>
            </a:lvl9pPr>
          </a:lstStyle>
          <a:p>
            <a:endParaRPr/>
          </a:p>
        </p:txBody>
      </p:sp>
      <p:pic>
        <p:nvPicPr>
          <p:cNvPr id="42" name="Google Shape;42;p7"/>
          <p:cNvPicPr preferRelativeResize="0"/>
          <p:nvPr/>
        </p:nvPicPr>
        <p:blipFill rotWithShape="1">
          <a:blip r:embed="rId3">
            <a:alphaModFix/>
          </a:blip>
          <a:stretch>
            <a:fillRect/>
          </a:stretch>
        </p:blipFill>
        <p:spPr>
          <a:xfrm>
            <a:off x="76200" y="4677475"/>
            <a:ext cx="1068750" cy="360000"/>
          </a:xfrm>
          <a:prstGeom prst="rect">
            <a:avLst/>
          </a:prstGeom>
          <a:noFill/>
          <a:ln>
            <a:noFill/>
          </a:ln>
        </p:spPr>
      </p:pic>
      <p:sp>
        <p:nvSpPr>
          <p:cNvPr id="43" name="Google Shape;43;p7"/>
          <p:cNvSpPr txBox="1"/>
          <p:nvPr/>
        </p:nvSpPr>
        <p:spPr>
          <a:xfrm>
            <a:off x="8472450" y="4806749"/>
            <a:ext cx="548700" cy="3423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800">
                <a:solidFill>
                  <a:schemeClr val="accent1"/>
                </a:solidFill>
                <a:latin typeface="Poppins"/>
                <a:ea typeface="Poppins"/>
                <a:cs typeface="Poppins"/>
                <a:sym typeface="Poppins"/>
              </a:rPr>
              <a:t>‹#›</a:t>
            </a:fld>
            <a:endParaRPr sz="800">
              <a:solidFill>
                <a:schemeClr val="accent1"/>
              </a:solidFill>
              <a:latin typeface="Poppins"/>
              <a:ea typeface="Poppins"/>
              <a:cs typeface="Poppins"/>
              <a:sym typeface="Poppins"/>
            </a:endParaRPr>
          </a:p>
        </p:txBody>
      </p:sp>
      <p:sp>
        <p:nvSpPr>
          <p:cNvPr id="44" name="Google Shape;44;p7"/>
          <p:cNvSpPr txBox="1"/>
          <p:nvPr/>
        </p:nvSpPr>
        <p:spPr>
          <a:xfrm>
            <a:off x="3085500" y="4904653"/>
            <a:ext cx="2973000" cy="15270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0"/>
              </a:spcBef>
              <a:spcAft>
                <a:spcPts val="0"/>
              </a:spcAft>
              <a:buClr>
                <a:srgbClr val="000000"/>
              </a:buClr>
              <a:buSzPts val="1100"/>
              <a:buFont typeface="Arial"/>
              <a:buNone/>
            </a:pPr>
            <a:r>
              <a:rPr lang="en" sz="500">
                <a:solidFill>
                  <a:schemeClr val="lt1"/>
                </a:solidFill>
                <a:latin typeface="Poppins Light"/>
                <a:ea typeface="Poppins Light"/>
                <a:cs typeface="Poppins Light"/>
                <a:sym typeface="Poppins Light"/>
              </a:rPr>
              <a:t>Confidential | Copyright 2025, Asthra HealthTech. All rights reserved.</a:t>
            </a:r>
            <a:endParaRPr sz="500">
              <a:solidFill>
                <a:schemeClr val="lt1"/>
              </a:solidFill>
              <a:latin typeface="Poppins"/>
              <a:ea typeface="Poppins"/>
              <a:cs typeface="Poppins"/>
              <a:sym typeface="Poppi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tandard Slide - Top and Bottom Graphic">
  <p:cSld name="TITLE_ONLY_1_4">
    <p:spTree>
      <p:nvGrpSpPr>
        <p:cNvPr id="1" name="Shape 45"/>
        <p:cNvGrpSpPr/>
        <p:nvPr/>
      </p:nvGrpSpPr>
      <p:grpSpPr>
        <a:xfrm>
          <a:off x="0" y="0"/>
          <a:ext cx="0" cy="0"/>
          <a:chOff x="0" y="0"/>
          <a:chExt cx="0" cy="0"/>
        </a:xfrm>
      </p:grpSpPr>
      <p:pic>
        <p:nvPicPr>
          <p:cNvPr id="46" name="Google Shape;46;p8"/>
          <p:cNvPicPr preferRelativeResize="0"/>
          <p:nvPr/>
        </p:nvPicPr>
        <p:blipFill>
          <a:blip r:embed="rId2">
            <a:alphaModFix/>
          </a:blip>
          <a:stretch>
            <a:fillRect/>
          </a:stretch>
        </p:blipFill>
        <p:spPr>
          <a:xfrm>
            <a:off x="0" y="0"/>
            <a:ext cx="9144000" cy="5149051"/>
          </a:xfrm>
          <a:prstGeom prst="rect">
            <a:avLst/>
          </a:prstGeom>
          <a:noFill/>
          <a:ln>
            <a:noFill/>
          </a:ln>
        </p:spPr>
      </p:pic>
      <p:pic>
        <p:nvPicPr>
          <p:cNvPr id="47" name="Google Shape;47;p8"/>
          <p:cNvPicPr preferRelativeResize="0"/>
          <p:nvPr/>
        </p:nvPicPr>
        <p:blipFill rotWithShape="1">
          <a:blip r:embed="rId3">
            <a:alphaModFix/>
          </a:blip>
          <a:stretch>
            <a:fillRect/>
          </a:stretch>
        </p:blipFill>
        <p:spPr>
          <a:xfrm>
            <a:off x="76200" y="4677475"/>
            <a:ext cx="1068750" cy="360000"/>
          </a:xfrm>
          <a:prstGeom prst="rect">
            <a:avLst/>
          </a:prstGeom>
          <a:noFill/>
          <a:ln>
            <a:noFill/>
          </a:ln>
        </p:spPr>
      </p:pic>
      <p:sp>
        <p:nvSpPr>
          <p:cNvPr id="48" name="Google Shape;48;p8"/>
          <p:cNvSpPr txBox="1"/>
          <p:nvPr/>
        </p:nvSpPr>
        <p:spPr>
          <a:xfrm>
            <a:off x="8472450" y="4806749"/>
            <a:ext cx="548700" cy="3423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800">
                <a:solidFill>
                  <a:srgbClr val="FFFFFF"/>
                </a:solidFill>
                <a:latin typeface="Poppins"/>
                <a:ea typeface="Poppins"/>
                <a:cs typeface="Poppins"/>
                <a:sym typeface="Poppins"/>
              </a:rPr>
              <a:t>‹#›</a:t>
            </a:fld>
            <a:endParaRPr sz="800">
              <a:solidFill>
                <a:srgbClr val="FFFFFF"/>
              </a:solidFill>
              <a:latin typeface="Poppins"/>
              <a:ea typeface="Poppins"/>
              <a:cs typeface="Poppins"/>
              <a:sym typeface="Poppins"/>
            </a:endParaRPr>
          </a:p>
        </p:txBody>
      </p:sp>
      <p:sp>
        <p:nvSpPr>
          <p:cNvPr id="49" name="Google Shape;49;p8"/>
          <p:cNvSpPr txBox="1"/>
          <p:nvPr/>
        </p:nvSpPr>
        <p:spPr>
          <a:xfrm>
            <a:off x="3085500" y="4904653"/>
            <a:ext cx="2973000" cy="15270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0"/>
              </a:spcBef>
              <a:spcAft>
                <a:spcPts val="0"/>
              </a:spcAft>
              <a:buClr>
                <a:srgbClr val="000000"/>
              </a:buClr>
              <a:buSzPts val="1100"/>
              <a:buFont typeface="Arial"/>
              <a:buNone/>
            </a:pPr>
            <a:r>
              <a:rPr lang="en" sz="500">
                <a:solidFill>
                  <a:schemeClr val="accent5"/>
                </a:solidFill>
                <a:latin typeface="Poppins Light"/>
                <a:ea typeface="Poppins Light"/>
                <a:cs typeface="Poppins Light"/>
                <a:sym typeface="Poppins Light"/>
              </a:rPr>
              <a:t>Confidential | Copyright 2025, Asthra HealthTech. All rights reserved.</a:t>
            </a:r>
            <a:endParaRPr sz="500">
              <a:solidFill>
                <a:schemeClr val="accent5"/>
              </a:solidFill>
              <a:latin typeface="Poppins"/>
              <a:ea typeface="Poppins"/>
              <a:cs typeface="Poppins"/>
              <a:sym typeface="Poppins"/>
            </a:endParaRPr>
          </a:p>
        </p:txBody>
      </p:sp>
      <p:sp>
        <p:nvSpPr>
          <p:cNvPr id="50" name="Google Shape;50;p8"/>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rgbClr val="002D5C"/>
              </a:buClr>
              <a:buSzPts val="2200"/>
              <a:buNone/>
              <a:defRPr sz="2200" b="1">
                <a:solidFill>
                  <a:srgbClr val="002D5C"/>
                </a:solidFill>
              </a:defRPr>
            </a:lvl1pPr>
            <a:lvl2pPr lvl="1" algn="ctr" rtl="0">
              <a:spcBef>
                <a:spcPts val="0"/>
              </a:spcBef>
              <a:spcAft>
                <a:spcPts val="0"/>
              </a:spcAft>
              <a:buClr>
                <a:srgbClr val="002D5C"/>
              </a:buClr>
              <a:buSzPts val="2200"/>
              <a:buNone/>
              <a:defRPr sz="2200" b="1">
                <a:solidFill>
                  <a:srgbClr val="002D5C"/>
                </a:solidFill>
              </a:defRPr>
            </a:lvl2pPr>
            <a:lvl3pPr lvl="2" algn="ctr" rtl="0">
              <a:spcBef>
                <a:spcPts val="0"/>
              </a:spcBef>
              <a:spcAft>
                <a:spcPts val="0"/>
              </a:spcAft>
              <a:buClr>
                <a:srgbClr val="002D5C"/>
              </a:buClr>
              <a:buSzPts val="2200"/>
              <a:buNone/>
              <a:defRPr sz="2200" b="1">
                <a:solidFill>
                  <a:srgbClr val="002D5C"/>
                </a:solidFill>
              </a:defRPr>
            </a:lvl3pPr>
            <a:lvl4pPr lvl="3" algn="ctr" rtl="0">
              <a:spcBef>
                <a:spcPts val="0"/>
              </a:spcBef>
              <a:spcAft>
                <a:spcPts val="0"/>
              </a:spcAft>
              <a:buClr>
                <a:srgbClr val="002D5C"/>
              </a:buClr>
              <a:buSzPts val="2200"/>
              <a:buNone/>
              <a:defRPr sz="2200" b="1">
                <a:solidFill>
                  <a:srgbClr val="002D5C"/>
                </a:solidFill>
              </a:defRPr>
            </a:lvl4pPr>
            <a:lvl5pPr lvl="4" algn="ctr" rtl="0">
              <a:spcBef>
                <a:spcPts val="0"/>
              </a:spcBef>
              <a:spcAft>
                <a:spcPts val="0"/>
              </a:spcAft>
              <a:buClr>
                <a:srgbClr val="002D5C"/>
              </a:buClr>
              <a:buSzPts val="2200"/>
              <a:buNone/>
              <a:defRPr sz="2200" b="1">
                <a:solidFill>
                  <a:srgbClr val="002D5C"/>
                </a:solidFill>
              </a:defRPr>
            </a:lvl5pPr>
            <a:lvl6pPr lvl="5" algn="ctr" rtl="0">
              <a:spcBef>
                <a:spcPts val="0"/>
              </a:spcBef>
              <a:spcAft>
                <a:spcPts val="0"/>
              </a:spcAft>
              <a:buClr>
                <a:srgbClr val="002D5C"/>
              </a:buClr>
              <a:buSzPts val="2200"/>
              <a:buNone/>
              <a:defRPr sz="2200" b="1">
                <a:solidFill>
                  <a:srgbClr val="002D5C"/>
                </a:solidFill>
              </a:defRPr>
            </a:lvl6pPr>
            <a:lvl7pPr lvl="6" algn="ctr" rtl="0">
              <a:spcBef>
                <a:spcPts val="0"/>
              </a:spcBef>
              <a:spcAft>
                <a:spcPts val="0"/>
              </a:spcAft>
              <a:buClr>
                <a:srgbClr val="002D5C"/>
              </a:buClr>
              <a:buSzPts val="2200"/>
              <a:buNone/>
              <a:defRPr sz="2200" b="1">
                <a:solidFill>
                  <a:srgbClr val="002D5C"/>
                </a:solidFill>
              </a:defRPr>
            </a:lvl7pPr>
            <a:lvl8pPr lvl="7" algn="ctr" rtl="0">
              <a:spcBef>
                <a:spcPts val="0"/>
              </a:spcBef>
              <a:spcAft>
                <a:spcPts val="0"/>
              </a:spcAft>
              <a:buClr>
                <a:srgbClr val="002D5C"/>
              </a:buClr>
              <a:buSzPts val="2200"/>
              <a:buNone/>
              <a:defRPr sz="2200" b="1">
                <a:solidFill>
                  <a:srgbClr val="002D5C"/>
                </a:solidFill>
              </a:defRPr>
            </a:lvl8pPr>
            <a:lvl9pPr lvl="8" algn="ctr" rtl="0">
              <a:spcBef>
                <a:spcPts val="0"/>
              </a:spcBef>
              <a:spcAft>
                <a:spcPts val="0"/>
              </a:spcAft>
              <a:buClr>
                <a:srgbClr val="002D5C"/>
              </a:buClr>
              <a:buSzPts val="2200"/>
              <a:buNone/>
              <a:defRPr sz="2200" b="1">
                <a:solidFill>
                  <a:srgbClr val="002D5C"/>
                </a:solidFill>
              </a:defRPr>
            </a:lvl9pPr>
          </a:lstStyle>
          <a:p>
            <a:endParaRPr/>
          </a:p>
        </p:txBody>
      </p:sp>
      <p:sp>
        <p:nvSpPr>
          <p:cNvPr id="51" name="Google Shape;51;p8"/>
          <p:cNvSpPr txBox="1">
            <a:spLocks noGrp="1"/>
          </p:cNvSpPr>
          <p:nvPr>
            <p:ph type="body" idx="1"/>
          </p:nvPr>
        </p:nvSpPr>
        <p:spPr>
          <a:xfrm>
            <a:off x="311700" y="97942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Clr>
                <a:schemeClr val="dk1"/>
              </a:buClr>
              <a:buSzPts val="1800"/>
              <a:buChar char="●"/>
              <a:defRPr>
                <a:solidFill>
                  <a:schemeClr val="dk1"/>
                </a:solidFill>
              </a:defRPr>
            </a:lvl1pPr>
            <a:lvl2pPr marL="914400" lvl="1" indent="-317500" rtl="0">
              <a:spcBef>
                <a:spcPts val="0"/>
              </a:spcBef>
              <a:spcAft>
                <a:spcPts val="0"/>
              </a:spcAft>
              <a:buClr>
                <a:schemeClr val="dk1"/>
              </a:buClr>
              <a:buSzPts val="1400"/>
              <a:buChar char="○"/>
              <a:defRPr>
                <a:solidFill>
                  <a:schemeClr val="dk1"/>
                </a:solidFill>
              </a:defRPr>
            </a:lvl2pPr>
            <a:lvl3pPr marL="1371600" lvl="2" indent="-317500" rtl="0">
              <a:spcBef>
                <a:spcPts val="0"/>
              </a:spcBef>
              <a:spcAft>
                <a:spcPts val="0"/>
              </a:spcAft>
              <a:buClr>
                <a:schemeClr val="dk1"/>
              </a:buClr>
              <a:buSzPts val="1400"/>
              <a:buChar char="■"/>
              <a:defRPr>
                <a:solidFill>
                  <a:schemeClr val="dk1"/>
                </a:solidFill>
              </a:defRPr>
            </a:lvl3pPr>
            <a:lvl4pPr marL="1828800" lvl="3" indent="-317500" rtl="0">
              <a:spcBef>
                <a:spcPts val="0"/>
              </a:spcBef>
              <a:spcAft>
                <a:spcPts val="0"/>
              </a:spcAft>
              <a:buClr>
                <a:schemeClr val="dk1"/>
              </a:buClr>
              <a:buSzPts val="1400"/>
              <a:buChar char="●"/>
              <a:defRPr>
                <a:solidFill>
                  <a:schemeClr val="dk1"/>
                </a:solidFill>
              </a:defRPr>
            </a:lvl4pPr>
            <a:lvl5pPr marL="2286000" lvl="4" indent="-317500" rtl="0">
              <a:spcBef>
                <a:spcPts val="0"/>
              </a:spcBef>
              <a:spcAft>
                <a:spcPts val="0"/>
              </a:spcAft>
              <a:buClr>
                <a:schemeClr val="dk1"/>
              </a:buClr>
              <a:buSzPts val="1400"/>
              <a:buChar char="○"/>
              <a:defRPr>
                <a:solidFill>
                  <a:schemeClr val="dk1"/>
                </a:solidFill>
              </a:defRPr>
            </a:lvl5pPr>
            <a:lvl6pPr marL="2743200" lvl="5" indent="-317500" rtl="0">
              <a:spcBef>
                <a:spcPts val="0"/>
              </a:spcBef>
              <a:spcAft>
                <a:spcPts val="0"/>
              </a:spcAft>
              <a:buClr>
                <a:schemeClr val="dk1"/>
              </a:buClr>
              <a:buSzPts val="1400"/>
              <a:buChar char="■"/>
              <a:defRPr>
                <a:solidFill>
                  <a:schemeClr val="dk1"/>
                </a:solidFill>
              </a:defRPr>
            </a:lvl6pPr>
            <a:lvl7pPr marL="3200400" lvl="6" indent="-317500" rtl="0">
              <a:spcBef>
                <a:spcPts val="0"/>
              </a:spcBef>
              <a:spcAft>
                <a:spcPts val="0"/>
              </a:spcAft>
              <a:buClr>
                <a:schemeClr val="dk1"/>
              </a:buClr>
              <a:buSzPts val="1400"/>
              <a:buChar char="●"/>
              <a:defRPr>
                <a:solidFill>
                  <a:schemeClr val="dk1"/>
                </a:solidFill>
              </a:defRPr>
            </a:lvl7pPr>
            <a:lvl8pPr marL="3657600" lvl="7" indent="-317500" rtl="0">
              <a:spcBef>
                <a:spcPts val="0"/>
              </a:spcBef>
              <a:spcAft>
                <a:spcPts val="0"/>
              </a:spcAft>
              <a:buClr>
                <a:schemeClr val="dk1"/>
              </a:buClr>
              <a:buSzPts val="1400"/>
              <a:buChar char="○"/>
              <a:defRPr>
                <a:solidFill>
                  <a:schemeClr val="dk1"/>
                </a:solidFill>
              </a:defRPr>
            </a:lvl8pPr>
            <a:lvl9pPr marL="4114800" lvl="8" indent="-317500" rtl="0">
              <a:spcBef>
                <a:spcPts val="0"/>
              </a:spcBef>
              <a:spcAft>
                <a:spcPts val="0"/>
              </a:spcAft>
              <a:buClr>
                <a:schemeClr val="dk1"/>
              </a:buClr>
              <a:buSzPts val="1400"/>
              <a:buChar char="■"/>
              <a:defRPr>
                <a:solidFill>
                  <a:schemeClr val="dk1"/>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tandard Slide - Plain with Title">
  <p:cSld name="TITLE_ONLY_1_4_1">
    <p:spTree>
      <p:nvGrpSpPr>
        <p:cNvPr id="1" name="Shape 52"/>
        <p:cNvGrpSpPr/>
        <p:nvPr/>
      </p:nvGrpSpPr>
      <p:grpSpPr>
        <a:xfrm>
          <a:off x="0" y="0"/>
          <a:ext cx="0" cy="0"/>
          <a:chOff x="0" y="0"/>
          <a:chExt cx="0" cy="0"/>
        </a:xfrm>
      </p:grpSpPr>
      <p:sp>
        <p:nvSpPr>
          <p:cNvPr id="53" name="Google Shape;53;p9"/>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rgbClr val="002D5C"/>
              </a:buClr>
              <a:buSzPts val="2200"/>
              <a:buNone/>
              <a:defRPr sz="2200" b="1">
                <a:solidFill>
                  <a:srgbClr val="002D5C"/>
                </a:solidFill>
              </a:defRPr>
            </a:lvl1pPr>
            <a:lvl2pPr lvl="1" algn="ctr" rtl="0">
              <a:spcBef>
                <a:spcPts val="0"/>
              </a:spcBef>
              <a:spcAft>
                <a:spcPts val="0"/>
              </a:spcAft>
              <a:buClr>
                <a:srgbClr val="002D5C"/>
              </a:buClr>
              <a:buSzPts val="2200"/>
              <a:buNone/>
              <a:defRPr sz="2200" b="1">
                <a:solidFill>
                  <a:srgbClr val="002D5C"/>
                </a:solidFill>
              </a:defRPr>
            </a:lvl2pPr>
            <a:lvl3pPr lvl="2" algn="ctr" rtl="0">
              <a:spcBef>
                <a:spcPts val="0"/>
              </a:spcBef>
              <a:spcAft>
                <a:spcPts val="0"/>
              </a:spcAft>
              <a:buClr>
                <a:srgbClr val="002D5C"/>
              </a:buClr>
              <a:buSzPts val="2200"/>
              <a:buNone/>
              <a:defRPr sz="2200" b="1">
                <a:solidFill>
                  <a:srgbClr val="002D5C"/>
                </a:solidFill>
              </a:defRPr>
            </a:lvl3pPr>
            <a:lvl4pPr lvl="3" algn="ctr" rtl="0">
              <a:spcBef>
                <a:spcPts val="0"/>
              </a:spcBef>
              <a:spcAft>
                <a:spcPts val="0"/>
              </a:spcAft>
              <a:buClr>
                <a:srgbClr val="002D5C"/>
              </a:buClr>
              <a:buSzPts val="2200"/>
              <a:buNone/>
              <a:defRPr sz="2200" b="1">
                <a:solidFill>
                  <a:srgbClr val="002D5C"/>
                </a:solidFill>
              </a:defRPr>
            </a:lvl4pPr>
            <a:lvl5pPr lvl="4" algn="ctr" rtl="0">
              <a:spcBef>
                <a:spcPts val="0"/>
              </a:spcBef>
              <a:spcAft>
                <a:spcPts val="0"/>
              </a:spcAft>
              <a:buClr>
                <a:srgbClr val="002D5C"/>
              </a:buClr>
              <a:buSzPts val="2200"/>
              <a:buNone/>
              <a:defRPr sz="2200" b="1">
                <a:solidFill>
                  <a:srgbClr val="002D5C"/>
                </a:solidFill>
              </a:defRPr>
            </a:lvl5pPr>
            <a:lvl6pPr lvl="5" algn="ctr" rtl="0">
              <a:spcBef>
                <a:spcPts val="0"/>
              </a:spcBef>
              <a:spcAft>
                <a:spcPts val="0"/>
              </a:spcAft>
              <a:buClr>
                <a:srgbClr val="002D5C"/>
              </a:buClr>
              <a:buSzPts val="2200"/>
              <a:buNone/>
              <a:defRPr sz="2200" b="1">
                <a:solidFill>
                  <a:srgbClr val="002D5C"/>
                </a:solidFill>
              </a:defRPr>
            </a:lvl6pPr>
            <a:lvl7pPr lvl="6" algn="ctr" rtl="0">
              <a:spcBef>
                <a:spcPts val="0"/>
              </a:spcBef>
              <a:spcAft>
                <a:spcPts val="0"/>
              </a:spcAft>
              <a:buClr>
                <a:srgbClr val="002D5C"/>
              </a:buClr>
              <a:buSzPts val="2200"/>
              <a:buNone/>
              <a:defRPr sz="2200" b="1">
                <a:solidFill>
                  <a:srgbClr val="002D5C"/>
                </a:solidFill>
              </a:defRPr>
            </a:lvl7pPr>
            <a:lvl8pPr lvl="7" algn="ctr" rtl="0">
              <a:spcBef>
                <a:spcPts val="0"/>
              </a:spcBef>
              <a:spcAft>
                <a:spcPts val="0"/>
              </a:spcAft>
              <a:buClr>
                <a:srgbClr val="002D5C"/>
              </a:buClr>
              <a:buSzPts val="2200"/>
              <a:buNone/>
              <a:defRPr sz="2200" b="1">
                <a:solidFill>
                  <a:srgbClr val="002D5C"/>
                </a:solidFill>
              </a:defRPr>
            </a:lvl8pPr>
            <a:lvl9pPr lvl="8" algn="ctr" rtl="0">
              <a:spcBef>
                <a:spcPts val="0"/>
              </a:spcBef>
              <a:spcAft>
                <a:spcPts val="0"/>
              </a:spcAft>
              <a:buClr>
                <a:srgbClr val="002D5C"/>
              </a:buClr>
              <a:buSzPts val="2200"/>
              <a:buNone/>
              <a:defRPr sz="2200" b="1">
                <a:solidFill>
                  <a:srgbClr val="002D5C"/>
                </a:solidFill>
              </a:defRPr>
            </a:lvl9pPr>
          </a:lstStyle>
          <a:p>
            <a:endParaRPr/>
          </a:p>
        </p:txBody>
      </p:sp>
      <p:sp>
        <p:nvSpPr>
          <p:cNvPr id="54" name="Google Shape;54;p9"/>
          <p:cNvSpPr/>
          <p:nvPr/>
        </p:nvSpPr>
        <p:spPr>
          <a:xfrm>
            <a:off x="-8150" y="-13700"/>
            <a:ext cx="9160500" cy="78000"/>
          </a:xfrm>
          <a:prstGeom prst="rect">
            <a:avLst/>
          </a:prstGeom>
          <a:solidFill>
            <a:srgbClr val="002D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9"/>
          <p:cNvSpPr/>
          <p:nvPr/>
        </p:nvSpPr>
        <p:spPr>
          <a:xfrm>
            <a:off x="-8150" y="5079200"/>
            <a:ext cx="9160500" cy="78000"/>
          </a:xfrm>
          <a:prstGeom prst="rect">
            <a:avLst/>
          </a:prstGeom>
          <a:solidFill>
            <a:srgbClr val="002D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6" name="Google Shape;56;p9"/>
          <p:cNvPicPr preferRelativeResize="0"/>
          <p:nvPr/>
        </p:nvPicPr>
        <p:blipFill rotWithShape="1">
          <a:blip r:embed="rId2">
            <a:alphaModFix/>
          </a:blip>
          <a:stretch>
            <a:fillRect/>
          </a:stretch>
        </p:blipFill>
        <p:spPr>
          <a:xfrm>
            <a:off x="76200" y="4677475"/>
            <a:ext cx="1068750" cy="360000"/>
          </a:xfrm>
          <a:prstGeom prst="rect">
            <a:avLst/>
          </a:prstGeom>
          <a:noFill/>
          <a:ln>
            <a:noFill/>
          </a:ln>
        </p:spPr>
      </p:pic>
      <p:sp>
        <p:nvSpPr>
          <p:cNvPr id="57" name="Google Shape;57;p9"/>
          <p:cNvSpPr txBox="1">
            <a:spLocks noGrp="1"/>
          </p:cNvSpPr>
          <p:nvPr>
            <p:ph type="body" idx="1"/>
          </p:nvPr>
        </p:nvSpPr>
        <p:spPr>
          <a:xfrm>
            <a:off x="311700" y="97942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Clr>
                <a:schemeClr val="dk1"/>
              </a:buClr>
              <a:buSzPts val="1800"/>
              <a:buChar char="●"/>
              <a:defRPr>
                <a:solidFill>
                  <a:schemeClr val="dk1"/>
                </a:solidFill>
              </a:defRPr>
            </a:lvl1pPr>
            <a:lvl2pPr marL="914400" lvl="1" indent="-317500" rtl="0">
              <a:spcBef>
                <a:spcPts val="0"/>
              </a:spcBef>
              <a:spcAft>
                <a:spcPts val="0"/>
              </a:spcAft>
              <a:buClr>
                <a:schemeClr val="dk1"/>
              </a:buClr>
              <a:buSzPts val="1400"/>
              <a:buChar char="○"/>
              <a:defRPr>
                <a:solidFill>
                  <a:schemeClr val="dk1"/>
                </a:solidFill>
              </a:defRPr>
            </a:lvl2pPr>
            <a:lvl3pPr marL="1371600" lvl="2" indent="-317500" rtl="0">
              <a:spcBef>
                <a:spcPts val="0"/>
              </a:spcBef>
              <a:spcAft>
                <a:spcPts val="0"/>
              </a:spcAft>
              <a:buClr>
                <a:schemeClr val="dk1"/>
              </a:buClr>
              <a:buSzPts val="1400"/>
              <a:buChar char="■"/>
              <a:defRPr>
                <a:solidFill>
                  <a:schemeClr val="dk1"/>
                </a:solidFill>
              </a:defRPr>
            </a:lvl3pPr>
            <a:lvl4pPr marL="1828800" lvl="3" indent="-317500" rtl="0">
              <a:spcBef>
                <a:spcPts val="0"/>
              </a:spcBef>
              <a:spcAft>
                <a:spcPts val="0"/>
              </a:spcAft>
              <a:buClr>
                <a:schemeClr val="dk1"/>
              </a:buClr>
              <a:buSzPts val="1400"/>
              <a:buChar char="●"/>
              <a:defRPr>
                <a:solidFill>
                  <a:schemeClr val="dk1"/>
                </a:solidFill>
              </a:defRPr>
            </a:lvl4pPr>
            <a:lvl5pPr marL="2286000" lvl="4" indent="-317500" rtl="0">
              <a:spcBef>
                <a:spcPts val="0"/>
              </a:spcBef>
              <a:spcAft>
                <a:spcPts val="0"/>
              </a:spcAft>
              <a:buClr>
                <a:schemeClr val="dk1"/>
              </a:buClr>
              <a:buSzPts val="1400"/>
              <a:buChar char="○"/>
              <a:defRPr>
                <a:solidFill>
                  <a:schemeClr val="dk1"/>
                </a:solidFill>
              </a:defRPr>
            </a:lvl5pPr>
            <a:lvl6pPr marL="2743200" lvl="5" indent="-317500" rtl="0">
              <a:spcBef>
                <a:spcPts val="0"/>
              </a:spcBef>
              <a:spcAft>
                <a:spcPts val="0"/>
              </a:spcAft>
              <a:buClr>
                <a:schemeClr val="dk1"/>
              </a:buClr>
              <a:buSzPts val="1400"/>
              <a:buChar char="■"/>
              <a:defRPr>
                <a:solidFill>
                  <a:schemeClr val="dk1"/>
                </a:solidFill>
              </a:defRPr>
            </a:lvl6pPr>
            <a:lvl7pPr marL="3200400" lvl="6" indent="-317500" rtl="0">
              <a:spcBef>
                <a:spcPts val="0"/>
              </a:spcBef>
              <a:spcAft>
                <a:spcPts val="0"/>
              </a:spcAft>
              <a:buClr>
                <a:schemeClr val="dk1"/>
              </a:buClr>
              <a:buSzPts val="1400"/>
              <a:buChar char="●"/>
              <a:defRPr>
                <a:solidFill>
                  <a:schemeClr val="dk1"/>
                </a:solidFill>
              </a:defRPr>
            </a:lvl7pPr>
            <a:lvl8pPr marL="3657600" lvl="7" indent="-317500" rtl="0">
              <a:spcBef>
                <a:spcPts val="0"/>
              </a:spcBef>
              <a:spcAft>
                <a:spcPts val="0"/>
              </a:spcAft>
              <a:buClr>
                <a:schemeClr val="dk1"/>
              </a:buClr>
              <a:buSzPts val="1400"/>
              <a:buChar char="○"/>
              <a:defRPr>
                <a:solidFill>
                  <a:schemeClr val="dk1"/>
                </a:solidFill>
              </a:defRPr>
            </a:lvl8pPr>
            <a:lvl9pPr marL="4114800" lvl="8" indent="-317500" rtl="0">
              <a:spcBef>
                <a:spcPts val="0"/>
              </a:spcBef>
              <a:spcAft>
                <a:spcPts val="0"/>
              </a:spcAft>
              <a:buClr>
                <a:schemeClr val="dk1"/>
              </a:buClr>
              <a:buSzPts val="1400"/>
              <a:buChar char="■"/>
              <a:defRPr>
                <a:solidFill>
                  <a:schemeClr val="dk1"/>
                </a:solidFill>
              </a:defRPr>
            </a:lvl9pPr>
          </a:lstStyle>
          <a:p>
            <a:endParaRPr/>
          </a:p>
        </p:txBody>
      </p:sp>
      <p:sp>
        <p:nvSpPr>
          <p:cNvPr id="58" name="Google Shape;58;p9"/>
          <p:cNvSpPr txBox="1"/>
          <p:nvPr/>
        </p:nvSpPr>
        <p:spPr>
          <a:xfrm>
            <a:off x="3085500" y="4904653"/>
            <a:ext cx="2973000" cy="15270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0"/>
              </a:spcBef>
              <a:spcAft>
                <a:spcPts val="0"/>
              </a:spcAft>
              <a:buClr>
                <a:srgbClr val="000000"/>
              </a:buClr>
              <a:buSzPts val="1100"/>
              <a:buFont typeface="Arial"/>
              <a:buNone/>
            </a:pPr>
            <a:r>
              <a:rPr lang="en" sz="500">
                <a:solidFill>
                  <a:schemeClr val="accent5"/>
                </a:solidFill>
                <a:latin typeface="Poppins Light"/>
                <a:ea typeface="Poppins Light"/>
                <a:cs typeface="Poppins Light"/>
                <a:sym typeface="Poppins Light"/>
              </a:rPr>
              <a:t>Confidential | Copyright 2025, Asthra HealthTech. All rights reserved.</a:t>
            </a:r>
            <a:endParaRPr sz="500">
              <a:solidFill>
                <a:schemeClr val="accent5"/>
              </a:solidFill>
              <a:latin typeface="Poppins"/>
              <a:ea typeface="Poppins"/>
              <a:cs typeface="Poppins"/>
              <a:sym typeface="Poppins"/>
            </a:endParaRPr>
          </a:p>
        </p:txBody>
      </p:sp>
      <p:sp>
        <p:nvSpPr>
          <p:cNvPr id="59" name="Google Shape;59;p9"/>
          <p:cNvSpPr txBox="1"/>
          <p:nvPr/>
        </p:nvSpPr>
        <p:spPr>
          <a:xfrm>
            <a:off x="8472450" y="4806749"/>
            <a:ext cx="548700" cy="3423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800">
                <a:solidFill>
                  <a:schemeClr val="accent1"/>
                </a:solidFill>
                <a:latin typeface="Poppins"/>
                <a:ea typeface="Poppins"/>
                <a:cs typeface="Poppins"/>
                <a:sym typeface="Poppins"/>
              </a:rPr>
              <a:t>‹#›</a:t>
            </a:fld>
            <a:endParaRPr sz="800">
              <a:solidFill>
                <a:schemeClr val="accent1"/>
              </a:solidFill>
              <a:latin typeface="Poppins"/>
              <a:ea typeface="Poppins"/>
              <a:cs typeface="Poppins"/>
              <a:sym typeface="Poppi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tandard Slide - Plain without Title">
  <p:cSld name="TITLE_ONLY_1_3">
    <p:spTree>
      <p:nvGrpSpPr>
        <p:cNvPr id="1" name="Shape 60"/>
        <p:cNvGrpSpPr/>
        <p:nvPr/>
      </p:nvGrpSpPr>
      <p:grpSpPr>
        <a:xfrm>
          <a:off x="0" y="0"/>
          <a:ext cx="0" cy="0"/>
          <a:chOff x="0" y="0"/>
          <a:chExt cx="0" cy="0"/>
        </a:xfrm>
      </p:grpSpPr>
      <p:sp>
        <p:nvSpPr>
          <p:cNvPr id="61" name="Google Shape;61;p10"/>
          <p:cNvSpPr/>
          <p:nvPr/>
        </p:nvSpPr>
        <p:spPr>
          <a:xfrm>
            <a:off x="-8150" y="-13700"/>
            <a:ext cx="9160500" cy="78000"/>
          </a:xfrm>
          <a:prstGeom prst="rect">
            <a:avLst/>
          </a:prstGeom>
          <a:solidFill>
            <a:srgbClr val="002D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10"/>
          <p:cNvSpPr/>
          <p:nvPr/>
        </p:nvSpPr>
        <p:spPr>
          <a:xfrm>
            <a:off x="-8150" y="5079200"/>
            <a:ext cx="9160500" cy="78000"/>
          </a:xfrm>
          <a:prstGeom prst="rect">
            <a:avLst/>
          </a:prstGeom>
          <a:solidFill>
            <a:srgbClr val="002D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63" name="Google Shape;63;p10"/>
          <p:cNvPicPr preferRelativeResize="0"/>
          <p:nvPr/>
        </p:nvPicPr>
        <p:blipFill rotWithShape="1">
          <a:blip r:embed="rId2">
            <a:alphaModFix/>
          </a:blip>
          <a:stretch>
            <a:fillRect/>
          </a:stretch>
        </p:blipFill>
        <p:spPr>
          <a:xfrm>
            <a:off x="76200" y="4677475"/>
            <a:ext cx="1068750" cy="360000"/>
          </a:xfrm>
          <a:prstGeom prst="rect">
            <a:avLst/>
          </a:prstGeom>
          <a:noFill/>
          <a:ln>
            <a:noFill/>
          </a:ln>
        </p:spPr>
      </p:pic>
      <p:sp>
        <p:nvSpPr>
          <p:cNvPr id="64" name="Google Shape;64;p10"/>
          <p:cNvSpPr txBox="1">
            <a:spLocks noGrp="1"/>
          </p:cNvSpPr>
          <p:nvPr>
            <p:ph type="body" idx="1"/>
          </p:nvPr>
        </p:nvSpPr>
        <p:spPr>
          <a:xfrm>
            <a:off x="311700" y="97942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Clr>
                <a:schemeClr val="dk1"/>
              </a:buClr>
              <a:buSzPts val="1800"/>
              <a:buChar char="●"/>
              <a:defRPr>
                <a:solidFill>
                  <a:schemeClr val="dk1"/>
                </a:solidFill>
              </a:defRPr>
            </a:lvl1pPr>
            <a:lvl2pPr marL="914400" lvl="1" indent="-317500" rtl="0">
              <a:spcBef>
                <a:spcPts val="0"/>
              </a:spcBef>
              <a:spcAft>
                <a:spcPts val="0"/>
              </a:spcAft>
              <a:buClr>
                <a:schemeClr val="dk1"/>
              </a:buClr>
              <a:buSzPts val="1400"/>
              <a:buChar char="○"/>
              <a:defRPr>
                <a:solidFill>
                  <a:schemeClr val="dk1"/>
                </a:solidFill>
              </a:defRPr>
            </a:lvl2pPr>
            <a:lvl3pPr marL="1371600" lvl="2" indent="-317500" rtl="0">
              <a:spcBef>
                <a:spcPts val="0"/>
              </a:spcBef>
              <a:spcAft>
                <a:spcPts val="0"/>
              </a:spcAft>
              <a:buClr>
                <a:schemeClr val="dk1"/>
              </a:buClr>
              <a:buSzPts val="1400"/>
              <a:buChar char="■"/>
              <a:defRPr>
                <a:solidFill>
                  <a:schemeClr val="dk1"/>
                </a:solidFill>
              </a:defRPr>
            </a:lvl3pPr>
            <a:lvl4pPr marL="1828800" lvl="3" indent="-317500" rtl="0">
              <a:spcBef>
                <a:spcPts val="0"/>
              </a:spcBef>
              <a:spcAft>
                <a:spcPts val="0"/>
              </a:spcAft>
              <a:buClr>
                <a:schemeClr val="dk1"/>
              </a:buClr>
              <a:buSzPts val="1400"/>
              <a:buChar char="●"/>
              <a:defRPr>
                <a:solidFill>
                  <a:schemeClr val="dk1"/>
                </a:solidFill>
              </a:defRPr>
            </a:lvl4pPr>
            <a:lvl5pPr marL="2286000" lvl="4" indent="-317500" rtl="0">
              <a:spcBef>
                <a:spcPts val="0"/>
              </a:spcBef>
              <a:spcAft>
                <a:spcPts val="0"/>
              </a:spcAft>
              <a:buClr>
                <a:schemeClr val="dk1"/>
              </a:buClr>
              <a:buSzPts val="1400"/>
              <a:buChar char="○"/>
              <a:defRPr>
                <a:solidFill>
                  <a:schemeClr val="dk1"/>
                </a:solidFill>
              </a:defRPr>
            </a:lvl5pPr>
            <a:lvl6pPr marL="2743200" lvl="5" indent="-317500" rtl="0">
              <a:spcBef>
                <a:spcPts val="0"/>
              </a:spcBef>
              <a:spcAft>
                <a:spcPts val="0"/>
              </a:spcAft>
              <a:buClr>
                <a:schemeClr val="dk1"/>
              </a:buClr>
              <a:buSzPts val="1400"/>
              <a:buChar char="■"/>
              <a:defRPr>
                <a:solidFill>
                  <a:schemeClr val="dk1"/>
                </a:solidFill>
              </a:defRPr>
            </a:lvl6pPr>
            <a:lvl7pPr marL="3200400" lvl="6" indent="-317500" rtl="0">
              <a:spcBef>
                <a:spcPts val="0"/>
              </a:spcBef>
              <a:spcAft>
                <a:spcPts val="0"/>
              </a:spcAft>
              <a:buClr>
                <a:schemeClr val="dk1"/>
              </a:buClr>
              <a:buSzPts val="1400"/>
              <a:buChar char="●"/>
              <a:defRPr>
                <a:solidFill>
                  <a:schemeClr val="dk1"/>
                </a:solidFill>
              </a:defRPr>
            </a:lvl7pPr>
            <a:lvl8pPr marL="3657600" lvl="7" indent="-317500" rtl="0">
              <a:spcBef>
                <a:spcPts val="0"/>
              </a:spcBef>
              <a:spcAft>
                <a:spcPts val="0"/>
              </a:spcAft>
              <a:buClr>
                <a:schemeClr val="dk1"/>
              </a:buClr>
              <a:buSzPts val="1400"/>
              <a:buChar char="○"/>
              <a:defRPr>
                <a:solidFill>
                  <a:schemeClr val="dk1"/>
                </a:solidFill>
              </a:defRPr>
            </a:lvl8pPr>
            <a:lvl9pPr marL="4114800" lvl="8" indent="-317500" rtl="0">
              <a:spcBef>
                <a:spcPts val="0"/>
              </a:spcBef>
              <a:spcAft>
                <a:spcPts val="0"/>
              </a:spcAft>
              <a:buClr>
                <a:schemeClr val="dk1"/>
              </a:buClr>
              <a:buSzPts val="1400"/>
              <a:buChar char="■"/>
              <a:defRPr>
                <a:solidFill>
                  <a:schemeClr val="dk1"/>
                </a:solidFill>
              </a:defRPr>
            </a:lvl9pPr>
          </a:lstStyle>
          <a:p>
            <a:endParaRPr/>
          </a:p>
        </p:txBody>
      </p:sp>
      <p:sp>
        <p:nvSpPr>
          <p:cNvPr id="65" name="Google Shape;65;p10"/>
          <p:cNvSpPr txBox="1"/>
          <p:nvPr/>
        </p:nvSpPr>
        <p:spPr>
          <a:xfrm>
            <a:off x="3085500" y="4904653"/>
            <a:ext cx="2973000" cy="152700"/>
          </a:xfrm>
          <a:prstGeom prst="rect">
            <a:avLst/>
          </a:prstGeom>
          <a:noFill/>
          <a:ln>
            <a:noFill/>
          </a:ln>
        </p:spPr>
        <p:txBody>
          <a:bodyPr spcFirstLastPara="1" wrap="square" lIns="91425" tIns="45700" rIns="91425" bIns="45700" anchor="ctr" anchorCtr="0">
            <a:noAutofit/>
          </a:bodyPr>
          <a:lstStyle/>
          <a:p>
            <a:pPr marL="0" lvl="0" indent="0" algn="ctr" rtl="0">
              <a:lnSpc>
                <a:spcPct val="115000"/>
              </a:lnSpc>
              <a:spcBef>
                <a:spcPts val="0"/>
              </a:spcBef>
              <a:spcAft>
                <a:spcPts val="0"/>
              </a:spcAft>
              <a:buClr>
                <a:srgbClr val="000000"/>
              </a:buClr>
              <a:buSzPts val="1100"/>
              <a:buFont typeface="Arial"/>
              <a:buNone/>
            </a:pPr>
            <a:r>
              <a:rPr lang="en" sz="500">
                <a:solidFill>
                  <a:schemeClr val="accent5"/>
                </a:solidFill>
                <a:latin typeface="Poppins Light"/>
                <a:ea typeface="Poppins Light"/>
                <a:cs typeface="Poppins Light"/>
                <a:sym typeface="Poppins Light"/>
              </a:rPr>
              <a:t>Confidential | Copyright 2025, Asthra HealthTech. All rights reserved.</a:t>
            </a:r>
            <a:endParaRPr sz="500">
              <a:solidFill>
                <a:schemeClr val="accent5"/>
              </a:solidFill>
              <a:latin typeface="Poppins"/>
              <a:ea typeface="Poppins"/>
              <a:cs typeface="Poppins"/>
              <a:sym typeface="Poppins"/>
            </a:endParaRPr>
          </a:p>
        </p:txBody>
      </p:sp>
      <p:sp>
        <p:nvSpPr>
          <p:cNvPr id="66" name="Google Shape;66;p10"/>
          <p:cNvSpPr txBox="1"/>
          <p:nvPr/>
        </p:nvSpPr>
        <p:spPr>
          <a:xfrm>
            <a:off x="8472450" y="4806749"/>
            <a:ext cx="548700" cy="3423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800">
                <a:solidFill>
                  <a:schemeClr val="accent1"/>
                </a:solidFill>
                <a:latin typeface="Poppins"/>
                <a:ea typeface="Poppins"/>
                <a:cs typeface="Poppins"/>
                <a:sym typeface="Poppins"/>
              </a:rPr>
              <a:t>‹#›</a:t>
            </a:fld>
            <a:endParaRPr sz="800">
              <a:solidFill>
                <a:schemeClr val="accent1"/>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1pPr>
            <a:lvl2pPr lvl="1">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2pPr>
            <a:lvl3pPr lvl="2">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3pPr>
            <a:lvl4pPr lvl="3">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4pPr>
            <a:lvl5pPr lvl="4">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5pPr>
            <a:lvl6pPr lvl="5">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6pPr>
            <a:lvl7pPr lvl="6">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7pPr>
            <a:lvl8pPr lvl="7">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8pPr>
            <a:lvl9pPr lvl="8">
              <a:spcBef>
                <a:spcPts val="0"/>
              </a:spcBef>
              <a:spcAft>
                <a:spcPts val="0"/>
              </a:spcAft>
              <a:buClr>
                <a:schemeClr val="dk1"/>
              </a:buClr>
              <a:buSzPts val="2800"/>
              <a:buFont typeface="Poppins"/>
              <a:buNone/>
              <a:defRPr sz="2800">
                <a:solidFill>
                  <a:schemeClr val="dk1"/>
                </a:solidFill>
                <a:latin typeface="Poppins"/>
                <a:ea typeface="Poppins"/>
                <a:cs typeface="Poppins"/>
                <a:sym typeface="Poppins"/>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50000"/>
              </a:lnSpc>
              <a:spcBef>
                <a:spcPts val="0"/>
              </a:spcBef>
              <a:spcAft>
                <a:spcPts val="0"/>
              </a:spcAft>
              <a:buClr>
                <a:schemeClr val="dk1"/>
              </a:buClr>
              <a:buSzPts val="1800"/>
              <a:buFont typeface="Poppins"/>
              <a:buChar char="●"/>
              <a:defRPr sz="1800">
                <a:solidFill>
                  <a:schemeClr val="dk1"/>
                </a:solidFill>
                <a:latin typeface="Poppins"/>
                <a:ea typeface="Poppins"/>
                <a:cs typeface="Poppins"/>
                <a:sym typeface="Poppins"/>
              </a:defRPr>
            </a:lvl1pPr>
            <a:lvl2pPr marL="914400" lvl="1" indent="-317500">
              <a:lnSpc>
                <a:spcPct val="150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2pPr>
            <a:lvl3pPr marL="1371600" lvl="2" indent="-317500">
              <a:lnSpc>
                <a:spcPct val="150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3pPr>
            <a:lvl4pPr marL="1828800" lvl="3" indent="-317500">
              <a:lnSpc>
                <a:spcPct val="150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4pPr>
            <a:lvl5pPr marL="2286000" lvl="4"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5pPr>
            <a:lvl6pPr marL="2743200" lvl="5"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6pPr>
            <a:lvl7pPr marL="3200400" lvl="6"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7pPr>
            <a:lvl8pPr marL="3657600" lvl="7"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8pPr>
            <a:lvl9pPr marL="4114800" lvl="8" indent="-317500">
              <a:lnSpc>
                <a:spcPct val="115000"/>
              </a:lnSpc>
              <a:spcBef>
                <a:spcPts val="0"/>
              </a:spcBef>
              <a:spcAft>
                <a:spcPts val="0"/>
              </a:spcAft>
              <a:buClr>
                <a:schemeClr val="dk1"/>
              </a:buClr>
              <a:buSzPts val="1400"/>
              <a:buFont typeface="Poppins"/>
              <a:buChar char="■"/>
              <a:defRPr>
                <a:solidFill>
                  <a:schemeClr val="dk1"/>
                </a:solidFill>
                <a:latin typeface="Poppins"/>
                <a:ea typeface="Poppins"/>
                <a:cs typeface="Poppins"/>
                <a:sym typeface="Poppins"/>
              </a:defRPr>
            </a:lvl9pPr>
          </a:lstStyle>
          <a:p>
            <a:endParaRPr/>
          </a:p>
        </p:txBody>
      </p:sp>
      <p:sp>
        <p:nvSpPr>
          <p:cNvPr id="8" name="Google Shape;8;p1"/>
          <p:cNvSpPr txBox="1"/>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en" sz="900">
                <a:solidFill>
                  <a:srgbClr val="FFFFFF"/>
                </a:solidFill>
                <a:latin typeface="Poppins"/>
                <a:ea typeface="Poppins"/>
                <a:cs typeface="Poppins"/>
                <a:sym typeface="Poppins"/>
              </a:rPr>
              <a:t>‹#›</a:t>
            </a:fld>
            <a:endParaRPr sz="900">
              <a:solidFill>
                <a:srgbClr val="FFFFFF"/>
              </a:solidFill>
              <a:latin typeface="Poppins"/>
              <a:ea typeface="Poppins"/>
              <a:cs typeface="Poppins"/>
              <a:sym typeface="Poppins"/>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hyperlink" Target="https://github.com/LakshithaD/ai-excercise" TargetMode="External"/><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10.jp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hyperlink" Target="http://research.md" TargetMode="External"/><Relationship Id="rId2" Type="http://schemas.openxmlformats.org/officeDocument/2006/relationships/notesSlide" Target="../notesSlides/notesSlide34.xml"/><Relationship Id="rId1" Type="http://schemas.openxmlformats.org/officeDocument/2006/relationships/slideLayout" Target="../slideLayouts/slideLayout6.xml"/><Relationship Id="rId4" Type="http://schemas.openxmlformats.org/officeDocument/2006/relationships/hyperlink" Target="http://plan.md"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1"/>
          <p:cNvSpPr txBox="1">
            <a:spLocks noGrp="1"/>
          </p:cNvSpPr>
          <p:nvPr>
            <p:ph type="ctrTitle" idx="4294967295"/>
          </p:nvPr>
        </p:nvSpPr>
        <p:spPr>
          <a:xfrm>
            <a:off x="1856225" y="2542884"/>
            <a:ext cx="5431550" cy="682500"/>
          </a:xfrm>
          <a:prstGeom prst="rect">
            <a:avLst/>
          </a:prstGeom>
        </p:spPr>
        <p:txBody>
          <a:bodyPr spcFirstLastPara="1" wrap="square" lIns="91425" tIns="91425" rIns="91425" bIns="91425" anchor="ctr" anchorCtr="0">
            <a:noAutofit/>
          </a:bodyPr>
          <a:lstStyle/>
          <a:p>
            <a:pPr marL="0" lvl="0" indent="0" algn="ctr" rtl="0">
              <a:lnSpc>
                <a:spcPct val="80000"/>
              </a:lnSpc>
              <a:spcBef>
                <a:spcPts val="0"/>
              </a:spcBef>
              <a:spcAft>
                <a:spcPts val="0"/>
              </a:spcAft>
              <a:buSzPts val="990"/>
              <a:buNone/>
            </a:pPr>
            <a:r>
              <a:rPr lang="en" sz="2500" dirty="0">
                <a:solidFill>
                  <a:schemeClr val="lt1"/>
                </a:solidFill>
                <a:latin typeface="Poppins ExtraBold"/>
                <a:ea typeface="Poppins ExtraBold"/>
                <a:cs typeface="Poppins ExtraBold"/>
                <a:sym typeface="Poppins ExtraBold"/>
              </a:rPr>
              <a:t>AI Agent Based Development</a:t>
            </a:r>
            <a:endParaRPr sz="2500" dirty="0">
              <a:solidFill>
                <a:schemeClr val="lt1"/>
              </a:solidFill>
              <a:latin typeface="Poppins ExtraBold"/>
              <a:ea typeface="Poppins ExtraBold"/>
              <a:cs typeface="Poppins ExtraBold"/>
              <a:sym typeface="Poppins ExtraBold"/>
            </a:endParaRPr>
          </a:p>
          <a:p>
            <a:pPr marL="0" lvl="0" indent="0" algn="ctr" rtl="0">
              <a:lnSpc>
                <a:spcPct val="80000"/>
              </a:lnSpc>
              <a:spcBef>
                <a:spcPts val="0"/>
              </a:spcBef>
              <a:spcAft>
                <a:spcPts val="0"/>
              </a:spcAft>
              <a:buSzPts val="990"/>
              <a:buNone/>
            </a:pPr>
            <a:endParaRPr sz="2500" dirty="0">
              <a:solidFill>
                <a:schemeClr val="lt1"/>
              </a:solidFill>
              <a:latin typeface="Poppins ExtraBold"/>
              <a:ea typeface="Poppins ExtraBold"/>
              <a:cs typeface="Poppins ExtraBold"/>
              <a:sym typeface="Poppins ExtraBold"/>
            </a:endParaRPr>
          </a:p>
        </p:txBody>
      </p:sp>
      <p:pic>
        <p:nvPicPr>
          <p:cNvPr id="72" name="Google Shape;72;p11"/>
          <p:cNvPicPr preferRelativeResize="0"/>
          <p:nvPr/>
        </p:nvPicPr>
        <p:blipFill>
          <a:blip r:embed="rId3">
            <a:alphaModFix/>
          </a:blip>
          <a:stretch>
            <a:fillRect/>
          </a:stretch>
        </p:blipFill>
        <p:spPr>
          <a:xfrm>
            <a:off x="3087625" y="1330000"/>
            <a:ext cx="2968750" cy="1000000"/>
          </a:xfrm>
          <a:prstGeom prst="rect">
            <a:avLst/>
          </a:prstGeom>
          <a:noFill/>
          <a:ln>
            <a:noFill/>
          </a:ln>
        </p:spPr>
      </p:pic>
      <p:sp>
        <p:nvSpPr>
          <p:cNvPr id="73" name="Google Shape;73;p11"/>
          <p:cNvSpPr/>
          <p:nvPr/>
        </p:nvSpPr>
        <p:spPr>
          <a:xfrm>
            <a:off x="3143736" y="3383602"/>
            <a:ext cx="2856600" cy="377700"/>
          </a:xfrm>
          <a:prstGeom prst="roundRect">
            <a:avLst>
              <a:gd name="adj" fmla="val 14632"/>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000">
                <a:solidFill>
                  <a:schemeClr val="lt1"/>
                </a:solidFill>
                <a:latin typeface="Poppins"/>
                <a:ea typeface="Poppins"/>
                <a:cs typeface="Poppins"/>
                <a:sym typeface="Poppins"/>
              </a:rPr>
              <a:t>Week 1</a:t>
            </a:r>
            <a:endParaRPr sz="2000"/>
          </a:p>
        </p:txBody>
      </p:sp>
      <p:sp>
        <p:nvSpPr>
          <p:cNvPr id="74" name="Google Shape;74;p11"/>
          <p:cNvSpPr txBox="1">
            <a:spLocks noGrp="1"/>
          </p:cNvSpPr>
          <p:nvPr>
            <p:ph type="ctrTitle" idx="4294967295"/>
          </p:nvPr>
        </p:nvSpPr>
        <p:spPr>
          <a:xfrm>
            <a:off x="-61275" y="4644950"/>
            <a:ext cx="3176700" cy="569400"/>
          </a:xfrm>
          <a:prstGeom prst="rect">
            <a:avLst/>
          </a:prstGeom>
        </p:spPr>
        <p:txBody>
          <a:bodyPr spcFirstLastPara="1" wrap="square" lIns="91425" tIns="91425" rIns="91425" bIns="91425" anchor="ctr" anchorCtr="0">
            <a:noAutofit/>
          </a:bodyPr>
          <a:lstStyle/>
          <a:p>
            <a:pPr marL="0" lvl="0" indent="0" algn="ctr" rtl="0">
              <a:lnSpc>
                <a:spcPct val="80000"/>
              </a:lnSpc>
              <a:spcBef>
                <a:spcPts val="0"/>
              </a:spcBef>
              <a:spcAft>
                <a:spcPts val="0"/>
              </a:spcAft>
              <a:buSzPts val="990"/>
              <a:buNone/>
            </a:pPr>
            <a:r>
              <a:rPr lang="en" sz="900">
                <a:solidFill>
                  <a:schemeClr val="lt1"/>
                </a:solidFill>
                <a:latin typeface="Poppins ExtraBold"/>
                <a:ea typeface="Poppins ExtraBold"/>
                <a:cs typeface="Poppins ExtraBold"/>
                <a:sym typeface="Poppins ExtraBold"/>
              </a:rPr>
              <a:t>Slides template credit to Marco Gasparri</a:t>
            </a:r>
            <a:endParaRPr sz="900">
              <a:solidFill>
                <a:schemeClr val="lt1"/>
              </a:solidFill>
              <a:latin typeface="Poppins ExtraBold"/>
              <a:ea typeface="Poppins ExtraBold"/>
              <a:cs typeface="Poppins ExtraBold"/>
              <a:sym typeface="Poppins ExtraBold"/>
            </a:endParaRPr>
          </a:p>
          <a:p>
            <a:pPr marL="0" lvl="0" indent="0" algn="l" rtl="0">
              <a:lnSpc>
                <a:spcPct val="80000"/>
              </a:lnSpc>
              <a:spcBef>
                <a:spcPts val="0"/>
              </a:spcBef>
              <a:spcAft>
                <a:spcPts val="0"/>
              </a:spcAft>
              <a:buSzPts val="990"/>
              <a:buNone/>
            </a:pPr>
            <a:endParaRPr sz="900">
              <a:solidFill>
                <a:schemeClr val="lt1"/>
              </a:solidFill>
              <a:latin typeface="Poppins ExtraBold"/>
              <a:ea typeface="Poppins ExtraBold"/>
              <a:cs typeface="Poppins ExtraBold"/>
              <a:sym typeface="Poppins Extra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Project Alfred: presentation</a:t>
            </a:r>
            <a:endParaRPr/>
          </a:p>
        </p:txBody>
      </p:sp>
      <p:sp>
        <p:nvSpPr>
          <p:cNvPr id="80" name="Google Shape;80;p12"/>
          <p:cNvSpPr txBox="1">
            <a:spLocks noGrp="1"/>
          </p:cNvSpPr>
          <p:nvPr>
            <p:ph type="body" idx="1"/>
          </p:nvPr>
        </p:nvSpPr>
        <p:spPr>
          <a:xfrm>
            <a:off x="311700" y="979425"/>
            <a:ext cx="8520600" cy="34164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0"/>
              </a:spcAft>
              <a:buNone/>
            </a:pPr>
            <a:r>
              <a:rPr lang="en" b="1"/>
              <a:t>Goal</a:t>
            </a:r>
            <a:r>
              <a:rPr lang="en"/>
              <a:t>: We want AI to become a regular part of how R&amp;D teams work every day. Teams should be encouraged to explore and use AI in their own workflows, while leadership provides the support, tools, and guidance needed as AI technology continues to evolve.</a:t>
            </a:r>
            <a:endParaRPr/>
          </a:p>
          <a:p>
            <a:pPr marL="0" lvl="0" indent="0" algn="l" rtl="0">
              <a:spcBef>
                <a:spcPts val="1200"/>
              </a:spcBef>
              <a:spcAft>
                <a:spcPts val="0"/>
              </a:spcAft>
              <a:buNone/>
            </a:pPr>
            <a:r>
              <a:rPr lang="en" b="1"/>
              <a:t>Special Note: </a:t>
            </a:r>
            <a:r>
              <a:rPr lang="en"/>
              <a:t>I’m not an AI expert or genius — I’ve simply followed Alfred’s training sessions and applied AI practically in my day-to-day development work. I’ll share the key topics and learnings that helped me, and we can discuss and learn together.</a:t>
            </a:r>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3"/>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Project Alfred: presentation</a:t>
            </a:r>
            <a:endParaRPr/>
          </a:p>
        </p:txBody>
      </p:sp>
      <p:sp>
        <p:nvSpPr>
          <p:cNvPr id="86" name="Google Shape;86;p13"/>
          <p:cNvSpPr txBox="1"/>
          <p:nvPr/>
        </p:nvSpPr>
        <p:spPr>
          <a:xfrm>
            <a:off x="311700" y="836875"/>
            <a:ext cx="6134700" cy="3675000"/>
          </a:xfrm>
          <a:prstGeom prst="rect">
            <a:avLst/>
          </a:prstGeom>
          <a:noFill/>
          <a:ln>
            <a:noFill/>
          </a:ln>
        </p:spPr>
        <p:txBody>
          <a:bodyPr spcFirstLastPara="1" wrap="square" lIns="91425" tIns="91425" rIns="91425" bIns="91425" anchor="t" anchorCtr="0">
            <a:noAutofit/>
          </a:bodyPr>
          <a:lstStyle/>
          <a:p>
            <a:pPr marL="457200" lvl="0" indent="-311150" algn="l" rtl="0">
              <a:lnSpc>
                <a:spcPct val="115000"/>
              </a:lnSpc>
              <a:spcBef>
                <a:spcPts val="1400"/>
              </a:spcBef>
              <a:spcAft>
                <a:spcPts val="0"/>
              </a:spcAft>
              <a:buClr>
                <a:srgbClr val="000000"/>
              </a:buClr>
              <a:buSzPts val="1300"/>
              <a:buFont typeface="Poppins"/>
              <a:buChar char="●"/>
            </a:pPr>
            <a:r>
              <a:rPr lang="en" sz="1300" b="1">
                <a:solidFill>
                  <a:srgbClr val="000000"/>
                </a:solidFill>
                <a:latin typeface="Poppins"/>
                <a:ea typeface="Poppins"/>
                <a:cs typeface="Poppins"/>
                <a:sym typeface="Poppins"/>
              </a:rPr>
              <a:t>Week 1: Foundations &amp; The "Pilot" Mindset</a:t>
            </a:r>
            <a:endParaRPr sz="1300" b="1">
              <a:solidFill>
                <a:srgbClr val="000000"/>
              </a:solidFill>
              <a:latin typeface="Poppins"/>
              <a:ea typeface="Poppins"/>
              <a:cs typeface="Poppins"/>
              <a:sym typeface="Poppins"/>
            </a:endParaRPr>
          </a:p>
          <a:p>
            <a:pPr marL="914400" lvl="1" indent="-307975" algn="l" rtl="0">
              <a:lnSpc>
                <a:spcPct val="115000"/>
              </a:lnSpc>
              <a:spcBef>
                <a:spcPts val="0"/>
              </a:spcBef>
              <a:spcAft>
                <a:spcPts val="0"/>
              </a:spcAft>
              <a:buClr>
                <a:srgbClr val="000000"/>
              </a:buClr>
              <a:buSzPts val="1250"/>
              <a:buFont typeface="Poppins"/>
              <a:buChar char="○"/>
            </a:pPr>
            <a:r>
              <a:rPr lang="en" sz="1100">
                <a:solidFill>
                  <a:srgbClr val="000000"/>
                </a:solidFill>
                <a:latin typeface="Poppins"/>
                <a:ea typeface="Poppins"/>
                <a:cs typeface="Poppins"/>
                <a:sym typeface="Poppins"/>
              </a:rPr>
              <a:t>Objective:</a:t>
            </a:r>
            <a:r>
              <a:rPr lang="en" sz="1100">
                <a:latin typeface="Poppins"/>
                <a:ea typeface="Poppins"/>
                <a:cs typeface="Poppins"/>
                <a:sym typeface="Poppins"/>
              </a:rPr>
              <a:t> LLMs, Context Windows, and Effective Prompting</a:t>
            </a:r>
            <a:r>
              <a:rPr lang="en" sz="1100">
                <a:solidFill>
                  <a:srgbClr val="000000"/>
                </a:solidFill>
                <a:latin typeface="Poppins"/>
                <a:ea typeface="Poppins"/>
                <a:cs typeface="Poppins"/>
                <a:sym typeface="Poppins"/>
              </a:rPr>
              <a:t>.</a:t>
            </a:r>
            <a:endParaRPr sz="1250">
              <a:solidFill>
                <a:srgbClr val="000000"/>
              </a:solidFill>
              <a:latin typeface="Poppins"/>
              <a:ea typeface="Poppins"/>
              <a:cs typeface="Poppins"/>
              <a:sym typeface="Poppins"/>
            </a:endParaRPr>
          </a:p>
          <a:p>
            <a:pPr marL="457200" lvl="0" indent="-307975" algn="l" rtl="0">
              <a:lnSpc>
                <a:spcPct val="115000"/>
              </a:lnSpc>
              <a:spcBef>
                <a:spcPts val="0"/>
              </a:spcBef>
              <a:spcAft>
                <a:spcPts val="0"/>
              </a:spcAft>
              <a:buClr>
                <a:srgbClr val="000000"/>
              </a:buClr>
              <a:buSzPts val="1250"/>
              <a:buFont typeface="Poppins"/>
              <a:buChar char="●"/>
            </a:pPr>
            <a:r>
              <a:rPr lang="en" sz="1300" b="1">
                <a:solidFill>
                  <a:srgbClr val="000000"/>
                </a:solidFill>
                <a:latin typeface="Poppins"/>
                <a:ea typeface="Poppins"/>
                <a:cs typeface="Poppins"/>
                <a:sym typeface="Poppins"/>
              </a:rPr>
              <a:t>Week 2: Test-Driven AI Development (TDAI) </a:t>
            </a:r>
            <a:r>
              <a:rPr lang="en" sz="1300" b="1">
                <a:latin typeface="Poppins"/>
                <a:ea typeface="Poppins"/>
                <a:cs typeface="Poppins"/>
                <a:sym typeface="Poppins"/>
              </a:rPr>
              <a:t>&amp; Context driven AI Development (CDAI)</a:t>
            </a:r>
            <a:endParaRPr sz="1300" b="1">
              <a:solidFill>
                <a:srgbClr val="000000"/>
              </a:solidFill>
              <a:latin typeface="Poppins"/>
              <a:ea typeface="Poppins"/>
              <a:cs typeface="Poppins"/>
              <a:sym typeface="Poppins"/>
            </a:endParaRPr>
          </a:p>
          <a:p>
            <a:pPr marL="914400" lvl="1" indent="-307975" algn="l" rtl="0">
              <a:lnSpc>
                <a:spcPct val="115000"/>
              </a:lnSpc>
              <a:spcBef>
                <a:spcPts val="0"/>
              </a:spcBef>
              <a:spcAft>
                <a:spcPts val="0"/>
              </a:spcAft>
              <a:buClr>
                <a:srgbClr val="000000"/>
              </a:buClr>
              <a:buSzPts val="1250"/>
              <a:buFont typeface="Poppins"/>
              <a:buChar char="○"/>
            </a:pPr>
            <a:r>
              <a:rPr lang="en" sz="1100">
                <a:solidFill>
                  <a:srgbClr val="000000"/>
                </a:solidFill>
                <a:latin typeface="Poppins"/>
                <a:ea typeface="Poppins"/>
                <a:cs typeface="Poppins"/>
                <a:sym typeface="Poppins"/>
              </a:rPr>
              <a:t>Objective: </a:t>
            </a:r>
            <a:r>
              <a:rPr lang="en" sz="1100">
                <a:latin typeface="Poppins"/>
                <a:ea typeface="Poppins"/>
                <a:cs typeface="Poppins"/>
                <a:sym typeface="Poppins"/>
              </a:rPr>
              <a:t>u</a:t>
            </a:r>
            <a:r>
              <a:rPr lang="en" sz="1100">
                <a:solidFill>
                  <a:srgbClr val="000000"/>
                </a:solidFill>
                <a:latin typeface="Poppins"/>
                <a:ea typeface="Poppins"/>
                <a:cs typeface="Poppins"/>
                <a:sym typeface="Poppins"/>
              </a:rPr>
              <a:t>sing AI to bridge the gap between "code that works" and "code that is robust."</a:t>
            </a:r>
            <a:endParaRPr sz="1100">
              <a:solidFill>
                <a:srgbClr val="000000"/>
              </a:solidFill>
              <a:latin typeface="Poppins"/>
              <a:ea typeface="Poppins"/>
              <a:cs typeface="Poppins"/>
              <a:sym typeface="Poppins"/>
            </a:endParaRPr>
          </a:p>
          <a:p>
            <a:pPr marL="457200" lvl="0" indent="-307975" algn="l" rtl="0">
              <a:lnSpc>
                <a:spcPct val="115000"/>
              </a:lnSpc>
              <a:spcBef>
                <a:spcPts val="0"/>
              </a:spcBef>
              <a:spcAft>
                <a:spcPts val="0"/>
              </a:spcAft>
              <a:buClr>
                <a:srgbClr val="000000"/>
              </a:buClr>
              <a:buSzPts val="1250"/>
              <a:buFont typeface="Poppins"/>
              <a:buChar char="●"/>
            </a:pPr>
            <a:r>
              <a:rPr lang="en" sz="1300" b="1">
                <a:solidFill>
                  <a:srgbClr val="000000"/>
                </a:solidFill>
                <a:latin typeface="Poppins"/>
                <a:ea typeface="Poppins"/>
                <a:cs typeface="Poppins"/>
                <a:sym typeface="Poppins"/>
              </a:rPr>
              <a:t>Week 3: Agentic Workflows &amp; System Architecture</a:t>
            </a:r>
            <a:endParaRPr sz="1300" b="1">
              <a:solidFill>
                <a:srgbClr val="000000"/>
              </a:solidFill>
              <a:latin typeface="Poppins"/>
              <a:ea typeface="Poppins"/>
              <a:cs typeface="Poppins"/>
              <a:sym typeface="Poppins"/>
            </a:endParaRPr>
          </a:p>
          <a:p>
            <a:pPr marL="914400" lvl="1" indent="-307975" algn="l" rtl="0">
              <a:lnSpc>
                <a:spcPct val="100000"/>
              </a:lnSpc>
              <a:spcBef>
                <a:spcPts val="0"/>
              </a:spcBef>
              <a:spcAft>
                <a:spcPts val="0"/>
              </a:spcAft>
              <a:buClr>
                <a:srgbClr val="000000"/>
              </a:buClr>
              <a:buSzPts val="1250"/>
              <a:buFont typeface="Poppins"/>
              <a:buChar char="○"/>
            </a:pPr>
            <a:r>
              <a:rPr lang="en" sz="1100">
                <a:solidFill>
                  <a:srgbClr val="000000"/>
                </a:solidFill>
                <a:latin typeface="Poppins"/>
                <a:ea typeface="Poppins"/>
                <a:cs typeface="Poppins"/>
                <a:sym typeface="Poppins"/>
              </a:rPr>
              <a:t>Objective: </a:t>
            </a:r>
            <a:r>
              <a:rPr lang="en" sz="1100">
                <a:latin typeface="Poppins"/>
                <a:ea typeface="Poppins"/>
                <a:cs typeface="Poppins"/>
                <a:sym typeface="Poppins"/>
              </a:rPr>
              <a:t>m</a:t>
            </a:r>
            <a:r>
              <a:rPr lang="en" sz="1100">
                <a:solidFill>
                  <a:srgbClr val="000000"/>
                </a:solidFill>
                <a:latin typeface="Poppins"/>
                <a:ea typeface="Poppins"/>
                <a:cs typeface="Poppins"/>
                <a:sym typeface="Poppins"/>
              </a:rPr>
              <a:t>oving beyond single-file edits to multi-file, complex system changes.</a:t>
            </a:r>
            <a:endParaRPr sz="1300">
              <a:solidFill>
                <a:srgbClr val="000000"/>
              </a:solidFill>
              <a:latin typeface="Poppins"/>
              <a:ea typeface="Poppins"/>
              <a:cs typeface="Poppins"/>
              <a:sym typeface="Poppins"/>
            </a:endParaRPr>
          </a:p>
          <a:p>
            <a:pPr marL="914400" lvl="1" indent="-307975" algn="l" rtl="0">
              <a:lnSpc>
                <a:spcPct val="115000"/>
              </a:lnSpc>
              <a:spcBef>
                <a:spcPts val="0"/>
              </a:spcBef>
              <a:spcAft>
                <a:spcPts val="0"/>
              </a:spcAft>
              <a:buClr>
                <a:srgbClr val="000000"/>
              </a:buClr>
              <a:buSzPts val="1250"/>
              <a:buFont typeface="Poppins"/>
              <a:buChar char="○"/>
            </a:pPr>
            <a:r>
              <a:rPr lang="en" sz="1100">
                <a:solidFill>
                  <a:srgbClr val="000000"/>
                </a:solidFill>
                <a:latin typeface="Poppins"/>
                <a:ea typeface="Poppins"/>
                <a:cs typeface="Poppins"/>
                <a:sym typeface="Poppins"/>
              </a:rPr>
              <a:t>Objective: </a:t>
            </a:r>
            <a:r>
              <a:rPr lang="en" sz="1100">
                <a:latin typeface="Poppins"/>
                <a:ea typeface="Poppins"/>
                <a:cs typeface="Poppins"/>
                <a:sym typeface="Poppins"/>
              </a:rPr>
              <a:t>u</a:t>
            </a:r>
            <a:r>
              <a:rPr lang="en" sz="1100">
                <a:solidFill>
                  <a:srgbClr val="000000"/>
                </a:solidFill>
                <a:latin typeface="Poppins"/>
                <a:ea typeface="Poppins"/>
                <a:cs typeface="Poppins"/>
                <a:sym typeface="Poppins"/>
              </a:rPr>
              <a:t>se advanced features of Claude to maximize the context window for fastest results at the lowest cost.</a:t>
            </a:r>
            <a:endParaRPr sz="1100">
              <a:solidFill>
                <a:srgbClr val="000000"/>
              </a:solidFill>
              <a:latin typeface="Poppins"/>
              <a:ea typeface="Poppins"/>
              <a:cs typeface="Poppins"/>
              <a:sym typeface="Poppins"/>
            </a:endParaRPr>
          </a:p>
          <a:p>
            <a:pPr marL="457200" lvl="0" indent="-307975" algn="l" rtl="0">
              <a:lnSpc>
                <a:spcPct val="115000"/>
              </a:lnSpc>
              <a:spcBef>
                <a:spcPts val="0"/>
              </a:spcBef>
              <a:spcAft>
                <a:spcPts val="0"/>
              </a:spcAft>
              <a:buClr>
                <a:srgbClr val="000000"/>
              </a:buClr>
              <a:buSzPts val="1250"/>
              <a:buFont typeface="Poppins"/>
              <a:buChar char="●"/>
            </a:pPr>
            <a:r>
              <a:rPr lang="en" sz="1300" b="1">
                <a:solidFill>
                  <a:srgbClr val="000000"/>
                </a:solidFill>
                <a:latin typeface="Poppins"/>
                <a:ea typeface="Poppins"/>
                <a:cs typeface="Poppins"/>
                <a:sym typeface="Poppins"/>
              </a:rPr>
              <a:t>Week </a:t>
            </a:r>
            <a:r>
              <a:rPr lang="en" sz="1300" b="1">
                <a:latin typeface="Poppins"/>
                <a:ea typeface="Poppins"/>
                <a:cs typeface="Poppins"/>
                <a:sym typeface="Poppins"/>
              </a:rPr>
              <a:t>4</a:t>
            </a:r>
            <a:r>
              <a:rPr lang="en" sz="1300" b="1">
                <a:solidFill>
                  <a:srgbClr val="000000"/>
                </a:solidFill>
                <a:latin typeface="Poppins"/>
                <a:ea typeface="Poppins"/>
                <a:cs typeface="Poppins"/>
                <a:sym typeface="Poppins"/>
              </a:rPr>
              <a:t>: Security, Ethics, and Human-in-the-Loop</a:t>
            </a:r>
            <a:endParaRPr sz="1300" b="1">
              <a:solidFill>
                <a:srgbClr val="000000"/>
              </a:solidFill>
              <a:latin typeface="Poppins"/>
              <a:ea typeface="Poppins"/>
              <a:cs typeface="Poppins"/>
              <a:sym typeface="Poppins"/>
            </a:endParaRPr>
          </a:p>
          <a:p>
            <a:pPr marL="914400" lvl="1" indent="-307975" algn="l" rtl="0">
              <a:lnSpc>
                <a:spcPct val="115000"/>
              </a:lnSpc>
              <a:spcBef>
                <a:spcPts val="0"/>
              </a:spcBef>
              <a:spcAft>
                <a:spcPts val="0"/>
              </a:spcAft>
              <a:buClr>
                <a:srgbClr val="000000"/>
              </a:buClr>
              <a:buSzPts val="1250"/>
              <a:buFont typeface="Poppins"/>
              <a:buChar char="○"/>
            </a:pPr>
            <a:r>
              <a:rPr lang="en" sz="1100">
                <a:solidFill>
                  <a:srgbClr val="000000"/>
                </a:solidFill>
                <a:latin typeface="Poppins"/>
                <a:ea typeface="Poppins"/>
                <a:cs typeface="Poppins"/>
                <a:sym typeface="Poppins"/>
              </a:rPr>
              <a:t>Objective: </a:t>
            </a:r>
            <a:r>
              <a:rPr lang="en" sz="1100">
                <a:latin typeface="Poppins"/>
                <a:ea typeface="Poppins"/>
                <a:cs typeface="Poppins"/>
                <a:sym typeface="Poppins"/>
              </a:rPr>
              <a:t>e</a:t>
            </a:r>
            <a:r>
              <a:rPr lang="en" sz="1100">
                <a:solidFill>
                  <a:srgbClr val="000000"/>
                </a:solidFill>
                <a:latin typeface="Poppins"/>
                <a:ea typeface="Poppins"/>
                <a:cs typeface="Poppins"/>
                <a:sym typeface="Poppins"/>
              </a:rPr>
              <a:t>nsuring AI productivity doesn't introduce legal or security liabilities.</a:t>
            </a:r>
            <a:r>
              <a:rPr lang="en" sz="1250">
                <a:solidFill>
                  <a:srgbClr val="000000"/>
                </a:solidFill>
                <a:latin typeface="Poppins"/>
                <a:ea typeface="Poppins"/>
                <a:cs typeface="Poppins"/>
                <a:sym typeface="Poppins"/>
              </a:rPr>
              <a:t>   </a:t>
            </a:r>
            <a:endParaRPr sz="1250">
              <a:solidFill>
                <a:srgbClr val="000000"/>
              </a:solidFill>
              <a:latin typeface="Poppins"/>
              <a:ea typeface="Poppins"/>
              <a:cs typeface="Poppins"/>
              <a:sym typeface="Poppins"/>
            </a:endParaRPr>
          </a:p>
        </p:txBody>
      </p:sp>
      <p:pic>
        <p:nvPicPr>
          <p:cNvPr id="87" name="Google Shape;87;p13"/>
          <p:cNvPicPr preferRelativeResize="0"/>
          <p:nvPr/>
        </p:nvPicPr>
        <p:blipFill>
          <a:blip r:embed="rId3">
            <a:alphaModFix/>
          </a:blip>
          <a:stretch>
            <a:fillRect/>
          </a:stretch>
        </p:blipFill>
        <p:spPr>
          <a:xfrm>
            <a:off x="6530299" y="1882923"/>
            <a:ext cx="2449123" cy="137765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Project Alfred: presentation</a:t>
            </a:r>
            <a:endParaRPr/>
          </a:p>
        </p:txBody>
      </p:sp>
      <p:sp>
        <p:nvSpPr>
          <p:cNvPr id="93" name="Google Shape;93;p14"/>
          <p:cNvSpPr txBox="1">
            <a:spLocks noGrp="1"/>
          </p:cNvSpPr>
          <p:nvPr>
            <p:ph type="body" idx="1"/>
          </p:nvPr>
        </p:nvSpPr>
        <p:spPr>
          <a:xfrm>
            <a:off x="311700" y="97942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Java class repository: </a:t>
            </a:r>
            <a:endParaRPr/>
          </a:p>
          <a:p>
            <a:pPr marL="457200" lvl="0" indent="-342900" algn="l" rtl="0">
              <a:spcBef>
                <a:spcPts val="0"/>
              </a:spcBef>
              <a:spcAft>
                <a:spcPts val="0"/>
              </a:spcAft>
              <a:buSzPts val="1800"/>
              <a:buChar char="●"/>
            </a:pPr>
            <a:r>
              <a:rPr lang="en" u="sng">
                <a:solidFill>
                  <a:schemeClr val="hlink"/>
                </a:solidFill>
                <a:hlinkClick r:id="rId3"/>
              </a:rPr>
              <a:t>https://github.com/LakshithaD/ai-excercise</a:t>
            </a:r>
            <a:endParaRPr/>
          </a:p>
          <a:p>
            <a:pPr marL="457200" lvl="0" indent="-342900" algn="l" rtl="0">
              <a:spcBef>
                <a:spcPts val="0"/>
              </a:spcBef>
              <a:spcAft>
                <a:spcPts val="0"/>
              </a:spcAft>
              <a:buSzPts val="1800"/>
              <a:buChar char="●"/>
            </a:pPr>
            <a:r>
              <a:rPr lang="en"/>
              <a:t>The repository contains:</a:t>
            </a:r>
            <a:endParaRPr/>
          </a:p>
          <a:p>
            <a:pPr marL="914400" lvl="1" indent="-317500" algn="l" rtl="0">
              <a:spcBef>
                <a:spcPts val="0"/>
              </a:spcBef>
              <a:spcAft>
                <a:spcPts val="0"/>
              </a:spcAft>
              <a:buSzPts val="1400"/>
              <a:buChar char="○"/>
            </a:pPr>
            <a:r>
              <a:rPr lang="en"/>
              <a:t>additional materials for each week (deep-dive docs, original docs used to extract information for the presentations, eventual videos, etc.)</a:t>
            </a:r>
            <a:endParaRPr/>
          </a:p>
          <a:p>
            <a:pPr marL="914400" lvl="1" indent="-317500" algn="l" rtl="0">
              <a:spcBef>
                <a:spcPts val="0"/>
              </a:spcBef>
              <a:spcAft>
                <a:spcPts val="0"/>
              </a:spcAft>
              <a:buSzPts val="1400"/>
              <a:buChar char="○"/>
            </a:pPr>
            <a:r>
              <a:rPr lang="en"/>
              <a:t>exercises for each week</a:t>
            </a:r>
            <a:endParaRPr/>
          </a:p>
          <a:p>
            <a:pPr marL="914400" lvl="1" indent="-317500" algn="l" rtl="0">
              <a:spcBef>
                <a:spcPts val="0"/>
              </a:spcBef>
              <a:spcAft>
                <a:spcPts val="0"/>
              </a:spcAft>
              <a:buSzPts val="1400"/>
              <a:buChar char="○"/>
            </a:pPr>
            <a:r>
              <a:rPr lang="en"/>
              <a:t>any resource that could be useful for the class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Introduction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Where are you with the AI?</a:t>
            </a:r>
            <a:endParaRPr/>
          </a:p>
        </p:txBody>
      </p:sp>
      <p:sp>
        <p:nvSpPr>
          <p:cNvPr id="104" name="Google Shape;104;p16"/>
          <p:cNvSpPr txBox="1">
            <a:spLocks noGrp="1"/>
          </p:cNvSpPr>
          <p:nvPr>
            <p:ph type="body" idx="1"/>
          </p:nvPr>
        </p:nvSpPr>
        <p:spPr>
          <a:xfrm>
            <a:off x="311700" y="97942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a:t>Do you already use AI in your daily activities?</a:t>
            </a:r>
            <a:endParaRPr/>
          </a:p>
          <a:p>
            <a:pPr marL="457200" lvl="0" indent="-342900" algn="l" rtl="0">
              <a:spcBef>
                <a:spcPts val="0"/>
              </a:spcBef>
              <a:spcAft>
                <a:spcPts val="0"/>
              </a:spcAft>
              <a:buSzPts val="1800"/>
              <a:buChar char="●"/>
            </a:pPr>
            <a:r>
              <a:rPr lang="en"/>
              <a:t>What kind of AI?</a:t>
            </a:r>
            <a:endParaRPr/>
          </a:p>
          <a:p>
            <a:pPr marL="457200" lvl="0" indent="-342900" algn="l" rtl="0">
              <a:spcBef>
                <a:spcPts val="0"/>
              </a:spcBef>
              <a:spcAft>
                <a:spcPts val="0"/>
              </a:spcAft>
              <a:buSzPts val="1800"/>
              <a:buChar char="●"/>
            </a:pPr>
            <a:r>
              <a:rPr lang="en"/>
              <a:t>What kind of tasks do you usually demand to the AI?</a:t>
            </a:r>
            <a:endParaRPr/>
          </a:p>
          <a:p>
            <a:pPr marL="457200" lvl="0" indent="-342900" algn="l" rtl="0">
              <a:spcBef>
                <a:spcPts val="0"/>
              </a:spcBef>
              <a:spcAft>
                <a:spcPts val="0"/>
              </a:spcAft>
              <a:buSzPts val="1800"/>
              <a:buChar char="●"/>
            </a:pPr>
            <a:r>
              <a:rPr lang="en"/>
              <a:t>Do you have typical workflows using AI?</a:t>
            </a:r>
            <a:endParaRPr/>
          </a:p>
          <a:p>
            <a:pPr marL="457200" lvl="0" indent="-342900" algn="l" rtl="0">
              <a:spcBef>
                <a:spcPts val="0"/>
              </a:spcBef>
              <a:spcAft>
                <a:spcPts val="0"/>
              </a:spcAft>
              <a:buSzPts val="1800"/>
              <a:buChar char="●"/>
            </a:pPr>
            <a:r>
              <a:rPr lang="en"/>
              <a:t>What do you expect to analyze during the 5 weeks?</a:t>
            </a:r>
            <a:endParaRPr/>
          </a:p>
          <a:p>
            <a:pPr marL="457200" lvl="0" indent="-342900" algn="l" rtl="0">
              <a:spcBef>
                <a:spcPts val="0"/>
              </a:spcBef>
              <a:spcAft>
                <a:spcPts val="0"/>
              </a:spcAft>
              <a:buSzPts val="1800"/>
              <a:buChar char="●"/>
            </a:pPr>
            <a:r>
              <a:rPr lang="en" b="1"/>
              <a:t>[IMPORTANT]</a:t>
            </a:r>
            <a:r>
              <a:rPr lang="en"/>
              <a:t> Do you all have been provided with Claude Code access?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7"/>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Week 1 - Overview</a:t>
            </a:r>
            <a:endParaRPr/>
          </a:p>
        </p:txBody>
      </p:sp>
      <p:sp>
        <p:nvSpPr>
          <p:cNvPr id="110" name="Google Shape;110;p17"/>
          <p:cNvSpPr txBox="1">
            <a:spLocks noGrp="1"/>
          </p:cNvSpPr>
          <p:nvPr>
            <p:ph type="body" idx="1"/>
          </p:nvPr>
        </p:nvSpPr>
        <p:spPr>
          <a:xfrm>
            <a:off x="311700" y="979425"/>
            <a:ext cx="8520600" cy="3416400"/>
          </a:xfrm>
          <a:prstGeom prst="rect">
            <a:avLst/>
          </a:prstGeom>
        </p:spPr>
        <p:txBody>
          <a:bodyPr spcFirstLastPara="1" wrap="square" lIns="91425" tIns="91425" rIns="91425" bIns="91425" anchor="t" anchorCtr="0">
            <a:normAutofit fontScale="70000" lnSpcReduction="20000"/>
          </a:bodyPr>
          <a:lstStyle/>
          <a:p>
            <a:pPr marL="457200" lvl="0" indent="0" algn="ctr" rtl="0">
              <a:spcBef>
                <a:spcPts val="0"/>
              </a:spcBef>
              <a:spcAft>
                <a:spcPts val="0"/>
              </a:spcAft>
              <a:buNone/>
            </a:pPr>
            <a:r>
              <a:rPr lang="en" sz="2371" b="1"/>
              <a:t>Week 1: Foundations &amp; The "Pilot" Mindset</a:t>
            </a:r>
            <a:endParaRPr sz="2371" b="1"/>
          </a:p>
          <a:p>
            <a:pPr marL="457200" lvl="0" indent="0" algn="ctr" rtl="0">
              <a:spcBef>
                <a:spcPts val="1200"/>
              </a:spcBef>
              <a:spcAft>
                <a:spcPts val="0"/>
              </a:spcAft>
              <a:buNone/>
            </a:pPr>
            <a:r>
              <a:rPr lang="en" i="1" u="sng"/>
              <a:t>Objective</a:t>
            </a:r>
            <a:r>
              <a:rPr lang="en" i="1"/>
              <a:t>: Mastering the art of context and moving away from "magic box" expectations.</a:t>
            </a:r>
            <a:endParaRPr i="1"/>
          </a:p>
          <a:p>
            <a:pPr marL="457200" lvl="0" indent="-317183" algn="l" rtl="0">
              <a:spcBef>
                <a:spcPts val="1200"/>
              </a:spcBef>
              <a:spcAft>
                <a:spcPts val="0"/>
              </a:spcAft>
              <a:buSzPct val="100000"/>
              <a:buChar char="●"/>
            </a:pPr>
            <a:r>
              <a:rPr lang="en" b="1"/>
              <a:t>The Physics (concepts) of LLMs</a:t>
            </a:r>
            <a:r>
              <a:rPr lang="en"/>
              <a:t>. Understanding tokens, context windows, and non-deterministic output. Why does the same prompt give different results?</a:t>
            </a:r>
            <a:endParaRPr/>
          </a:p>
          <a:p>
            <a:pPr marL="457200" lvl="0" indent="-317183" algn="l" rtl="0">
              <a:spcBef>
                <a:spcPts val="0"/>
              </a:spcBef>
              <a:spcAft>
                <a:spcPts val="0"/>
              </a:spcAft>
              <a:buSzPct val="100000"/>
              <a:buChar char="●"/>
            </a:pPr>
            <a:r>
              <a:rPr lang="en" b="1"/>
              <a:t>Context-Driven Prompting.</a:t>
            </a:r>
            <a:r>
              <a:rPr lang="en"/>
              <a:t> Learning the </a:t>
            </a:r>
            <a:r>
              <a:rPr lang="en" i="1"/>
              <a:t>CO-STAR</a:t>
            </a:r>
            <a:r>
              <a:rPr lang="en"/>
              <a:t> framework (Context, Objective, Style, Tone, Audience, Response).</a:t>
            </a:r>
            <a:endParaRPr/>
          </a:p>
          <a:p>
            <a:pPr marL="457200" lvl="0" indent="-317183" algn="l" rtl="0">
              <a:spcBef>
                <a:spcPts val="0"/>
              </a:spcBef>
              <a:spcAft>
                <a:spcPts val="0"/>
              </a:spcAft>
              <a:buSzPct val="100000"/>
              <a:buChar char="●"/>
            </a:pPr>
            <a:r>
              <a:rPr lang="en" b="1"/>
              <a:t>IDE Deep Dive.</a:t>
            </a:r>
            <a:r>
              <a:rPr lang="en"/>
              <a:t> Configuring </a:t>
            </a:r>
            <a:r>
              <a:rPr lang="en" i="1"/>
              <a:t>Claude.md</a:t>
            </a:r>
            <a:r>
              <a:rPr lang="en"/>
              <a:t> to enforce project-specific linting and architectural patterns.</a:t>
            </a:r>
            <a:endParaRPr/>
          </a:p>
          <a:p>
            <a:pPr marL="457200" lvl="0" indent="-317183" algn="l" rtl="0">
              <a:spcBef>
                <a:spcPts val="0"/>
              </a:spcBef>
              <a:spcAft>
                <a:spcPts val="0"/>
              </a:spcAft>
              <a:buSzPct val="100000"/>
              <a:buChar char="●"/>
            </a:pPr>
            <a:r>
              <a:rPr lang="en" b="1"/>
              <a:t>The Week 1 Challenge.</a:t>
            </a:r>
            <a:r>
              <a:rPr lang="en"/>
              <a:t> Refactor one "messy" function using AI by providing it with the original code plus your team’s style guide.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18"/>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LLMs Overview</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9"/>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A step back: ML</a:t>
            </a:r>
            <a:endParaRPr/>
          </a:p>
        </p:txBody>
      </p:sp>
      <p:sp>
        <p:nvSpPr>
          <p:cNvPr id="121" name="Google Shape;121;p19"/>
          <p:cNvSpPr txBox="1">
            <a:spLocks noGrp="1"/>
          </p:cNvSpPr>
          <p:nvPr>
            <p:ph type="body" idx="1"/>
          </p:nvPr>
        </p:nvSpPr>
        <p:spPr>
          <a:xfrm>
            <a:off x="311700" y="979425"/>
            <a:ext cx="8520600" cy="34164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en"/>
              <a:t>Machine Learning: </a:t>
            </a:r>
            <a:r>
              <a:rPr lang="en" i="1"/>
              <a:t>subset of artificial intelligence (AI) that enables computer systems to learn, improve, and identify patterns from data without being explicitly programmed</a:t>
            </a:r>
            <a:br>
              <a:rPr lang="en" i="1"/>
            </a:br>
            <a:endParaRPr i="1"/>
          </a:p>
          <a:p>
            <a:pPr marL="457200" lvl="0" indent="-342900" algn="l" rtl="0">
              <a:spcBef>
                <a:spcPts val="0"/>
              </a:spcBef>
              <a:spcAft>
                <a:spcPts val="0"/>
              </a:spcAft>
              <a:buSzPts val="1800"/>
              <a:buChar char="●"/>
            </a:pPr>
            <a:r>
              <a:rPr lang="en"/>
              <a:t>ML is good at:</a:t>
            </a:r>
            <a:endParaRPr/>
          </a:p>
          <a:p>
            <a:pPr marL="914400" lvl="1" indent="-317500" algn="l" rtl="0">
              <a:spcBef>
                <a:spcPts val="0"/>
              </a:spcBef>
              <a:spcAft>
                <a:spcPts val="0"/>
              </a:spcAft>
              <a:buSzPts val="1400"/>
              <a:buChar char="○"/>
            </a:pPr>
            <a:r>
              <a:rPr lang="en"/>
              <a:t>Learns patterns from data</a:t>
            </a:r>
            <a:endParaRPr/>
          </a:p>
          <a:p>
            <a:pPr marL="914400" lvl="1" indent="-317500" algn="l" rtl="0">
              <a:spcBef>
                <a:spcPts val="0"/>
              </a:spcBef>
              <a:spcAft>
                <a:spcPts val="0"/>
              </a:spcAft>
              <a:buSzPts val="1400"/>
              <a:buChar char="○"/>
            </a:pPr>
            <a:r>
              <a:rPr lang="en"/>
              <a:t>Identifies relationships</a:t>
            </a:r>
            <a:endParaRPr/>
          </a:p>
          <a:p>
            <a:pPr marL="914400" lvl="1" indent="-317500" algn="l" rtl="0">
              <a:spcBef>
                <a:spcPts val="0"/>
              </a:spcBef>
              <a:spcAft>
                <a:spcPts val="0"/>
              </a:spcAft>
              <a:buSzPts val="1400"/>
              <a:buChar char="○"/>
            </a:pPr>
            <a:r>
              <a:rPr lang="en"/>
              <a:t>Predicts outcomes</a:t>
            </a:r>
            <a:endParaRPr/>
          </a:p>
          <a:p>
            <a:pPr marL="914400" lvl="1" indent="-317500" algn="l" rtl="0">
              <a:spcBef>
                <a:spcPts val="0"/>
              </a:spcBef>
              <a:spcAft>
                <a:spcPts val="0"/>
              </a:spcAft>
              <a:buSzPts val="1400"/>
              <a:buChar char="○"/>
            </a:pPr>
            <a:r>
              <a:rPr lang="en"/>
              <a:t>Makes decisions with minimal human intervention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0"/>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ML: complementary perspectives</a:t>
            </a:r>
            <a:endParaRPr/>
          </a:p>
        </p:txBody>
      </p:sp>
      <p:sp>
        <p:nvSpPr>
          <p:cNvPr id="127" name="Google Shape;127;p20"/>
          <p:cNvSpPr/>
          <p:nvPr/>
        </p:nvSpPr>
        <p:spPr>
          <a:xfrm>
            <a:off x="3707100" y="1249000"/>
            <a:ext cx="1729800" cy="603000"/>
          </a:xfrm>
          <a:prstGeom prst="roundRect">
            <a:avLst>
              <a:gd name="adj" fmla="val 16667"/>
            </a:avLst>
          </a:prstGeom>
          <a:no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Poppins"/>
                <a:ea typeface="Poppins"/>
                <a:cs typeface="Poppins"/>
                <a:sym typeface="Poppins"/>
              </a:rPr>
              <a:t>Machine Learning</a:t>
            </a:r>
            <a:endParaRPr>
              <a:latin typeface="Poppins"/>
              <a:ea typeface="Poppins"/>
              <a:cs typeface="Poppins"/>
              <a:sym typeface="Poppins"/>
            </a:endParaRPr>
          </a:p>
        </p:txBody>
      </p:sp>
      <p:sp>
        <p:nvSpPr>
          <p:cNvPr id="128" name="Google Shape;128;p20"/>
          <p:cNvSpPr/>
          <p:nvPr/>
        </p:nvSpPr>
        <p:spPr>
          <a:xfrm rot="-2700000">
            <a:off x="3692327" y="2230638"/>
            <a:ext cx="808647" cy="293166"/>
          </a:xfrm>
          <a:prstGeom prst="leftArrow">
            <a:avLst>
              <a:gd name="adj1" fmla="val 50000"/>
              <a:gd name="adj2" fmla="val 50000"/>
            </a:avLst>
          </a:prstGeom>
          <a:no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129" name="Google Shape;129;p20"/>
          <p:cNvSpPr/>
          <p:nvPr/>
        </p:nvSpPr>
        <p:spPr>
          <a:xfrm rot="-8100000">
            <a:off x="4643027" y="2230638"/>
            <a:ext cx="808647" cy="293166"/>
          </a:xfrm>
          <a:prstGeom prst="leftArrow">
            <a:avLst>
              <a:gd name="adj1" fmla="val 50000"/>
              <a:gd name="adj2" fmla="val 50000"/>
            </a:avLst>
          </a:prstGeom>
          <a:no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130" name="Google Shape;130;p20"/>
          <p:cNvSpPr/>
          <p:nvPr/>
        </p:nvSpPr>
        <p:spPr>
          <a:xfrm>
            <a:off x="1977300" y="2829675"/>
            <a:ext cx="1729800" cy="603000"/>
          </a:xfrm>
          <a:prstGeom prst="roundRect">
            <a:avLst>
              <a:gd name="adj" fmla="val 16667"/>
            </a:avLst>
          </a:prstGeom>
          <a:no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F52E13"/>
                </a:solidFill>
                <a:latin typeface="Poppins"/>
                <a:ea typeface="Poppins"/>
                <a:cs typeface="Poppins"/>
                <a:sym typeface="Poppins"/>
              </a:rPr>
              <a:t>Reflection</a:t>
            </a:r>
            <a:r>
              <a:rPr lang="en" sz="1000">
                <a:latin typeface="Poppins"/>
                <a:ea typeface="Poppins"/>
                <a:cs typeface="Poppins"/>
                <a:sym typeface="Poppins"/>
              </a:rPr>
              <a:t>: distilled patterns from training data</a:t>
            </a:r>
            <a:endParaRPr sz="1000">
              <a:latin typeface="Poppins"/>
              <a:ea typeface="Poppins"/>
              <a:cs typeface="Poppins"/>
              <a:sym typeface="Poppins"/>
            </a:endParaRPr>
          </a:p>
        </p:txBody>
      </p:sp>
      <p:sp>
        <p:nvSpPr>
          <p:cNvPr id="131" name="Google Shape;131;p20"/>
          <p:cNvSpPr/>
          <p:nvPr/>
        </p:nvSpPr>
        <p:spPr>
          <a:xfrm>
            <a:off x="5436900" y="2766775"/>
            <a:ext cx="1729800" cy="603000"/>
          </a:xfrm>
          <a:prstGeom prst="roundRect">
            <a:avLst>
              <a:gd name="adj" fmla="val 16667"/>
            </a:avLst>
          </a:prstGeom>
          <a:noFill/>
          <a:ln w="2857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b="1">
                <a:solidFill>
                  <a:srgbClr val="38761D"/>
                </a:solidFill>
                <a:latin typeface="Poppins"/>
                <a:ea typeface="Poppins"/>
                <a:cs typeface="Poppins"/>
                <a:sym typeface="Poppins"/>
              </a:rPr>
              <a:t>Prediction</a:t>
            </a:r>
            <a:r>
              <a:rPr lang="en" sz="1000">
                <a:latin typeface="Poppins"/>
                <a:ea typeface="Poppins"/>
                <a:cs typeface="Poppins"/>
                <a:sym typeface="Poppins"/>
              </a:rPr>
              <a:t>: uses past patterns to infer new outputs</a:t>
            </a:r>
            <a:endParaRPr sz="1000">
              <a:latin typeface="Poppins"/>
              <a:ea typeface="Poppins"/>
              <a:cs typeface="Poppins"/>
              <a:sym typeface="Poppins"/>
            </a:endParaRPr>
          </a:p>
        </p:txBody>
      </p:sp>
      <p:sp>
        <p:nvSpPr>
          <p:cNvPr id="132" name="Google Shape;132;p20"/>
          <p:cNvSpPr/>
          <p:nvPr/>
        </p:nvSpPr>
        <p:spPr>
          <a:xfrm rot="1328114">
            <a:off x="4863810" y="1109529"/>
            <a:ext cx="1023106" cy="259049"/>
          </a:xfrm>
          <a:prstGeom prst="roundRect">
            <a:avLst>
              <a:gd name="adj" fmla="val 16667"/>
            </a:avLst>
          </a:prstGeom>
          <a:solidFill>
            <a:schemeClr val="lt1"/>
          </a:solidFill>
          <a:ln w="9525" cap="flat" cmpd="sng">
            <a:solidFill>
              <a:srgbClr val="F52E1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latin typeface="Poppins"/>
                <a:ea typeface="Poppins"/>
                <a:cs typeface="Poppins"/>
                <a:sym typeface="Poppins"/>
              </a:rPr>
              <a:t>Pattern Matching</a:t>
            </a:r>
            <a:endParaRPr sz="700">
              <a:latin typeface="Poppins"/>
              <a:ea typeface="Poppins"/>
              <a:cs typeface="Poppins"/>
              <a:sym typeface="Poppi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1"/>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From ML to LLMs</a:t>
            </a:r>
            <a:endParaRPr/>
          </a:p>
        </p:txBody>
      </p:sp>
      <p:pic>
        <p:nvPicPr>
          <p:cNvPr id="138" name="Google Shape;138;p21"/>
          <p:cNvPicPr preferRelativeResize="0"/>
          <p:nvPr/>
        </p:nvPicPr>
        <p:blipFill rotWithShape="1">
          <a:blip r:embed="rId3">
            <a:alphaModFix/>
          </a:blip>
          <a:srcRect l="12219" t="4739" r="15396" b="15744"/>
          <a:stretch/>
        </p:blipFill>
        <p:spPr>
          <a:xfrm>
            <a:off x="311700" y="939925"/>
            <a:ext cx="4190097" cy="3068649"/>
          </a:xfrm>
          <a:prstGeom prst="rect">
            <a:avLst/>
          </a:prstGeom>
          <a:noFill/>
          <a:ln>
            <a:noFill/>
          </a:ln>
        </p:spPr>
      </p:pic>
      <p:pic>
        <p:nvPicPr>
          <p:cNvPr id="139" name="Google Shape;139;p21" title="ml_to_llm_diagram.jpg"/>
          <p:cNvPicPr preferRelativeResize="0"/>
          <p:nvPr/>
        </p:nvPicPr>
        <p:blipFill>
          <a:blip r:embed="rId4">
            <a:alphaModFix/>
          </a:blip>
          <a:stretch>
            <a:fillRect/>
          </a:stretch>
        </p:blipFill>
        <p:spPr>
          <a:xfrm>
            <a:off x="5153347" y="688363"/>
            <a:ext cx="3678956" cy="4111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LLMs</a:t>
            </a:r>
            <a:endParaRPr/>
          </a:p>
        </p:txBody>
      </p:sp>
      <p:sp>
        <p:nvSpPr>
          <p:cNvPr id="145" name="Google Shape;145;p22"/>
          <p:cNvSpPr txBox="1">
            <a:spLocks noGrp="1"/>
          </p:cNvSpPr>
          <p:nvPr>
            <p:ph type="body" idx="1"/>
          </p:nvPr>
        </p:nvSpPr>
        <p:spPr>
          <a:xfrm>
            <a:off x="311700" y="979425"/>
            <a:ext cx="8520600" cy="34164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Char char="●"/>
            </a:pPr>
            <a:r>
              <a:rPr lang="en"/>
              <a:t>AI systems trained on massive amounts of text (docs, books, code, web, etc.)</a:t>
            </a:r>
            <a:endParaRPr/>
          </a:p>
          <a:p>
            <a:pPr marL="457200" lvl="0" indent="-342900" algn="l" rtl="0">
              <a:spcBef>
                <a:spcPts val="0"/>
              </a:spcBef>
              <a:spcAft>
                <a:spcPts val="0"/>
              </a:spcAft>
              <a:buSzPts val="1800"/>
              <a:buChar char="●"/>
            </a:pPr>
            <a:r>
              <a:rPr lang="en"/>
              <a:t>Understand and generate human-like text</a:t>
            </a:r>
            <a:endParaRPr/>
          </a:p>
          <a:p>
            <a:pPr marL="457200" lvl="0" indent="-342900" algn="l" rtl="0">
              <a:spcBef>
                <a:spcPts val="0"/>
              </a:spcBef>
              <a:spcAft>
                <a:spcPts val="0"/>
              </a:spcAft>
              <a:buSzPts val="1800"/>
              <a:buChar char="●"/>
            </a:pPr>
            <a:r>
              <a:rPr lang="en"/>
              <a:t>Core capabilities:</a:t>
            </a:r>
            <a:endParaRPr/>
          </a:p>
          <a:p>
            <a:pPr marL="914400" lvl="1" indent="-317500" algn="l" rtl="0">
              <a:spcBef>
                <a:spcPts val="0"/>
              </a:spcBef>
              <a:spcAft>
                <a:spcPts val="0"/>
              </a:spcAft>
              <a:buSzPts val="1400"/>
              <a:buChar char="○"/>
            </a:pPr>
            <a:r>
              <a:rPr lang="en"/>
              <a:t>Summaries</a:t>
            </a:r>
            <a:endParaRPr/>
          </a:p>
          <a:p>
            <a:pPr marL="914400" lvl="1" indent="-317500" algn="l" rtl="0">
              <a:spcBef>
                <a:spcPts val="0"/>
              </a:spcBef>
              <a:spcAft>
                <a:spcPts val="0"/>
              </a:spcAft>
              <a:buSzPts val="1400"/>
              <a:buChar char="○"/>
            </a:pPr>
            <a:r>
              <a:rPr lang="en"/>
              <a:t>Code generation</a:t>
            </a:r>
            <a:endParaRPr/>
          </a:p>
          <a:p>
            <a:pPr marL="914400" lvl="1" indent="-317500" algn="l" rtl="0">
              <a:spcBef>
                <a:spcPts val="0"/>
              </a:spcBef>
              <a:spcAft>
                <a:spcPts val="0"/>
              </a:spcAft>
              <a:buSzPts val="1400"/>
              <a:buChar char="○"/>
            </a:pPr>
            <a:r>
              <a:rPr lang="en"/>
              <a:t>Text rewriting</a:t>
            </a:r>
            <a:endParaRPr/>
          </a:p>
          <a:p>
            <a:pPr marL="914400" lvl="1" indent="-317500" algn="l" rtl="0">
              <a:spcBef>
                <a:spcPts val="0"/>
              </a:spcBef>
              <a:spcAft>
                <a:spcPts val="0"/>
              </a:spcAft>
              <a:buSzPts val="1400"/>
              <a:buChar char="○"/>
            </a:pPr>
            <a:r>
              <a:rPr lang="en"/>
              <a:t>Q&amp;A</a:t>
            </a:r>
            <a:endParaRPr/>
          </a:p>
          <a:p>
            <a:pPr marL="914400" lvl="1" indent="-317500" algn="l" rtl="0">
              <a:spcBef>
                <a:spcPts val="0"/>
              </a:spcBef>
              <a:spcAft>
                <a:spcPts val="0"/>
              </a:spcAft>
              <a:buSzPts val="1400"/>
              <a:buChar char="○"/>
            </a:pPr>
            <a:r>
              <a:rPr lang="en"/>
              <a:t>Reasoning</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3"/>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LLM: training and prompting</a:t>
            </a:r>
            <a:endParaRPr/>
          </a:p>
        </p:txBody>
      </p:sp>
      <p:sp>
        <p:nvSpPr>
          <p:cNvPr id="151" name="Google Shape;151;p23"/>
          <p:cNvSpPr/>
          <p:nvPr/>
        </p:nvSpPr>
        <p:spPr>
          <a:xfrm>
            <a:off x="3688238" y="1563638"/>
            <a:ext cx="1767528" cy="1097388"/>
          </a:xfrm>
          <a:prstGeom prst="cloud">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Poppins"/>
                <a:ea typeface="Poppins"/>
                <a:cs typeface="Poppins"/>
                <a:sym typeface="Poppins"/>
              </a:rPr>
              <a:t>LLM</a:t>
            </a:r>
            <a:endParaRPr>
              <a:latin typeface="Poppins"/>
              <a:ea typeface="Poppins"/>
              <a:cs typeface="Poppins"/>
              <a:sym typeface="Poppins"/>
            </a:endParaRPr>
          </a:p>
        </p:txBody>
      </p:sp>
      <p:sp>
        <p:nvSpPr>
          <p:cNvPr id="152" name="Google Shape;152;p23"/>
          <p:cNvSpPr/>
          <p:nvPr/>
        </p:nvSpPr>
        <p:spPr>
          <a:xfrm rot="10800000">
            <a:off x="5899588" y="1563638"/>
            <a:ext cx="1055700" cy="451500"/>
          </a:xfrm>
          <a:prstGeom prst="rightArrow">
            <a:avLst>
              <a:gd name="adj1" fmla="val 50000"/>
              <a:gd name="adj2" fmla="val 50000"/>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153" name="Google Shape;153;p23"/>
          <p:cNvSpPr/>
          <p:nvPr/>
        </p:nvSpPr>
        <p:spPr>
          <a:xfrm>
            <a:off x="5899638" y="2362813"/>
            <a:ext cx="1055700" cy="451500"/>
          </a:xfrm>
          <a:prstGeom prst="rightArrow">
            <a:avLst>
              <a:gd name="adj1" fmla="val 50000"/>
              <a:gd name="adj2" fmla="val 50000"/>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154" name="Google Shape;154;p23"/>
          <p:cNvSpPr/>
          <p:nvPr/>
        </p:nvSpPr>
        <p:spPr>
          <a:xfrm>
            <a:off x="2188713" y="1886588"/>
            <a:ext cx="1055700" cy="451500"/>
          </a:xfrm>
          <a:prstGeom prst="rightArrow">
            <a:avLst>
              <a:gd name="adj1" fmla="val 50000"/>
              <a:gd name="adj2" fmla="val 50000"/>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155" name="Google Shape;155;p23"/>
          <p:cNvSpPr/>
          <p:nvPr/>
        </p:nvSpPr>
        <p:spPr>
          <a:xfrm>
            <a:off x="597113" y="1735388"/>
            <a:ext cx="1340400" cy="753900"/>
          </a:xfrm>
          <a:prstGeom prst="roundRect">
            <a:avLst>
              <a:gd name="adj" fmla="val 16667"/>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Poppins"/>
                <a:ea typeface="Poppins"/>
                <a:cs typeface="Poppins"/>
                <a:sym typeface="Poppins"/>
              </a:rPr>
              <a:t>Information for training + tuning</a:t>
            </a:r>
            <a:endParaRPr>
              <a:latin typeface="Poppins"/>
              <a:ea typeface="Poppins"/>
              <a:cs typeface="Poppins"/>
              <a:sym typeface="Poppins"/>
            </a:endParaRPr>
          </a:p>
        </p:txBody>
      </p:sp>
      <p:sp>
        <p:nvSpPr>
          <p:cNvPr id="156" name="Google Shape;156;p23"/>
          <p:cNvSpPr/>
          <p:nvPr/>
        </p:nvSpPr>
        <p:spPr>
          <a:xfrm>
            <a:off x="7206488" y="1412438"/>
            <a:ext cx="1340400" cy="753900"/>
          </a:xfrm>
          <a:prstGeom prst="roundRect">
            <a:avLst>
              <a:gd name="adj" fmla="val 16667"/>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latin typeface="Poppins"/>
                <a:ea typeface="Poppins"/>
                <a:cs typeface="Poppins"/>
                <a:sym typeface="Poppins"/>
              </a:rPr>
              <a:t>Querying (prompting)</a:t>
            </a:r>
            <a:endParaRPr sz="1300">
              <a:latin typeface="Poppins"/>
              <a:ea typeface="Poppins"/>
              <a:cs typeface="Poppins"/>
              <a:sym typeface="Poppins"/>
            </a:endParaRPr>
          </a:p>
        </p:txBody>
      </p:sp>
      <p:sp>
        <p:nvSpPr>
          <p:cNvPr id="157" name="Google Shape;157;p23"/>
          <p:cNvSpPr/>
          <p:nvPr/>
        </p:nvSpPr>
        <p:spPr>
          <a:xfrm>
            <a:off x="7206488" y="2211613"/>
            <a:ext cx="1340400" cy="753900"/>
          </a:xfrm>
          <a:prstGeom prst="roundRect">
            <a:avLst>
              <a:gd name="adj" fmla="val 16667"/>
            </a:avLst>
          </a:prstGeom>
          <a:solidFill>
            <a:schemeClr val="lt1"/>
          </a:solidFill>
          <a:ln w="19050"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Poppins"/>
                <a:ea typeface="Poppins"/>
                <a:cs typeface="Poppins"/>
                <a:sym typeface="Poppins"/>
              </a:rPr>
              <a:t>Answer</a:t>
            </a:r>
            <a:endParaRPr>
              <a:latin typeface="Poppins"/>
              <a:ea typeface="Poppins"/>
              <a:cs typeface="Poppins"/>
              <a:sym typeface="Poppins"/>
            </a:endParaRPr>
          </a:p>
        </p:txBody>
      </p:sp>
      <p:sp>
        <p:nvSpPr>
          <p:cNvPr id="158" name="Google Shape;158;p23"/>
          <p:cNvSpPr/>
          <p:nvPr/>
        </p:nvSpPr>
        <p:spPr>
          <a:xfrm>
            <a:off x="2055213" y="2633113"/>
            <a:ext cx="1322700" cy="332400"/>
          </a:xfrm>
          <a:prstGeom prst="roundRect">
            <a:avLst>
              <a:gd name="adj" fmla="val 16667"/>
            </a:avLst>
          </a:prstGeom>
          <a:solidFill>
            <a:schemeClr val="lt1"/>
          </a:solidFill>
          <a:ln w="19050" cap="flat" cmpd="sng">
            <a:solidFill>
              <a:srgbClr val="FC520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latin typeface="Poppins"/>
                <a:ea typeface="Poppins"/>
                <a:cs typeface="Poppins"/>
                <a:sym typeface="Poppins"/>
              </a:rPr>
              <a:t>Massive dataset of text/book/articles…</a:t>
            </a:r>
            <a:endParaRPr sz="700">
              <a:latin typeface="Poppins"/>
              <a:ea typeface="Poppins"/>
              <a:cs typeface="Poppins"/>
              <a:sym typeface="Poppins"/>
            </a:endParaRPr>
          </a:p>
        </p:txBody>
      </p:sp>
      <p:sp>
        <p:nvSpPr>
          <p:cNvPr id="159" name="Google Shape;159;p23"/>
          <p:cNvSpPr/>
          <p:nvPr/>
        </p:nvSpPr>
        <p:spPr>
          <a:xfrm>
            <a:off x="2055213" y="3015888"/>
            <a:ext cx="1322700" cy="332400"/>
          </a:xfrm>
          <a:prstGeom prst="roundRect">
            <a:avLst>
              <a:gd name="adj" fmla="val 16667"/>
            </a:avLst>
          </a:prstGeom>
          <a:solidFill>
            <a:schemeClr val="lt1"/>
          </a:solidFill>
          <a:ln w="19050" cap="flat" cmpd="sng">
            <a:solidFill>
              <a:srgbClr val="FC520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latin typeface="Poppins"/>
                <a:ea typeface="Poppins"/>
                <a:cs typeface="Poppins"/>
                <a:sym typeface="Poppins"/>
              </a:rPr>
              <a:t>Learns patterns and relationships between words and concepts</a:t>
            </a:r>
            <a:endParaRPr sz="700">
              <a:latin typeface="Poppins"/>
              <a:ea typeface="Poppins"/>
              <a:cs typeface="Poppins"/>
              <a:sym typeface="Poppins"/>
            </a:endParaRPr>
          </a:p>
        </p:txBody>
      </p:sp>
      <p:sp>
        <p:nvSpPr>
          <p:cNvPr id="160" name="Google Shape;160;p23"/>
          <p:cNvSpPr/>
          <p:nvPr/>
        </p:nvSpPr>
        <p:spPr>
          <a:xfrm>
            <a:off x="2055213" y="3398663"/>
            <a:ext cx="1322700" cy="332400"/>
          </a:xfrm>
          <a:prstGeom prst="roundRect">
            <a:avLst>
              <a:gd name="adj" fmla="val 16667"/>
            </a:avLst>
          </a:prstGeom>
          <a:solidFill>
            <a:schemeClr val="lt1"/>
          </a:solidFill>
          <a:ln w="19050" cap="flat" cmpd="sng">
            <a:solidFill>
              <a:srgbClr val="FC520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latin typeface="Poppins"/>
                <a:ea typeface="Poppins"/>
                <a:cs typeface="Poppins"/>
                <a:sym typeface="Poppins"/>
              </a:rPr>
              <a:t>Fine tuned for specific tasks and behaviors</a:t>
            </a:r>
            <a:endParaRPr sz="700">
              <a:latin typeface="Poppins"/>
              <a:ea typeface="Poppins"/>
              <a:cs typeface="Poppins"/>
              <a:sym typeface="Poppins"/>
            </a:endParaRPr>
          </a:p>
        </p:txBody>
      </p:sp>
      <p:sp>
        <p:nvSpPr>
          <p:cNvPr id="161" name="Google Shape;161;p23"/>
          <p:cNvSpPr/>
          <p:nvPr/>
        </p:nvSpPr>
        <p:spPr>
          <a:xfrm>
            <a:off x="5766088" y="3015888"/>
            <a:ext cx="1322700" cy="332400"/>
          </a:xfrm>
          <a:prstGeom prst="roundRect">
            <a:avLst>
              <a:gd name="adj" fmla="val 16667"/>
            </a:avLst>
          </a:prstGeom>
          <a:solidFill>
            <a:schemeClr val="lt1"/>
          </a:solidFill>
          <a:ln w="19050" cap="flat" cmpd="sng">
            <a:solidFill>
              <a:srgbClr val="FC520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latin typeface="Poppins"/>
                <a:ea typeface="Poppins"/>
                <a:cs typeface="Poppins"/>
                <a:sym typeface="Poppins"/>
              </a:rPr>
              <a:t>Public and private data</a:t>
            </a:r>
            <a:endParaRPr sz="700">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24"/>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LLM: local vs remote</a:t>
            </a:r>
            <a:endParaRPr/>
          </a:p>
        </p:txBody>
      </p:sp>
      <p:graphicFrame>
        <p:nvGraphicFramePr>
          <p:cNvPr id="167" name="Google Shape;167;p24"/>
          <p:cNvGraphicFramePr/>
          <p:nvPr/>
        </p:nvGraphicFramePr>
        <p:xfrm>
          <a:off x="952500" y="1657400"/>
          <a:ext cx="7239000" cy="1828710"/>
        </p:xfrm>
        <a:graphic>
          <a:graphicData uri="http://schemas.openxmlformats.org/drawingml/2006/table">
            <a:tbl>
              <a:tblPr>
                <a:noFill/>
                <a:tableStyleId>{7A16D522-D285-4379-80FD-8D04E42976DE}</a:tableStyleId>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endParaRPr b="1"/>
                    </a:p>
                  </a:txBody>
                  <a:tcPr marL="91425" marR="91425" marT="91425" marB="91425">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r>
                        <a:rPr lang="en" b="1"/>
                        <a:t>Pros</a:t>
                      </a:r>
                      <a:endParaRPr b="1"/>
                    </a:p>
                  </a:txBody>
                  <a:tcPr marL="91425" marR="91425" marT="91425" marB="91425">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r>
                        <a:rPr lang="en" b="1"/>
                        <a:t>Cons</a:t>
                      </a:r>
                      <a:endParaRPr b="1"/>
                    </a:p>
                  </a:txBody>
                  <a:tcPr marL="91425" marR="91425" marT="91425" marB="91425">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 b="1"/>
                        <a:t>Local</a:t>
                      </a:r>
                      <a:endParaRPr b="1"/>
                    </a:p>
                  </a:txBody>
                  <a:tcPr marL="91425" marR="91425" marT="91425" marB="91425">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r>
                        <a:rPr lang="en"/>
                        <a:t>Security, control, ownership, free</a:t>
                      </a:r>
                      <a:endParaRPr/>
                    </a:p>
                  </a:txBody>
                  <a:tcPr marL="91425" marR="91425" marT="91425" marB="91425">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r>
                        <a:rPr lang="en"/>
                        <a:t>Infrastructure and hardware requirements, maintenance</a:t>
                      </a:r>
                      <a:endParaRPr/>
                    </a:p>
                  </a:txBody>
                  <a:tcPr marL="91425" marR="91425" marT="91425" marB="91425">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en" b="1"/>
                        <a:t>Remote</a:t>
                      </a:r>
                      <a:endParaRPr b="1"/>
                    </a:p>
                  </a:txBody>
                  <a:tcPr marL="91425" marR="91425" marT="91425" marB="91425">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r>
                        <a:rPr lang="en"/>
                        <a:t>“Pay as you go” model</a:t>
                      </a:r>
                      <a:endParaRPr/>
                    </a:p>
                  </a:txBody>
                  <a:tcPr marL="91425" marR="91425" marT="91425" marB="91425">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tcPr>
                </a:tc>
                <a:tc>
                  <a:txBody>
                    <a:bodyPr/>
                    <a:lstStyle/>
                    <a:p>
                      <a:pPr marL="0" lvl="0" indent="0" algn="ctr" rtl="0">
                        <a:spcBef>
                          <a:spcPts val="0"/>
                        </a:spcBef>
                        <a:spcAft>
                          <a:spcPts val="0"/>
                        </a:spcAft>
                        <a:buNone/>
                      </a:pPr>
                      <a:r>
                        <a:rPr lang="en"/>
                        <a:t>Security, data training accuracy, costs, Internet access</a:t>
                      </a:r>
                      <a:endParaRPr/>
                    </a:p>
                  </a:txBody>
                  <a:tcPr marL="91425" marR="91425" marT="91425" marB="91425">
                    <a:lnL w="19050" cap="flat" cmpd="sng">
                      <a:solidFill>
                        <a:schemeClr val="accent1"/>
                      </a:solidFill>
                      <a:prstDash val="solid"/>
                      <a:round/>
                      <a:headEnd type="none" w="sm" len="sm"/>
                      <a:tailEnd type="none" w="sm" len="sm"/>
                    </a:lnL>
                    <a:lnR w="19050" cap="flat" cmpd="sng">
                      <a:solidFill>
                        <a:schemeClr val="accent1"/>
                      </a:solidFill>
                      <a:prstDash val="solid"/>
                      <a:round/>
                      <a:headEnd type="none" w="sm" len="sm"/>
                      <a:tailEnd type="none" w="sm" len="sm"/>
                    </a:lnR>
                    <a:lnT w="19050" cap="flat" cmpd="sng">
                      <a:solidFill>
                        <a:schemeClr val="accent1"/>
                      </a:solidFill>
                      <a:prstDash val="solid"/>
                      <a:round/>
                      <a:headEnd type="none" w="sm" len="sm"/>
                      <a:tailEnd type="none" w="sm" len="sm"/>
                    </a:lnT>
                    <a:lnB w="19050" cap="flat" cmpd="sng">
                      <a:solidFill>
                        <a:schemeClr val="accent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5"/>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What LLMs are good at</a:t>
            </a:r>
            <a:endParaRPr/>
          </a:p>
        </p:txBody>
      </p:sp>
      <p:sp>
        <p:nvSpPr>
          <p:cNvPr id="173" name="Google Shape;173;p25"/>
          <p:cNvSpPr txBox="1">
            <a:spLocks noGrp="1"/>
          </p:cNvSpPr>
          <p:nvPr>
            <p:ph type="body" idx="1"/>
          </p:nvPr>
        </p:nvSpPr>
        <p:spPr>
          <a:xfrm>
            <a:off x="311700" y="979425"/>
            <a:ext cx="8520600" cy="3416400"/>
          </a:xfrm>
          <a:prstGeom prst="rect">
            <a:avLst/>
          </a:prstGeom>
        </p:spPr>
        <p:txBody>
          <a:bodyPr spcFirstLastPara="1" wrap="square" lIns="91425" tIns="91425" rIns="91425" bIns="91425" anchor="t" anchorCtr="0">
            <a:normAutofit fontScale="85000" lnSpcReduction="20000"/>
          </a:bodyPr>
          <a:lstStyle/>
          <a:p>
            <a:pPr marL="457200" lvl="0" indent="-325755" algn="l" rtl="0">
              <a:spcBef>
                <a:spcPts val="0"/>
              </a:spcBef>
              <a:spcAft>
                <a:spcPts val="0"/>
              </a:spcAft>
              <a:buSzPct val="100000"/>
              <a:buChar char="●"/>
            </a:pPr>
            <a:r>
              <a:rPr lang="en"/>
              <a:t>Natural Language Understanding</a:t>
            </a:r>
            <a:endParaRPr/>
          </a:p>
          <a:p>
            <a:pPr marL="914400" lvl="1" indent="-304165" algn="l" rtl="0">
              <a:spcBef>
                <a:spcPts val="0"/>
              </a:spcBef>
              <a:spcAft>
                <a:spcPts val="0"/>
              </a:spcAft>
              <a:buSzPct val="100000"/>
              <a:buChar char="○"/>
            </a:pPr>
            <a:r>
              <a:rPr lang="en"/>
              <a:t>Comprehend complex instructions and queries</a:t>
            </a:r>
            <a:endParaRPr/>
          </a:p>
          <a:p>
            <a:pPr marL="914400" lvl="1" indent="-304165" algn="l" rtl="0">
              <a:spcBef>
                <a:spcPts val="0"/>
              </a:spcBef>
              <a:spcAft>
                <a:spcPts val="0"/>
              </a:spcAft>
              <a:buSzPct val="100000"/>
              <a:buChar char="○"/>
            </a:pPr>
            <a:r>
              <a:rPr lang="en"/>
              <a:t>Extract meaning from ambiguous text</a:t>
            </a:r>
            <a:endParaRPr/>
          </a:p>
          <a:p>
            <a:pPr marL="457200" lvl="0" indent="-325755" algn="l" rtl="0">
              <a:spcBef>
                <a:spcPts val="0"/>
              </a:spcBef>
              <a:spcAft>
                <a:spcPts val="0"/>
              </a:spcAft>
              <a:buSzPct val="100000"/>
              <a:buChar char="●"/>
            </a:pPr>
            <a:r>
              <a:rPr lang="en"/>
              <a:t>Content Generation</a:t>
            </a:r>
            <a:endParaRPr/>
          </a:p>
          <a:p>
            <a:pPr marL="914400" lvl="1" indent="-304165" algn="l" rtl="0">
              <a:spcBef>
                <a:spcPts val="0"/>
              </a:spcBef>
              <a:spcAft>
                <a:spcPts val="0"/>
              </a:spcAft>
              <a:buSzPct val="100000"/>
              <a:buChar char="○"/>
            </a:pPr>
            <a:r>
              <a:rPr lang="en"/>
              <a:t>Write essays, reports, code, emails, texts summaries</a:t>
            </a:r>
            <a:endParaRPr/>
          </a:p>
          <a:p>
            <a:pPr marL="914400" lvl="1" indent="-304165" algn="l" rtl="0">
              <a:spcBef>
                <a:spcPts val="0"/>
              </a:spcBef>
              <a:spcAft>
                <a:spcPts val="0"/>
              </a:spcAft>
              <a:buSzPct val="100000"/>
              <a:buChar char="○"/>
            </a:pPr>
            <a:r>
              <a:rPr lang="en"/>
              <a:t>Adapt their style and tone to diﬀerent styles, as requested</a:t>
            </a:r>
            <a:endParaRPr/>
          </a:p>
          <a:p>
            <a:pPr marL="457200" lvl="0" indent="-325755" algn="l" rtl="0">
              <a:spcBef>
                <a:spcPts val="0"/>
              </a:spcBef>
              <a:spcAft>
                <a:spcPts val="0"/>
              </a:spcAft>
              <a:buSzPct val="100000"/>
              <a:buChar char="●"/>
            </a:pPr>
            <a:r>
              <a:rPr lang="en"/>
              <a:t>Knowledge Access</a:t>
            </a:r>
            <a:endParaRPr/>
          </a:p>
          <a:p>
            <a:pPr marL="914400" lvl="1" indent="-304165" algn="l" rtl="0">
              <a:spcBef>
                <a:spcPts val="0"/>
              </a:spcBef>
              <a:spcAft>
                <a:spcPts val="0"/>
              </a:spcAft>
              <a:buSzPct val="100000"/>
              <a:buChar char="○"/>
            </a:pPr>
            <a:r>
              <a:rPr lang="en"/>
              <a:t>Answer questions on a wide range of topics → internal knowledge and/or web search*</a:t>
            </a:r>
            <a:endParaRPr/>
          </a:p>
          <a:p>
            <a:pPr marL="914400" lvl="1" indent="-304165" algn="l" rtl="0">
              <a:spcBef>
                <a:spcPts val="0"/>
              </a:spcBef>
              <a:spcAft>
                <a:spcPts val="0"/>
              </a:spcAft>
              <a:buSzPct val="100000"/>
              <a:buChar char="○"/>
            </a:pPr>
            <a:r>
              <a:rPr lang="en"/>
              <a:t>Recall information from training data</a:t>
            </a:r>
            <a:endParaRPr/>
          </a:p>
          <a:p>
            <a:pPr marL="457200" lvl="0" indent="-325755" algn="l" rtl="0">
              <a:spcBef>
                <a:spcPts val="0"/>
              </a:spcBef>
              <a:spcAft>
                <a:spcPts val="0"/>
              </a:spcAft>
              <a:buSzPct val="100000"/>
              <a:buChar char="●"/>
            </a:pPr>
            <a:r>
              <a:rPr lang="en"/>
              <a:t>Problem Solving</a:t>
            </a:r>
            <a:endParaRPr/>
          </a:p>
          <a:p>
            <a:pPr marL="914400" lvl="1" indent="-304165" algn="l" rtl="0">
              <a:spcBef>
                <a:spcPts val="0"/>
              </a:spcBef>
              <a:spcAft>
                <a:spcPts val="0"/>
              </a:spcAft>
              <a:buSzPct val="100000"/>
              <a:buChar char="○"/>
            </a:pPr>
            <a:r>
              <a:rPr lang="en"/>
              <a:t>Follow logical steps to solve problems → Chain of Thought</a:t>
            </a:r>
            <a:endParaRPr/>
          </a:p>
          <a:p>
            <a:pPr marL="914400" lvl="1" indent="-304165" algn="l" rtl="0">
              <a:spcBef>
                <a:spcPts val="0"/>
              </a:spcBef>
              <a:spcAft>
                <a:spcPts val="0"/>
              </a:spcAft>
              <a:buSzPct val="100000"/>
              <a:buChar char="○"/>
            </a:pPr>
            <a:r>
              <a:rPr lang="en"/>
              <a:t>Reason through multi-step processes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26"/>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Limitations of LLMs (1) verbose</a:t>
            </a:r>
            <a:endParaRPr/>
          </a:p>
        </p:txBody>
      </p:sp>
      <p:sp>
        <p:nvSpPr>
          <p:cNvPr id="179" name="Google Shape;179;p26"/>
          <p:cNvSpPr txBox="1">
            <a:spLocks noGrp="1"/>
          </p:cNvSpPr>
          <p:nvPr>
            <p:ph type="body" idx="1"/>
          </p:nvPr>
        </p:nvSpPr>
        <p:spPr>
          <a:xfrm>
            <a:off x="311700" y="979425"/>
            <a:ext cx="8520600" cy="3416400"/>
          </a:xfrm>
          <a:prstGeom prst="rect">
            <a:avLst/>
          </a:prstGeom>
        </p:spPr>
        <p:txBody>
          <a:bodyPr spcFirstLastPara="1" wrap="square" lIns="91425" tIns="91425" rIns="91425" bIns="91425" anchor="t" anchorCtr="0">
            <a:normAutofit fontScale="77500" lnSpcReduction="20000"/>
          </a:bodyPr>
          <a:lstStyle/>
          <a:p>
            <a:pPr marL="457200" lvl="0" indent="-317183" algn="l" rtl="0">
              <a:spcBef>
                <a:spcPts val="0"/>
              </a:spcBef>
              <a:spcAft>
                <a:spcPts val="0"/>
              </a:spcAft>
              <a:buSzPct val="100000"/>
              <a:buChar char="●"/>
            </a:pPr>
            <a:r>
              <a:rPr lang="en"/>
              <a:t>Knowledge Cutoffs</a:t>
            </a:r>
            <a:endParaRPr/>
          </a:p>
          <a:p>
            <a:pPr marL="914400" lvl="1" indent="-297498" algn="l" rtl="0">
              <a:spcBef>
                <a:spcPts val="0"/>
              </a:spcBef>
              <a:spcAft>
                <a:spcPts val="0"/>
              </a:spcAft>
              <a:buSzPct val="100000"/>
              <a:buChar char="○"/>
            </a:pPr>
            <a:r>
              <a:rPr lang="en"/>
              <a:t>Every LLM has a cutoff date based on the end of its training process, meaning the information retrieved from it is limited to what it knows.</a:t>
            </a:r>
            <a:endParaRPr/>
          </a:p>
          <a:p>
            <a:pPr marL="457200" lvl="0" indent="-317183" algn="l" rtl="0">
              <a:spcBef>
                <a:spcPts val="0"/>
              </a:spcBef>
              <a:spcAft>
                <a:spcPts val="0"/>
              </a:spcAft>
              <a:buSzPct val="100000"/>
              <a:buChar char="●"/>
            </a:pPr>
            <a:r>
              <a:rPr lang="en"/>
              <a:t>Temporary Web Search Information</a:t>
            </a:r>
            <a:endParaRPr/>
          </a:p>
          <a:p>
            <a:pPr marL="914400" lvl="1" indent="-297498" algn="l" rtl="0">
              <a:spcBef>
                <a:spcPts val="0"/>
              </a:spcBef>
              <a:spcAft>
                <a:spcPts val="0"/>
              </a:spcAft>
              <a:buSzPct val="100000"/>
              <a:buChar char="○"/>
            </a:pPr>
            <a:r>
              <a:rPr lang="en"/>
              <a:t>Although an LLM can perform a </a:t>
            </a:r>
            <a:r>
              <a:rPr lang="en" i="1"/>
              <a:t>"deep search"</a:t>
            </a:r>
            <a:r>
              <a:rPr lang="en"/>
              <a:t> or access the web for current information, that knowledge is </a:t>
            </a:r>
            <a:r>
              <a:rPr lang="en" i="1"/>
              <a:t>usually</a:t>
            </a:r>
            <a:r>
              <a:rPr lang="en"/>
              <a:t> only for the current session and is not permanently remembered by the LLM. </a:t>
            </a:r>
            <a:r>
              <a:rPr lang="en" u="sng"/>
              <a:t>LLMs are "read-only"</a:t>
            </a:r>
            <a:r>
              <a:rPr lang="en"/>
              <a:t>.</a:t>
            </a:r>
            <a:endParaRPr/>
          </a:p>
          <a:p>
            <a:pPr marL="457200" lvl="0" indent="-317183" algn="l" rtl="0">
              <a:spcBef>
                <a:spcPts val="0"/>
              </a:spcBef>
              <a:spcAft>
                <a:spcPts val="0"/>
              </a:spcAft>
              <a:buSzPct val="100000"/>
              <a:buChar char="●"/>
            </a:pPr>
            <a:r>
              <a:rPr lang="en"/>
              <a:t>Unreliable Web Search Information</a:t>
            </a:r>
            <a:endParaRPr/>
          </a:p>
          <a:p>
            <a:pPr marL="914400" lvl="1" indent="-297498" algn="l" rtl="0">
              <a:spcBef>
                <a:spcPts val="0"/>
              </a:spcBef>
              <a:spcAft>
                <a:spcPts val="0"/>
              </a:spcAft>
              <a:buSzPct val="100000"/>
              <a:buChar char="○"/>
            </a:pPr>
            <a:r>
              <a:rPr lang="en"/>
              <a:t>Web search results, while potentially very useful, have a potential for biased data, and LLMs do not have an easy way to distinguish the correctness of that information.</a:t>
            </a:r>
            <a:endParaRPr/>
          </a:p>
          <a:p>
            <a:pPr marL="457200" lvl="0" indent="-317183" algn="l" rtl="0">
              <a:spcBef>
                <a:spcPts val="0"/>
              </a:spcBef>
              <a:spcAft>
                <a:spcPts val="0"/>
              </a:spcAft>
              <a:buSzPct val="100000"/>
              <a:buChar char="●"/>
            </a:pPr>
            <a:r>
              <a:rPr lang="en"/>
              <a:t>Hallucinations</a:t>
            </a:r>
            <a:endParaRPr/>
          </a:p>
          <a:p>
            <a:pPr marL="914400" lvl="1" indent="-297498" algn="l" rtl="0">
              <a:spcBef>
                <a:spcPts val="0"/>
              </a:spcBef>
              <a:spcAft>
                <a:spcPts val="0"/>
              </a:spcAft>
              <a:buSzPct val="100000"/>
              <a:buChar char="○"/>
            </a:pPr>
            <a:r>
              <a:rPr lang="en"/>
              <a:t>LLMs can generate plausible but incorrect information, or be confidently wrong without indicating it. This is due to their underlying core pattern, the Transformer model, which is a predictive model that generates text based on previous text.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27"/>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Limitations of LLMs (2)</a:t>
            </a:r>
            <a:endParaRPr/>
          </a:p>
        </p:txBody>
      </p:sp>
      <p:sp>
        <p:nvSpPr>
          <p:cNvPr id="185" name="Google Shape;185;p27"/>
          <p:cNvSpPr txBox="1">
            <a:spLocks noGrp="1"/>
          </p:cNvSpPr>
          <p:nvPr>
            <p:ph type="body" idx="1"/>
          </p:nvPr>
        </p:nvSpPr>
        <p:spPr>
          <a:xfrm>
            <a:off x="311700" y="979425"/>
            <a:ext cx="8520600" cy="3416400"/>
          </a:xfrm>
          <a:prstGeom prst="rect">
            <a:avLst/>
          </a:prstGeom>
        </p:spPr>
        <p:txBody>
          <a:bodyPr spcFirstLastPara="1" wrap="square" lIns="91425" tIns="91425" rIns="91425" bIns="91425" anchor="t" anchorCtr="0">
            <a:normAutofit fontScale="70000" lnSpcReduction="10000"/>
          </a:bodyPr>
          <a:lstStyle/>
          <a:p>
            <a:pPr marL="457200" lvl="0" indent="-308610" algn="l" rtl="0">
              <a:spcBef>
                <a:spcPts val="0"/>
              </a:spcBef>
              <a:spcAft>
                <a:spcPts val="0"/>
              </a:spcAft>
              <a:buSzPct val="100000"/>
              <a:buChar char="●"/>
            </a:pPr>
            <a:r>
              <a:rPr lang="en"/>
              <a:t>Limited Context Window</a:t>
            </a:r>
            <a:endParaRPr/>
          </a:p>
          <a:p>
            <a:pPr marL="914400" lvl="1" indent="-290830" algn="l" rtl="0">
              <a:spcBef>
                <a:spcPts val="0"/>
              </a:spcBef>
              <a:spcAft>
                <a:spcPts val="0"/>
              </a:spcAft>
              <a:buSzPct val="100000"/>
              <a:buChar char="○"/>
            </a:pPr>
            <a:r>
              <a:rPr lang="en"/>
              <a:t>Every conversation happens within a context window, and its size is limited. An LLM can only process a limited amount of text.</a:t>
            </a:r>
            <a:endParaRPr/>
          </a:p>
          <a:p>
            <a:pPr marL="914400" lvl="1" indent="-290830" algn="l" rtl="0">
              <a:spcBef>
                <a:spcPts val="0"/>
              </a:spcBef>
              <a:spcAft>
                <a:spcPts val="0"/>
              </a:spcAft>
              <a:buSzPct val="100000"/>
              <a:buChar char="○"/>
            </a:pPr>
            <a:r>
              <a:rPr lang="en" b="1"/>
              <a:t>Degraded output quality</a:t>
            </a:r>
            <a:r>
              <a:rPr lang="en"/>
              <a:t>: the quality of the responses degrades as the context window becomes more occupied. It is recommended to start a new session when the context window reaches about 40%-50% of its size to prevent output quality degradation.</a:t>
            </a:r>
            <a:endParaRPr/>
          </a:p>
          <a:p>
            <a:pPr marL="914400" lvl="1" indent="-290830" algn="l" rtl="0">
              <a:spcBef>
                <a:spcPts val="0"/>
              </a:spcBef>
              <a:spcAft>
                <a:spcPts val="0"/>
              </a:spcAft>
              <a:buSzPct val="100000"/>
              <a:buChar char="○"/>
            </a:pPr>
            <a:r>
              <a:rPr lang="en" b="1"/>
              <a:t>Forgetting details</a:t>
            </a:r>
            <a:r>
              <a:rPr lang="en"/>
              <a:t>: an LLM might forget details from earlier in the conversation because the context window acts like a sliding window.</a:t>
            </a:r>
            <a:endParaRPr/>
          </a:p>
          <a:p>
            <a:pPr marL="914400" lvl="1" indent="-290830" algn="l" rtl="0">
              <a:spcBef>
                <a:spcPts val="0"/>
              </a:spcBef>
              <a:spcAft>
                <a:spcPts val="0"/>
              </a:spcAft>
              <a:buSzPct val="100000"/>
              <a:buChar char="○"/>
            </a:pPr>
            <a:r>
              <a:rPr lang="en" b="1"/>
              <a:t>Evolving size</a:t>
            </a:r>
            <a:r>
              <a:rPr lang="en"/>
              <a:t>: the size of the context window is evolving for some models; for instance, Opus has evolved from 200,000 towards 1 million tokens. Gemini 2.5 and 3 are thought to have a 1 million token context window. However, this larger size means it can remember more, not that it can focus equally well with the same performance.</a:t>
            </a:r>
            <a:endParaRPr/>
          </a:p>
          <a:p>
            <a:pPr marL="457200" lvl="0" indent="-308610" algn="l" rtl="0">
              <a:spcBef>
                <a:spcPts val="0"/>
              </a:spcBef>
              <a:spcAft>
                <a:spcPts val="0"/>
              </a:spcAft>
              <a:buSzPct val="100000"/>
              <a:buChar char="●"/>
            </a:pPr>
            <a:r>
              <a:rPr lang="en"/>
              <a:t>Limited Reasoning</a:t>
            </a:r>
            <a:endParaRPr/>
          </a:p>
          <a:p>
            <a:pPr marL="914400" lvl="1" indent="-290830" algn="l" rtl="0">
              <a:spcBef>
                <a:spcPts val="0"/>
              </a:spcBef>
              <a:spcAft>
                <a:spcPts val="0"/>
              </a:spcAft>
              <a:buSzPct val="100000"/>
              <a:buChar char="○"/>
            </a:pPr>
            <a:r>
              <a:rPr lang="en"/>
              <a:t>LLMs struggle with some complex math and logical puzzles. They mostly rely on correlations and lack a true understanding of cause and effect.</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8"/>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Reasoning models</a:t>
            </a:r>
            <a:endParaRPr/>
          </a:p>
        </p:txBody>
      </p:sp>
      <p:sp>
        <p:nvSpPr>
          <p:cNvPr id="191" name="Google Shape;191;p28"/>
          <p:cNvSpPr txBox="1">
            <a:spLocks noGrp="1"/>
          </p:cNvSpPr>
          <p:nvPr>
            <p:ph type="body" idx="1"/>
          </p:nvPr>
        </p:nvSpPr>
        <p:spPr>
          <a:xfrm>
            <a:off x="311700" y="979425"/>
            <a:ext cx="8520600" cy="3416400"/>
          </a:xfrm>
          <a:prstGeom prst="rect">
            <a:avLst/>
          </a:prstGeom>
        </p:spPr>
        <p:txBody>
          <a:bodyPr spcFirstLastPara="1" wrap="square" lIns="91425" tIns="91425" rIns="91425" bIns="91425" anchor="t" anchorCtr="0">
            <a:normAutofit fontScale="77500" lnSpcReduction="20000"/>
          </a:bodyPr>
          <a:lstStyle/>
          <a:p>
            <a:pPr marL="457200" lvl="0" indent="-317183" algn="l" rtl="0">
              <a:spcBef>
                <a:spcPts val="0"/>
              </a:spcBef>
              <a:spcAft>
                <a:spcPts val="0"/>
              </a:spcAft>
              <a:buSzPct val="100000"/>
              <a:buChar char="●"/>
            </a:pPr>
            <a:r>
              <a:rPr lang="en"/>
              <a:t>How they work:</a:t>
            </a:r>
            <a:endParaRPr/>
          </a:p>
          <a:p>
            <a:pPr marL="914400" lvl="1" indent="-297498" algn="l" rtl="0">
              <a:spcBef>
                <a:spcPts val="0"/>
              </a:spcBef>
              <a:spcAft>
                <a:spcPts val="0"/>
              </a:spcAft>
              <a:buSzPct val="100000"/>
              <a:buChar char="○"/>
            </a:pPr>
            <a:r>
              <a:rPr lang="en"/>
              <a:t>Step-by-step analysis (‘Chain of Thought’) → the models are designed to self-reflect</a:t>
            </a:r>
            <a:endParaRPr/>
          </a:p>
          <a:p>
            <a:pPr marL="914400" lvl="1" indent="-297498" algn="l" rtl="0">
              <a:spcBef>
                <a:spcPts val="0"/>
              </a:spcBef>
              <a:spcAft>
                <a:spcPts val="0"/>
              </a:spcAft>
              <a:buSzPct val="100000"/>
              <a:buChar char="○"/>
            </a:pPr>
            <a:r>
              <a:rPr lang="en"/>
              <a:t>They use search, code &amp; math tools, then aggregate the results in the response</a:t>
            </a:r>
            <a:endParaRPr/>
          </a:p>
          <a:p>
            <a:pPr marL="914400" lvl="1" indent="-297498" algn="l" rtl="0">
              <a:spcBef>
                <a:spcPts val="0"/>
              </a:spcBef>
              <a:spcAft>
                <a:spcPts val="0"/>
              </a:spcAft>
              <a:buSzPct val="100000"/>
              <a:buChar char="○"/>
            </a:pPr>
            <a:r>
              <a:rPr lang="en"/>
              <a:t>Bigger context windows (100 K+ tokens) → read docs &amp; multi-file codebases in a single prompt</a:t>
            </a:r>
            <a:endParaRPr/>
          </a:p>
          <a:p>
            <a:pPr marL="457200" lvl="0" indent="-317183" algn="l" rtl="0">
              <a:spcBef>
                <a:spcPts val="0"/>
              </a:spcBef>
              <a:spcAft>
                <a:spcPts val="0"/>
              </a:spcAft>
              <a:buSzPct val="100000"/>
              <a:buChar char="●"/>
            </a:pPr>
            <a:r>
              <a:rPr lang="en"/>
              <a:t>Flagship models:</a:t>
            </a:r>
            <a:endParaRPr/>
          </a:p>
          <a:p>
            <a:pPr marL="914400" lvl="1" indent="-297498" algn="l" rtl="0">
              <a:spcBef>
                <a:spcPts val="0"/>
              </a:spcBef>
              <a:spcAft>
                <a:spcPts val="0"/>
              </a:spcAft>
              <a:buSzPct val="100000"/>
              <a:buChar char="○"/>
            </a:pPr>
            <a:r>
              <a:rPr lang="en" b="1"/>
              <a:t>OpenAI – GPT‑5.2</a:t>
            </a:r>
            <a:r>
              <a:rPr lang="en"/>
              <a:t> (flagship GPT series): most advanced general‑purpose GPT model for professional work and agents.</a:t>
            </a:r>
            <a:endParaRPr/>
          </a:p>
          <a:p>
            <a:pPr marL="914400" lvl="1" indent="-297498" algn="l" rtl="0">
              <a:spcBef>
                <a:spcPts val="0"/>
              </a:spcBef>
              <a:spcAft>
                <a:spcPts val="0"/>
              </a:spcAft>
              <a:buSzPct val="100000"/>
              <a:buChar char="○"/>
            </a:pPr>
            <a:r>
              <a:rPr lang="en" b="1"/>
              <a:t>Google – Gemini 3.1 Pro</a:t>
            </a:r>
            <a:r>
              <a:rPr lang="en"/>
              <a:t> (Gemini 3 Deep Think line): latest top‑end Gemini model; described as a step forward in core reasoning.​</a:t>
            </a:r>
            <a:endParaRPr/>
          </a:p>
          <a:p>
            <a:pPr marL="914400" lvl="1" indent="-297498" algn="l" rtl="0">
              <a:spcBef>
                <a:spcPts val="0"/>
              </a:spcBef>
              <a:spcAft>
                <a:spcPts val="0"/>
              </a:spcAft>
              <a:buSzPct val="100000"/>
              <a:buChar char="○"/>
            </a:pPr>
            <a:r>
              <a:rPr lang="en" b="1"/>
              <a:t>Anthropic – Claude Opus 4.6</a:t>
            </a:r>
            <a:r>
              <a:rPr lang="en"/>
              <a:t>: current largest Claude “Opus” model; positioned as Anthropic’s flagship for coding, long‑running tasks, and high‑end enterprise use.</a:t>
            </a:r>
            <a:endParaRPr/>
          </a:p>
          <a:p>
            <a:pPr marL="914400" lvl="1" indent="-297498" algn="l" rtl="0">
              <a:spcBef>
                <a:spcPts val="0"/>
              </a:spcBef>
              <a:spcAft>
                <a:spcPts val="0"/>
              </a:spcAft>
              <a:buSzPct val="100000"/>
              <a:buChar char="○"/>
            </a:pPr>
            <a:r>
              <a:rPr lang="en" b="1"/>
              <a:t>DeepSeek – DeepSeek‑R1 671B</a:t>
            </a:r>
            <a:r>
              <a:rPr lang="en"/>
              <a:t>: main flagship reasoning model; 671B‑parameter MoE, described as DeepSeek’s top reasoning model.</a:t>
            </a:r>
            <a:endParaRPr/>
          </a:p>
          <a:p>
            <a:pPr marL="914400" lvl="1" indent="-297498" algn="l" rtl="0">
              <a:spcBef>
                <a:spcPts val="0"/>
              </a:spcBef>
              <a:spcAft>
                <a:spcPts val="0"/>
              </a:spcAft>
              <a:buSzPct val="100000"/>
              <a:buChar char="○"/>
            </a:pPr>
            <a:r>
              <a:rPr lang="en" b="1"/>
              <a:t>Meta – Llama 4 Maverick</a:t>
            </a:r>
            <a:r>
              <a:rPr lang="en"/>
              <a:t> (Llama‑4 family): Meta’s current Llama‑4 flagship.</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9"/>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t>Context Window</a:t>
            </a:r>
            <a:endParaRPr/>
          </a:p>
          <a:p>
            <a:pPr marL="0" lvl="0" indent="0" algn="ctr" rtl="0">
              <a:spcBef>
                <a:spcPts val="0"/>
              </a:spcBef>
              <a:spcAft>
                <a:spcPts val="0"/>
              </a:spcAft>
              <a:buNone/>
            </a:pPr>
            <a:r>
              <a:rPr lang="en"/>
              <a:t>and Prompt Engineering</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0"/>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Key concepts</a:t>
            </a:r>
            <a:endParaRPr/>
          </a:p>
        </p:txBody>
      </p:sp>
      <p:sp>
        <p:nvSpPr>
          <p:cNvPr id="202" name="Google Shape;202;p30"/>
          <p:cNvSpPr txBox="1">
            <a:spLocks noGrp="1"/>
          </p:cNvSpPr>
          <p:nvPr>
            <p:ph type="body" idx="1"/>
          </p:nvPr>
        </p:nvSpPr>
        <p:spPr>
          <a:xfrm>
            <a:off x="311700" y="979425"/>
            <a:ext cx="8520600" cy="3416400"/>
          </a:xfrm>
          <a:prstGeom prst="rect">
            <a:avLst/>
          </a:prstGeom>
        </p:spPr>
        <p:txBody>
          <a:bodyPr spcFirstLastPara="1" wrap="square" lIns="91425" tIns="91425" rIns="91425" bIns="91425" anchor="t" anchorCtr="0">
            <a:normAutofit fontScale="70000" lnSpcReduction="10000"/>
          </a:bodyPr>
          <a:lstStyle/>
          <a:p>
            <a:pPr marL="457200" lvl="0" indent="-300038" algn="l" rtl="0">
              <a:spcBef>
                <a:spcPts val="0"/>
              </a:spcBef>
              <a:spcAft>
                <a:spcPts val="0"/>
              </a:spcAft>
              <a:buSzPct val="100000"/>
              <a:buChar char="●"/>
            </a:pPr>
            <a:r>
              <a:rPr lang="en" b="1"/>
              <a:t>Prompt Engineering</a:t>
            </a:r>
            <a:r>
              <a:rPr lang="en"/>
              <a:t>: iterative process of designing, refining, and optimizing text-based inputs (prompts) to guide generative AI models, such as LLMs, to produce accurate, relevant, and high-quality outputs.</a:t>
            </a:r>
            <a:endParaRPr/>
          </a:p>
          <a:p>
            <a:pPr marL="457200" lvl="0" indent="-300038" algn="l" rtl="0">
              <a:spcBef>
                <a:spcPts val="0"/>
              </a:spcBef>
              <a:spcAft>
                <a:spcPts val="0"/>
              </a:spcAft>
              <a:buSzPct val="100000"/>
              <a:buChar char="●"/>
            </a:pPr>
            <a:r>
              <a:rPr lang="en" b="1"/>
              <a:t>Token</a:t>
            </a:r>
            <a:r>
              <a:rPr lang="en"/>
              <a:t>: the fundamental units of text (words, subwords, or characters) that LLMs use to process and generate language. The number of tokens influences the cost of using LLMs.</a:t>
            </a:r>
            <a:endParaRPr/>
          </a:p>
          <a:p>
            <a:pPr marL="457200" lvl="0" indent="-300038" algn="l" rtl="0">
              <a:spcBef>
                <a:spcPts val="0"/>
              </a:spcBef>
              <a:spcAft>
                <a:spcPts val="0"/>
              </a:spcAft>
              <a:buSzPct val="100000"/>
              <a:buChar char="●"/>
            </a:pPr>
            <a:r>
              <a:rPr lang="en" b="1"/>
              <a:t>Context Window</a:t>
            </a:r>
            <a:r>
              <a:rPr lang="en"/>
              <a:t>: the maximum amount of information (measured in tokens) that a model can process, "remember", and consider simultaneously during a single interaction. It’s </a:t>
            </a:r>
            <a:r>
              <a:rPr lang="en" i="1"/>
              <a:t>like the memory</a:t>
            </a:r>
            <a:r>
              <a:rPr lang="en"/>
              <a:t> of the LLM.</a:t>
            </a:r>
            <a:endParaRPr/>
          </a:p>
          <a:p>
            <a:pPr marL="457200" lvl="0" indent="-300038" algn="l" rtl="0">
              <a:spcBef>
                <a:spcPts val="0"/>
              </a:spcBef>
              <a:spcAft>
                <a:spcPts val="0"/>
              </a:spcAft>
              <a:buSzPct val="100000"/>
              <a:buChar char="●"/>
            </a:pPr>
            <a:r>
              <a:rPr lang="en" b="1"/>
              <a:t>Non-determinism</a:t>
            </a:r>
            <a:r>
              <a:rPr lang="en"/>
              <a:t>: the same prompt can, and most likely will, yield different results.</a:t>
            </a:r>
            <a:endParaRPr/>
          </a:p>
          <a:p>
            <a:pPr marL="457200" lvl="0" indent="-300038" algn="l" rtl="0">
              <a:spcBef>
                <a:spcPts val="0"/>
              </a:spcBef>
              <a:spcAft>
                <a:spcPts val="0"/>
              </a:spcAft>
              <a:buSzPct val="100000"/>
              <a:buChar char="●"/>
            </a:pPr>
            <a:r>
              <a:rPr lang="en" b="1"/>
              <a:t>Stateless</a:t>
            </a:r>
            <a:r>
              <a:rPr lang="en"/>
              <a:t>: each session is independent, especially for API access.</a:t>
            </a:r>
            <a:endParaRPr/>
          </a:p>
          <a:p>
            <a:pPr marL="457200" lvl="0" indent="-300038" algn="l" rtl="0">
              <a:spcBef>
                <a:spcPts val="0"/>
              </a:spcBef>
              <a:spcAft>
                <a:spcPts val="0"/>
              </a:spcAft>
              <a:buSzPct val="100000"/>
              <a:buChar char="●"/>
            </a:pPr>
            <a:r>
              <a:rPr lang="en" b="1"/>
              <a:t>Loss of Focus</a:t>
            </a:r>
            <a:r>
              <a:rPr lang="en"/>
              <a:t>: LLMs can lose their focus during a conversation, meaning they might partially shift their focus from the initial request.</a:t>
            </a:r>
            <a:endParaRPr/>
          </a:p>
          <a:p>
            <a:pPr marL="457200" lvl="0" indent="-300038" algn="l" rtl="0">
              <a:spcBef>
                <a:spcPts val="0"/>
              </a:spcBef>
              <a:spcAft>
                <a:spcPts val="0"/>
              </a:spcAft>
              <a:buSzPct val="100000"/>
              <a:buChar char="●"/>
            </a:pPr>
            <a:r>
              <a:rPr lang="en" b="1"/>
              <a:t>Context Rot</a:t>
            </a:r>
            <a:r>
              <a:rPr lang="en"/>
              <a:t>: the pattern of lower quality outputs in longer conversations. Most models lose approximately 20% to 40% of their accuracy at about 50% of their context limit.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31"/>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Context Window Overview (Anthropic)</a:t>
            </a:r>
            <a:endParaRPr/>
          </a:p>
        </p:txBody>
      </p:sp>
      <p:pic>
        <p:nvPicPr>
          <p:cNvPr id="208" name="Google Shape;208;p31"/>
          <p:cNvPicPr preferRelativeResize="0"/>
          <p:nvPr/>
        </p:nvPicPr>
        <p:blipFill>
          <a:blip r:embed="rId3">
            <a:alphaModFix/>
          </a:blip>
          <a:stretch>
            <a:fillRect/>
          </a:stretch>
        </p:blipFill>
        <p:spPr>
          <a:xfrm>
            <a:off x="1497150" y="855663"/>
            <a:ext cx="6149699" cy="343217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2"/>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Context Degradation</a:t>
            </a:r>
            <a:endParaRPr/>
          </a:p>
        </p:txBody>
      </p:sp>
      <p:pic>
        <p:nvPicPr>
          <p:cNvPr id="214" name="Google Shape;214;p32"/>
          <p:cNvPicPr preferRelativeResize="0"/>
          <p:nvPr/>
        </p:nvPicPr>
        <p:blipFill>
          <a:blip r:embed="rId3">
            <a:alphaModFix/>
          </a:blip>
          <a:stretch>
            <a:fillRect/>
          </a:stretch>
        </p:blipFill>
        <p:spPr>
          <a:xfrm>
            <a:off x="5618425" y="979413"/>
            <a:ext cx="3094975" cy="1764425"/>
          </a:xfrm>
          <a:prstGeom prst="rect">
            <a:avLst/>
          </a:prstGeom>
          <a:noFill/>
          <a:ln>
            <a:noFill/>
          </a:ln>
        </p:spPr>
      </p:pic>
      <p:sp>
        <p:nvSpPr>
          <p:cNvPr id="215" name="Google Shape;215;p32"/>
          <p:cNvSpPr txBox="1">
            <a:spLocks noGrp="1"/>
          </p:cNvSpPr>
          <p:nvPr>
            <p:ph type="body" idx="1"/>
          </p:nvPr>
        </p:nvSpPr>
        <p:spPr>
          <a:xfrm>
            <a:off x="311700" y="979425"/>
            <a:ext cx="5154600" cy="3416400"/>
          </a:xfrm>
          <a:prstGeom prst="rect">
            <a:avLst/>
          </a:prstGeom>
        </p:spPr>
        <p:txBody>
          <a:bodyPr spcFirstLastPara="1" wrap="square" lIns="91425" tIns="91425" rIns="91425" bIns="91425" anchor="t" anchorCtr="0">
            <a:normAutofit fontScale="70000" lnSpcReduction="20000"/>
          </a:bodyPr>
          <a:lstStyle/>
          <a:p>
            <a:pPr marL="457200" lvl="0" indent="-317183" algn="l" rtl="0">
              <a:spcBef>
                <a:spcPts val="0"/>
              </a:spcBef>
              <a:spcAft>
                <a:spcPts val="0"/>
              </a:spcAft>
              <a:buSzPct val="100000"/>
              <a:buChar char="●"/>
            </a:pPr>
            <a:r>
              <a:rPr lang="en" b="1"/>
              <a:t>The Problem</a:t>
            </a:r>
            <a:endParaRPr b="1"/>
          </a:p>
          <a:p>
            <a:pPr marL="914400" lvl="1" indent="-297498" algn="l" rtl="0">
              <a:spcBef>
                <a:spcPts val="0"/>
              </a:spcBef>
              <a:spcAft>
                <a:spcPts val="0"/>
              </a:spcAft>
              <a:buSzPct val="100000"/>
              <a:buChar char="○"/>
            </a:pPr>
            <a:r>
              <a:rPr lang="en"/>
              <a:t>Performance drops significantly, as the context window fills</a:t>
            </a:r>
            <a:endParaRPr/>
          </a:p>
          <a:p>
            <a:pPr marL="914400" lvl="1" indent="-297498" algn="l" rtl="0">
              <a:spcBef>
                <a:spcPts val="0"/>
              </a:spcBef>
              <a:spcAft>
                <a:spcPts val="0"/>
              </a:spcAft>
              <a:buSzPct val="100000"/>
              <a:buChar char="○"/>
            </a:pPr>
            <a:r>
              <a:rPr lang="en"/>
              <a:t>Longer conversations → lower quality outputs</a:t>
            </a:r>
            <a:endParaRPr/>
          </a:p>
          <a:p>
            <a:pPr marL="914400" lvl="1" indent="-297498" algn="l" rtl="0">
              <a:spcBef>
                <a:spcPts val="0"/>
              </a:spcBef>
              <a:spcAft>
                <a:spcPts val="0"/>
              </a:spcAft>
              <a:buSzPct val="100000"/>
              <a:buChar char="○"/>
            </a:pPr>
            <a:r>
              <a:rPr lang="en"/>
              <a:t>Information from early in conversation may be "forgotten”</a:t>
            </a:r>
            <a:endParaRPr/>
          </a:p>
          <a:p>
            <a:pPr marL="457200" lvl="0" indent="-317183" algn="l" rtl="0">
              <a:spcBef>
                <a:spcPts val="0"/>
              </a:spcBef>
              <a:spcAft>
                <a:spcPts val="0"/>
              </a:spcAft>
              <a:buSzPct val="100000"/>
              <a:buChar char="●"/>
            </a:pPr>
            <a:r>
              <a:rPr lang="en" b="1"/>
              <a:t>Research Data</a:t>
            </a:r>
            <a:endParaRPr/>
          </a:p>
          <a:p>
            <a:pPr marL="914400" lvl="1" indent="-297498" algn="l" rtl="0">
              <a:spcBef>
                <a:spcPts val="0"/>
              </a:spcBef>
              <a:spcAft>
                <a:spcPts val="0"/>
              </a:spcAft>
              <a:buSzPct val="100000"/>
              <a:buChar char="○"/>
            </a:pPr>
            <a:r>
              <a:rPr lang="en"/>
              <a:t>Most models lose ~20-40% accuracy at ~50% context capacity → Context Rot</a:t>
            </a:r>
            <a:endParaRPr/>
          </a:p>
          <a:p>
            <a:pPr marL="914400" lvl="1" indent="-297498" algn="l" rtl="0">
              <a:spcBef>
                <a:spcPts val="0"/>
              </a:spcBef>
              <a:spcAft>
                <a:spcPts val="0"/>
              </a:spcAft>
              <a:buSzPct val="100000"/>
              <a:buChar char="○"/>
            </a:pPr>
            <a:r>
              <a:rPr lang="en"/>
              <a:t>LLMs performance is improved in newer versions, but still degrades</a:t>
            </a:r>
            <a:endParaRPr/>
          </a:p>
          <a:p>
            <a:pPr marL="457200" lvl="0" indent="-317183" algn="l" rtl="0">
              <a:spcBef>
                <a:spcPts val="0"/>
              </a:spcBef>
              <a:spcAft>
                <a:spcPts val="0"/>
              </a:spcAft>
              <a:buSzPct val="100000"/>
              <a:buChar char="●"/>
            </a:pPr>
            <a:r>
              <a:rPr lang="en" b="1"/>
              <a:t>Development Impact</a:t>
            </a:r>
            <a:endParaRPr/>
          </a:p>
          <a:p>
            <a:pPr marL="914400" lvl="1" indent="-297498" algn="l" rtl="0">
              <a:spcBef>
                <a:spcPts val="0"/>
              </a:spcBef>
              <a:spcAft>
                <a:spcPts val="0"/>
              </a:spcAft>
              <a:buSzPct val="100000"/>
              <a:buChar char="○"/>
            </a:pPr>
            <a:r>
              <a:rPr lang="en"/>
              <a:t>❌: Long debugging session → AI may (partially) forget the initial error context</a:t>
            </a:r>
            <a:endParaRPr/>
          </a:p>
          <a:p>
            <a:pPr marL="914400" lvl="1" indent="-297498" algn="l" rtl="0">
              <a:spcBef>
                <a:spcPts val="0"/>
              </a:spcBef>
              <a:spcAft>
                <a:spcPts val="0"/>
              </a:spcAft>
              <a:buSzPct val="100000"/>
              <a:buChar char="○"/>
            </a:pPr>
            <a:r>
              <a:rPr lang="en"/>
              <a:t>✅: Generate a summary at ~40-50%, start a fresh conversation from the summary</a:t>
            </a:r>
            <a:endParaRPr/>
          </a:p>
        </p:txBody>
      </p:sp>
      <p:pic>
        <p:nvPicPr>
          <p:cNvPr id="216" name="Google Shape;216;p32"/>
          <p:cNvPicPr preferRelativeResize="0"/>
          <p:nvPr/>
        </p:nvPicPr>
        <p:blipFill>
          <a:blip r:embed="rId4">
            <a:alphaModFix/>
          </a:blip>
          <a:stretch>
            <a:fillRect/>
          </a:stretch>
        </p:blipFill>
        <p:spPr>
          <a:xfrm>
            <a:off x="6239889" y="2996325"/>
            <a:ext cx="1852050" cy="14919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33"/>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Context Management and Workflows</a:t>
            </a:r>
            <a:endParaRPr/>
          </a:p>
        </p:txBody>
      </p:sp>
      <p:sp>
        <p:nvSpPr>
          <p:cNvPr id="222" name="Google Shape;222;p33"/>
          <p:cNvSpPr txBox="1">
            <a:spLocks noGrp="1"/>
          </p:cNvSpPr>
          <p:nvPr>
            <p:ph type="body" idx="1"/>
          </p:nvPr>
        </p:nvSpPr>
        <p:spPr>
          <a:xfrm>
            <a:off x="311700" y="979425"/>
            <a:ext cx="8520600" cy="3416400"/>
          </a:xfrm>
          <a:prstGeom prst="rect">
            <a:avLst/>
          </a:prstGeom>
        </p:spPr>
        <p:txBody>
          <a:bodyPr spcFirstLastPara="1" wrap="square" lIns="91425" tIns="91425" rIns="91425" bIns="91425" anchor="t" anchorCtr="0">
            <a:normAutofit fontScale="62500" lnSpcReduction="10000"/>
          </a:bodyPr>
          <a:lstStyle/>
          <a:p>
            <a:pPr marL="457200" lvl="0" indent="-300038" algn="l" rtl="0">
              <a:spcBef>
                <a:spcPts val="0"/>
              </a:spcBef>
              <a:spcAft>
                <a:spcPts val="0"/>
              </a:spcAft>
              <a:buSzPct val="100000"/>
              <a:buChar char="●"/>
            </a:pPr>
            <a:r>
              <a:rPr lang="en" b="1"/>
              <a:t>Mid-Conversation Summarization</a:t>
            </a:r>
            <a:endParaRPr b="1"/>
          </a:p>
          <a:p>
            <a:pPr marL="914400" lvl="1" indent="-284163" algn="l" rtl="0">
              <a:spcBef>
                <a:spcPts val="0"/>
              </a:spcBef>
              <a:spcAft>
                <a:spcPts val="0"/>
              </a:spcAft>
              <a:buSzPct val="100000"/>
              <a:buChar char="○"/>
            </a:pPr>
            <a:r>
              <a:rPr lang="en"/>
              <a:t>At ~50% of the context window, ask the LLM to produce a structured summary of the conversation so far. Then start a new session feeding the summary as initial context. This preserves intent and decisions while freeing up token space.</a:t>
            </a:r>
            <a:endParaRPr/>
          </a:p>
          <a:p>
            <a:pPr marL="914400" lvl="1" indent="-284163" algn="l" rtl="0">
              <a:spcBef>
                <a:spcPts val="0"/>
              </a:spcBef>
              <a:spcAft>
                <a:spcPts val="0"/>
              </a:spcAft>
              <a:buSzPct val="100000"/>
              <a:buChar char="○"/>
            </a:pPr>
            <a:r>
              <a:rPr lang="en" i="1"/>
              <a:t>"We're approaching the context window limit. Create a Markdown file and/or a Mermaid diagram with a thorough description of our key discussion points &amp; decisions The file(s) must be reviewable by a &lt;role&gt;"</a:t>
            </a:r>
            <a:endParaRPr i="1"/>
          </a:p>
          <a:p>
            <a:pPr marL="457200" lvl="0" indent="-300038" algn="l" rtl="0">
              <a:spcBef>
                <a:spcPts val="0"/>
              </a:spcBef>
              <a:spcAft>
                <a:spcPts val="0"/>
              </a:spcAft>
              <a:buSzPct val="100000"/>
              <a:buChar char="●"/>
            </a:pPr>
            <a:r>
              <a:rPr lang="en" b="1"/>
              <a:t>Sliding Window with Anchoring</a:t>
            </a:r>
            <a:endParaRPr/>
          </a:p>
          <a:p>
            <a:pPr marL="914400" lvl="1" indent="-284163" algn="l" rtl="0">
              <a:spcBef>
                <a:spcPts val="0"/>
              </a:spcBef>
              <a:spcAft>
                <a:spcPts val="0"/>
              </a:spcAft>
              <a:buSzPct val="100000"/>
              <a:buChar char="○"/>
            </a:pPr>
            <a:r>
              <a:rPr lang="en"/>
              <a:t>Keep the system prompt and the last N exchanges, drop the middle. This preserves your instructions and recent context while sacrificing older turns.</a:t>
            </a:r>
            <a:endParaRPr/>
          </a:p>
          <a:p>
            <a:pPr marL="457200" lvl="0" indent="-300038" algn="l" rtl="0">
              <a:spcBef>
                <a:spcPts val="0"/>
              </a:spcBef>
              <a:spcAft>
                <a:spcPts val="0"/>
              </a:spcAft>
              <a:buSzPct val="100000"/>
              <a:buChar char="●"/>
            </a:pPr>
            <a:r>
              <a:rPr lang="en" b="1"/>
              <a:t>Hierarchical Context</a:t>
            </a:r>
            <a:endParaRPr/>
          </a:p>
          <a:p>
            <a:pPr marL="914400" lvl="1" indent="-284163" algn="l" rtl="0">
              <a:spcBef>
                <a:spcPts val="0"/>
              </a:spcBef>
              <a:spcAft>
                <a:spcPts val="0"/>
              </a:spcAft>
              <a:buSzPct val="100000"/>
              <a:buChar char="○"/>
            </a:pPr>
            <a:r>
              <a:rPr lang="en"/>
              <a:t>Separate "always present" context (role, rules, key facts) from "ephemeral" context (current task details). Only inject what's relevant to the current step.</a:t>
            </a:r>
            <a:endParaRPr/>
          </a:p>
          <a:p>
            <a:pPr marL="457200" lvl="0" indent="-300038" algn="l" rtl="0">
              <a:spcBef>
                <a:spcPts val="0"/>
              </a:spcBef>
              <a:spcAft>
                <a:spcPts val="0"/>
              </a:spcAft>
              <a:buSzPct val="100000"/>
              <a:buChar char="●"/>
            </a:pPr>
            <a:r>
              <a:rPr lang="en" b="1"/>
              <a:t>Chunking for Long Documents</a:t>
            </a:r>
            <a:endParaRPr/>
          </a:p>
          <a:p>
            <a:pPr marL="914400" lvl="1" indent="-284163" algn="l" rtl="0">
              <a:spcBef>
                <a:spcPts val="0"/>
              </a:spcBef>
              <a:spcAft>
                <a:spcPts val="0"/>
              </a:spcAft>
              <a:buSzPct val="100000"/>
              <a:buChar char="○"/>
            </a:pPr>
            <a:r>
              <a:rPr lang="en"/>
              <a:t>Split large inputs into chunks, process each independently, then merge results. </a:t>
            </a:r>
            <a:r>
              <a:rPr lang="en" i="1"/>
              <a:t>Map-reduce pattern</a:t>
            </a:r>
            <a:r>
              <a:rPr lang="en"/>
              <a:t>: summarize parts, then summarize summaries.</a:t>
            </a:r>
            <a:endParaRPr/>
          </a:p>
          <a:p>
            <a:pPr marL="457200" lvl="0" indent="-300038" algn="l" rtl="0">
              <a:spcBef>
                <a:spcPts val="0"/>
              </a:spcBef>
              <a:spcAft>
                <a:spcPts val="0"/>
              </a:spcAft>
              <a:buSzPct val="100000"/>
              <a:buChar char="●"/>
            </a:pPr>
            <a:r>
              <a:rPr lang="en" u="sng"/>
              <a:t>Rule of thumb: if you're copy-pasting your entire conversation back into the prompt, you're doing it wrong.</a:t>
            </a:r>
            <a:endParaRPr u="sng"/>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4"/>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Workflow example</a:t>
            </a:r>
            <a:endParaRPr/>
          </a:p>
        </p:txBody>
      </p:sp>
      <p:sp>
        <p:nvSpPr>
          <p:cNvPr id="228" name="Google Shape;228;p34"/>
          <p:cNvSpPr txBox="1">
            <a:spLocks noGrp="1"/>
          </p:cNvSpPr>
          <p:nvPr>
            <p:ph type="body" idx="1"/>
          </p:nvPr>
        </p:nvSpPr>
        <p:spPr>
          <a:xfrm>
            <a:off x="311700" y="979425"/>
            <a:ext cx="8520600" cy="3416400"/>
          </a:xfrm>
          <a:prstGeom prst="rect">
            <a:avLst/>
          </a:prstGeom>
        </p:spPr>
        <p:txBody>
          <a:bodyPr spcFirstLastPara="1" wrap="square" lIns="91425" tIns="91425" rIns="91425" bIns="91425" anchor="t" anchorCtr="0">
            <a:normAutofit fontScale="85000" lnSpcReduction="20000"/>
          </a:bodyPr>
          <a:lstStyle/>
          <a:p>
            <a:pPr marL="457200" lvl="0" indent="-317183" algn="l" rtl="0">
              <a:spcBef>
                <a:spcPts val="0"/>
              </a:spcBef>
              <a:spcAft>
                <a:spcPts val="0"/>
              </a:spcAft>
              <a:buSzPct val="100000"/>
              <a:buAutoNum type="arabicPeriod"/>
            </a:pPr>
            <a:r>
              <a:rPr lang="en"/>
              <a:t>Write the initial prompt (feature, refactoring etc), in a text editor. Optimize it</a:t>
            </a:r>
            <a:endParaRPr/>
          </a:p>
          <a:p>
            <a:pPr marL="457200" lvl="0" indent="-317183" algn="l" rtl="0">
              <a:spcBef>
                <a:spcPts val="0"/>
              </a:spcBef>
              <a:spcAft>
                <a:spcPts val="0"/>
              </a:spcAft>
              <a:buSzPct val="100000"/>
              <a:buAutoNum type="arabicPeriod"/>
            </a:pPr>
            <a:r>
              <a:rPr lang="en"/>
              <a:t>Send the optimized prompt, ask the AI to:</a:t>
            </a:r>
            <a:endParaRPr/>
          </a:p>
          <a:p>
            <a:pPr marL="914400" lvl="1" indent="-297498" algn="l" rtl="0">
              <a:spcBef>
                <a:spcPts val="0"/>
              </a:spcBef>
              <a:spcAft>
                <a:spcPts val="0"/>
              </a:spcAft>
              <a:buSzPct val="100000"/>
              <a:buAutoNum type="alphaLcPeriod"/>
            </a:pPr>
            <a:r>
              <a:rPr lang="en"/>
              <a:t>Act as the desired role</a:t>
            </a:r>
            <a:endParaRPr/>
          </a:p>
          <a:p>
            <a:pPr marL="914400" lvl="1" indent="-297498" algn="l" rtl="0">
              <a:spcBef>
                <a:spcPts val="0"/>
              </a:spcBef>
              <a:spcAft>
                <a:spcPts val="0"/>
              </a:spcAft>
              <a:buSzPct val="100000"/>
              <a:buAutoNum type="alphaLcPeriod"/>
            </a:pPr>
            <a:r>
              <a:rPr lang="en"/>
              <a:t>Ask all the clarifying questions, before answering</a:t>
            </a:r>
            <a:endParaRPr/>
          </a:p>
          <a:p>
            <a:pPr marL="457200" lvl="0" indent="-317183" algn="l" rtl="0">
              <a:spcBef>
                <a:spcPts val="0"/>
              </a:spcBef>
              <a:spcAft>
                <a:spcPts val="0"/>
              </a:spcAft>
              <a:buSzPct val="100000"/>
              <a:buAutoNum type="arabicPeriod"/>
            </a:pPr>
            <a:r>
              <a:rPr lang="en"/>
              <a:t>Answer the questions, ask the LLM to:</a:t>
            </a:r>
            <a:endParaRPr/>
          </a:p>
          <a:p>
            <a:pPr marL="914400" lvl="1" indent="-297498" algn="l" rtl="0">
              <a:spcBef>
                <a:spcPts val="0"/>
              </a:spcBef>
              <a:spcAft>
                <a:spcPts val="0"/>
              </a:spcAft>
              <a:buSzPct val="100000"/>
              <a:buAutoNum type="alphaLcPeriod"/>
            </a:pPr>
            <a:r>
              <a:rPr lang="en"/>
              <a:t>Review the answers</a:t>
            </a:r>
            <a:endParaRPr/>
          </a:p>
          <a:p>
            <a:pPr marL="914400" lvl="1" indent="-297498" algn="l" rtl="0">
              <a:spcBef>
                <a:spcPts val="0"/>
              </a:spcBef>
              <a:spcAft>
                <a:spcPts val="0"/>
              </a:spcAft>
              <a:buSzPct val="100000"/>
              <a:buAutoNum type="alphaLcPeriod"/>
            </a:pPr>
            <a:r>
              <a:rPr lang="en"/>
              <a:t>Ask any remaining questions, before answering</a:t>
            </a:r>
            <a:endParaRPr/>
          </a:p>
          <a:p>
            <a:pPr marL="457200" lvl="0" indent="-317183" algn="l" rtl="0">
              <a:spcBef>
                <a:spcPts val="0"/>
              </a:spcBef>
              <a:spcAft>
                <a:spcPts val="0"/>
              </a:spcAft>
              <a:buSzPct val="100000"/>
              <a:buAutoNum type="arabicPeriod"/>
            </a:pPr>
            <a:r>
              <a:rPr lang="en"/>
              <a:t>Repeat #3, at least 2-3 times</a:t>
            </a:r>
            <a:endParaRPr/>
          </a:p>
          <a:p>
            <a:pPr marL="457200" lvl="0" indent="-317183" algn="l" rtl="0">
              <a:spcBef>
                <a:spcPts val="0"/>
              </a:spcBef>
              <a:spcAft>
                <a:spcPts val="0"/>
              </a:spcAft>
              <a:buSzPct val="100000"/>
              <a:buAutoNum type="arabicPeriod"/>
            </a:pPr>
            <a:r>
              <a:rPr lang="en"/>
              <a:t>When the Context Window approaches ~40-50%:</a:t>
            </a:r>
            <a:endParaRPr/>
          </a:p>
          <a:p>
            <a:pPr marL="914400" lvl="1" indent="-297498" algn="l" rtl="0">
              <a:spcBef>
                <a:spcPts val="0"/>
              </a:spcBef>
              <a:spcAft>
                <a:spcPts val="0"/>
              </a:spcAft>
              <a:buSzPct val="100000"/>
              <a:buAutoNum type="alphaLcPeriod"/>
            </a:pPr>
            <a:r>
              <a:rPr lang="en"/>
              <a:t>Request a Markdown / Mermaid file with the discussion summary, to be continued in a new session</a:t>
            </a:r>
            <a:endParaRPr/>
          </a:p>
          <a:p>
            <a:pPr marL="914400" lvl="1" indent="-297498" algn="l" rtl="0">
              <a:spcBef>
                <a:spcPts val="0"/>
              </a:spcBef>
              <a:spcAft>
                <a:spcPts val="0"/>
              </a:spcAft>
              <a:buSzPct val="100000"/>
              <a:buAutoNum type="alphaLcPeriod"/>
            </a:pPr>
            <a:r>
              <a:rPr lang="en"/>
              <a:t>Start a new session, with the Markdown / Mermaid file as the input</a:t>
            </a:r>
            <a:endParaRPr/>
          </a:p>
          <a:p>
            <a:pPr marL="457200" lvl="0" indent="-317183" algn="l" rtl="0">
              <a:spcBef>
                <a:spcPts val="0"/>
              </a:spcBef>
              <a:spcAft>
                <a:spcPts val="0"/>
              </a:spcAft>
              <a:buSzPct val="100000"/>
              <a:buAutoNum type="arabicPeriod"/>
            </a:pPr>
            <a:r>
              <a:rPr lang="en"/>
              <a:t>Commit the end result, create/update the PR, review it/ask an AI to review it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5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Exercise 1</a:t>
            </a:r>
            <a:endParaRPr/>
          </a:p>
        </p:txBody>
      </p:sp>
      <p:sp>
        <p:nvSpPr>
          <p:cNvPr id="2" name="Exercise folder"/>
          <p:cNvSpPr txBox="1"/>
          <p:nvPr/>
        </p:nvSpPr>
        <p:spPr>
          <a:xfrm>
            <a:off x="311700" y="2926080"/>
            <a:ext cx="8520600" cy="411480"/>
          </a:xfrm>
          <a:prstGeom prst="rect">
            <a:avLst/>
          </a:prstGeom>
          <a:noFill/>
        </p:spPr>
        <p:txBody>
          <a:bodyPr wrap="square" lIns="91425" tIns="0" rIns="91425" bIns="0" anchor="t">
            <a:noAutofit/>
          </a:bodyPr>
          <a:lstStyle/>
          <a:p>
            <a:pPr marL="0" indent="0" algn="ctr">
              <a:buNone/>
            </a:pPr>
            <a:r>
              <a:rPr lang="en" sz="1600">
                <a:solidFill>
                  <a:srgbClr val="FFFFFF"/>
                </a:solidFill>
                <a:latin typeface="Poppins"/>
                <a:ea typeface="Poppins"/>
                <a:cs typeface="Poppins"/>
                <a:sym typeface="Poppins"/>
              </a:rPr>
              <a:t>week-01/exercise-1</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5"/>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Effective Prompt Anatomy</a:t>
            </a:r>
            <a:endParaRPr/>
          </a:p>
        </p:txBody>
      </p:sp>
      <p:sp>
        <p:nvSpPr>
          <p:cNvPr id="234" name="Google Shape;234;p35"/>
          <p:cNvSpPr txBox="1">
            <a:spLocks noGrp="1"/>
          </p:cNvSpPr>
          <p:nvPr>
            <p:ph type="body" idx="1"/>
          </p:nvPr>
        </p:nvSpPr>
        <p:spPr>
          <a:xfrm>
            <a:off x="311700" y="979425"/>
            <a:ext cx="8520600" cy="3416400"/>
          </a:xfrm>
          <a:prstGeom prst="rect">
            <a:avLst/>
          </a:prstGeom>
        </p:spPr>
        <p:txBody>
          <a:bodyPr spcFirstLastPara="1" wrap="square" lIns="91425" tIns="91425" rIns="91425" bIns="91425" anchor="t" anchorCtr="0">
            <a:normAutofit fontScale="55000" lnSpcReduction="20000"/>
          </a:bodyPr>
          <a:lstStyle/>
          <a:p>
            <a:pPr marL="0" lvl="0" indent="0" algn="l" rtl="0">
              <a:spcBef>
                <a:spcPts val="0"/>
              </a:spcBef>
              <a:spcAft>
                <a:spcPts val="0"/>
              </a:spcAft>
              <a:buNone/>
            </a:pPr>
            <a:r>
              <a:rPr lang="en" b="1" i="1" u="sng"/>
              <a:t>CO-STAR</a:t>
            </a:r>
            <a:r>
              <a:rPr lang="en"/>
              <a:t> is a mnemonic to build effective prompts systematically:</a:t>
            </a:r>
            <a:endParaRPr/>
          </a:p>
          <a:p>
            <a:pPr marL="0" lvl="0" indent="0" algn="l" rtl="0">
              <a:spcBef>
                <a:spcPts val="1200"/>
              </a:spcBef>
              <a:spcAft>
                <a:spcPts val="0"/>
              </a:spcAft>
              <a:buNone/>
            </a:pPr>
            <a:r>
              <a:rPr lang="en" b="1"/>
              <a:t>C - Context [+ Role]:</a:t>
            </a:r>
            <a:r>
              <a:rPr lang="en"/>
              <a:t> background information the model needs. </a:t>
            </a:r>
            <a:r>
              <a:rPr lang="en" i="1"/>
              <a:t>"We are migrating a monolith to microservices on AWS."</a:t>
            </a:r>
            <a:endParaRPr i="1"/>
          </a:p>
          <a:p>
            <a:pPr marL="0" lvl="0" indent="0" algn="l" rtl="0">
              <a:spcBef>
                <a:spcPts val="1200"/>
              </a:spcBef>
              <a:spcAft>
                <a:spcPts val="0"/>
              </a:spcAft>
              <a:buNone/>
            </a:pPr>
            <a:r>
              <a:rPr lang="en" b="1"/>
              <a:t>O - Objective [+ Constraints]:</a:t>
            </a:r>
            <a:r>
              <a:rPr lang="en"/>
              <a:t> what you want the model to do. </a:t>
            </a:r>
            <a:r>
              <a:rPr lang="en" i="1"/>
              <a:t>"Generate a migration plan for the payment service."</a:t>
            </a:r>
            <a:endParaRPr i="1"/>
          </a:p>
          <a:p>
            <a:pPr marL="0" lvl="0" indent="0" algn="l" rtl="0">
              <a:spcBef>
                <a:spcPts val="1200"/>
              </a:spcBef>
              <a:spcAft>
                <a:spcPts val="0"/>
              </a:spcAft>
              <a:buNone/>
            </a:pPr>
            <a:r>
              <a:rPr lang="en" b="1"/>
              <a:t>S - Style:</a:t>
            </a:r>
            <a:r>
              <a:rPr lang="en"/>
              <a:t> the voice or approach. </a:t>
            </a:r>
            <a:r>
              <a:rPr lang="en" i="1"/>
              <a:t>"Write as a senior solutions architect."</a:t>
            </a:r>
            <a:endParaRPr i="1"/>
          </a:p>
          <a:p>
            <a:pPr marL="0" lvl="0" indent="0" algn="l" rtl="0">
              <a:spcBef>
                <a:spcPts val="1200"/>
              </a:spcBef>
              <a:spcAft>
                <a:spcPts val="0"/>
              </a:spcAft>
              <a:buNone/>
            </a:pPr>
            <a:r>
              <a:rPr lang="en" b="1"/>
              <a:t>T - Tone:</a:t>
            </a:r>
            <a:r>
              <a:rPr lang="en"/>
              <a:t> the emotional register. </a:t>
            </a:r>
            <a:r>
              <a:rPr lang="en" i="1"/>
              <a:t>"Professional but pragmatic, no buzzwords."</a:t>
            </a:r>
            <a:endParaRPr i="1"/>
          </a:p>
          <a:p>
            <a:pPr marL="0" lvl="0" indent="0" algn="l" rtl="0">
              <a:spcBef>
                <a:spcPts val="1200"/>
              </a:spcBef>
              <a:spcAft>
                <a:spcPts val="0"/>
              </a:spcAft>
              <a:buNone/>
            </a:pPr>
            <a:r>
              <a:rPr lang="en" b="1"/>
              <a:t>A - Audience:</a:t>
            </a:r>
            <a:r>
              <a:rPr lang="en"/>
              <a:t> who will read the output. </a:t>
            </a:r>
            <a:r>
              <a:rPr lang="en" i="1"/>
              <a:t>"The audience is backend engineers with no cloud experience."</a:t>
            </a:r>
            <a:endParaRPr i="1"/>
          </a:p>
          <a:p>
            <a:pPr marL="0" lvl="0" indent="0" algn="l" rtl="0">
              <a:spcBef>
                <a:spcPts val="1200"/>
              </a:spcBef>
              <a:spcAft>
                <a:spcPts val="0"/>
              </a:spcAft>
              <a:buNone/>
            </a:pPr>
            <a:r>
              <a:rPr lang="en" b="1"/>
              <a:t>R - Response format [ + Examples]:</a:t>
            </a:r>
            <a:r>
              <a:rPr lang="en"/>
              <a:t> How you want the output structured. Consider here that the LLMs are useful verbose “by default”. </a:t>
            </a:r>
            <a:r>
              <a:rPr lang="en" i="1"/>
              <a:t>"Return a numbered checklist with estimated effort per item."</a:t>
            </a:r>
            <a:endParaRPr i="1"/>
          </a:p>
          <a:p>
            <a:pPr marL="0" lvl="0" indent="0" algn="l" rtl="0">
              <a:spcBef>
                <a:spcPts val="1200"/>
              </a:spcBef>
              <a:spcAft>
                <a:spcPts val="1200"/>
              </a:spcAft>
              <a:buNone/>
            </a:pPr>
            <a:r>
              <a:rPr lang="en" u="sng"/>
              <a:t>Why it works</a:t>
            </a:r>
            <a:r>
              <a:rPr lang="en"/>
              <a:t>: most bad prompts are missing one or more of these elements. CO-STAR forces you to be explicit about what the model can't infer on its own. You don't need all six every time, but when results are poor, check which letter you forgot.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6"/>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Effective Prompt Anatomy - Examples</a:t>
            </a:r>
            <a:endParaRPr/>
          </a:p>
        </p:txBody>
      </p:sp>
      <p:sp>
        <p:nvSpPr>
          <p:cNvPr id="240" name="Google Shape;240;p36"/>
          <p:cNvSpPr txBox="1">
            <a:spLocks noGrp="1"/>
          </p:cNvSpPr>
          <p:nvPr>
            <p:ph type="body" idx="1"/>
          </p:nvPr>
        </p:nvSpPr>
        <p:spPr>
          <a:xfrm>
            <a:off x="311700" y="979425"/>
            <a:ext cx="8520600" cy="3416400"/>
          </a:xfrm>
          <a:prstGeom prst="rect">
            <a:avLst/>
          </a:prstGeom>
        </p:spPr>
        <p:txBody>
          <a:bodyPr spcFirstLastPara="1" wrap="square" lIns="91425" tIns="91425" rIns="91425" bIns="91425" anchor="t" anchorCtr="0">
            <a:normAutofit fontScale="92500"/>
          </a:bodyPr>
          <a:lstStyle/>
          <a:p>
            <a:pPr marL="0" lvl="0" indent="0" algn="l" rtl="0">
              <a:spcBef>
                <a:spcPts val="0"/>
              </a:spcBef>
              <a:spcAft>
                <a:spcPts val="0"/>
              </a:spcAft>
              <a:buNone/>
            </a:pPr>
            <a:r>
              <a:rPr lang="en"/>
              <a:t>Example (bad): </a:t>
            </a:r>
            <a:r>
              <a:rPr lang="en" i="1"/>
              <a:t>“Review this code, provide recommendations”</a:t>
            </a:r>
            <a:endParaRPr i="1"/>
          </a:p>
          <a:p>
            <a:pPr marL="0" lvl="0" indent="0" algn="l" rtl="0">
              <a:spcBef>
                <a:spcPts val="1200"/>
              </a:spcBef>
              <a:spcAft>
                <a:spcPts val="1200"/>
              </a:spcAft>
              <a:buNone/>
            </a:pPr>
            <a:r>
              <a:rPr lang="en"/>
              <a:t>Example (good): </a:t>
            </a:r>
            <a:r>
              <a:rPr lang="en" i="1"/>
              <a:t>“You are a senior architect, expert in Java, TypeScript and Python distributed services. Review for the developer this REST endpoint for security vulnerabilities (especially injection attacks), performance bottlenecks,  code maintainability issues, best practices violations. For each issue present: Severity (Critical/High/Medium/Low), Risk explanations and Recommended fix (with code example). Output format: Markdown table.</a:t>
            </a:r>
            <a:endParaRPr i="1"/>
          </a:p>
        </p:txBody>
      </p:sp>
      <p:sp>
        <p:nvSpPr>
          <p:cNvPr id="241" name="Google Shape;241;p36"/>
          <p:cNvSpPr/>
          <p:nvPr/>
        </p:nvSpPr>
        <p:spPr>
          <a:xfrm>
            <a:off x="3974200" y="1445825"/>
            <a:ext cx="1395900" cy="147600"/>
          </a:xfrm>
          <a:prstGeom prst="rect">
            <a:avLst/>
          </a:prstGeom>
          <a:solidFill>
            <a:schemeClr val="lt1"/>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latin typeface="Poppins"/>
                <a:ea typeface="Poppins"/>
                <a:cs typeface="Poppins"/>
                <a:sym typeface="Poppins"/>
              </a:rPr>
              <a:t>Role and context</a:t>
            </a:r>
            <a:endParaRPr sz="700">
              <a:latin typeface="Poppins"/>
              <a:ea typeface="Poppins"/>
              <a:cs typeface="Poppins"/>
              <a:sym typeface="Poppins"/>
            </a:endParaRPr>
          </a:p>
        </p:txBody>
      </p:sp>
      <p:sp>
        <p:nvSpPr>
          <p:cNvPr id="242" name="Google Shape;242;p36"/>
          <p:cNvSpPr/>
          <p:nvPr/>
        </p:nvSpPr>
        <p:spPr>
          <a:xfrm>
            <a:off x="4317550" y="1860500"/>
            <a:ext cx="709200" cy="147600"/>
          </a:xfrm>
          <a:prstGeom prst="rect">
            <a:avLst/>
          </a:prstGeom>
          <a:solidFill>
            <a:schemeClr val="lt1"/>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latin typeface="Poppins"/>
                <a:ea typeface="Poppins"/>
                <a:cs typeface="Poppins"/>
                <a:sym typeface="Poppins"/>
              </a:rPr>
              <a:t>Objective</a:t>
            </a:r>
            <a:endParaRPr sz="700">
              <a:latin typeface="Poppins"/>
              <a:ea typeface="Poppins"/>
              <a:cs typeface="Poppins"/>
              <a:sym typeface="Poppins"/>
            </a:endParaRPr>
          </a:p>
        </p:txBody>
      </p:sp>
      <p:sp>
        <p:nvSpPr>
          <p:cNvPr id="243" name="Google Shape;243;p36"/>
          <p:cNvSpPr/>
          <p:nvPr/>
        </p:nvSpPr>
        <p:spPr>
          <a:xfrm>
            <a:off x="7631425" y="3846475"/>
            <a:ext cx="804600" cy="167700"/>
          </a:xfrm>
          <a:prstGeom prst="rect">
            <a:avLst/>
          </a:prstGeom>
          <a:solidFill>
            <a:schemeClr val="lt1"/>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latin typeface="Poppins"/>
                <a:ea typeface="Poppins"/>
                <a:cs typeface="Poppins"/>
                <a:sym typeface="Poppins"/>
              </a:rPr>
              <a:t>Response</a:t>
            </a:r>
            <a:endParaRPr sz="700">
              <a:latin typeface="Poppins"/>
              <a:ea typeface="Poppins"/>
              <a:cs typeface="Poppins"/>
              <a:sym typeface="Poppins"/>
            </a:endParaRPr>
          </a:p>
        </p:txBody>
      </p:sp>
      <p:sp>
        <p:nvSpPr>
          <p:cNvPr id="244" name="Google Shape;244;p36"/>
          <p:cNvSpPr/>
          <p:nvPr/>
        </p:nvSpPr>
        <p:spPr>
          <a:xfrm>
            <a:off x="6002950" y="1860500"/>
            <a:ext cx="709200" cy="147600"/>
          </a:xfrm>
          <a:prstGeom prst="rect">
            <a:avLst/>
          </a:prstGeom>
          <a:solidFill>
            <a:schemeClr val="lt1"/>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latin typeface="Poppins"/>
                <a:ea typeface="Poppins"/>
                <a:cs typeface="Poppins"/>
                <a:sym typeface="Poppins"/>
              </a:rPr>
              <a:t>Audience</a:t>
            </a:r>
            <a:endParaRPr sz="700">
              <a:latin typeface="Poppins"/>
              <a:ea typeface="Poppins"/>
              <a:cs typeface="Poppins"/>
              <a:sym typeface="Poppin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5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Exercise 2</a:t>
            </a:r>
            <a:endParaRPr/>
          </a:p>
        </p:txBody>
      </p:sp>
      <p:sp>
        <p:nvSpPr>
          <p:cNvPr id="2" name="Exercise folder"/>
          <p:cNvSpPr txBox="1"/>
          <p:nvPr/>
        </p:nvSpPr>
        <p:spPr>
          <a:xfrm>
            <a:off x="311700" y="2926080"/>
            <a:ext cx="8520600" cy="411480"/>
          </a:xfrm>
          <a:prstGeom prst="rect">
            <a:avLst/>
          </a:prstGeom>
          <a:noFill/>
        </p:spPr>
        <p:txBody>
          <a:bodyPr wrap="square" lIns="91425" tIns="0" rIns="91425" bIns="0" anchor="t">
            <a:noAutofit/>
          </a:bodyPr>
          <a:lstStyle/>
          <a:p>
            <a:pPr marL="0" indent="0" algn="ctr">
              <a:buNone/>
            </a:pPr>
            <a:r>
              <a:rPr lang="en" sz="1600">
                <a:solidFill>
                  <a:srgbClr val="FFFFFF"/>
                </a:solidFill>
                <a:latin typeface="Poppins"/>
                <a:ea typeface="Poppins"/>
                <a:cs typeface="Poppins"/>
                <a:sym typeface="Poppins"/>
              </a:rPr>
              <a:t>week-01/exercise-2</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37"/>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Prompt improvements</a:t>
            </a:r>
            <a:endParaRPr/>
          </a:p>
        </p:txBody>
      </p:sp>
      <p:sp>
        <p:nvSpPr>
          <p:cNvPr id="250" name="Google Shape;250;p37"/>
          <p:cNvSpPr txBox="1">
            <a:spLocks noGrp="1"/>
          </p:cNvSpPr>
          <p:nvPr>
            <p:ph type="body" idx="1"/>
          </p:nvPr>
        </p:nvSpPr>
        <p:spPr>
          <a:xfrm>
            <a:off x="311700" y="97942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b="1"/>
              <a:t>Chain of Thought (CoT)</a:t>
            </a:r>
            <a:endParaRPr b="1"/>
          </a:p>
          <a:p>
            <a:pPr marL="914400" lvl="1" indent="-317500" algn="l" rtl="0">
              <a:spcBef>
                <a:spcPts val="0"/>
              </a:spcBef>
              <a:spcAft>
                <a:spcPts val="0"/>
              </a:spcAft>
              <a:buSzPts val="1400"/>
              <a:buChar char="○"/>
            </a:pPr>
            <a:r>
              <a:rPr lang="en"/>
              <a:t>Ask the model to reason step-by-step before giving the final answer. Dramatically improves accuracy on math, logic, and multi-step problems. Useful for debugging multi-layered issues, for architecture decisions and for algorithms.</a:t>
            </a:r>
            <a:endParaRPr/>
          </a:p>
          <a:p>
            <a:pPr marL="914400" lvl="1" indent="-317500" algn="l" rtl="0">
              <a:spcBef>
                <a:spcPts val="0"/>
              </a:spcBef>
              <a:spcAft>
                <a:spcPts val="0"/>
              </a:spcAft>
              <a:buSzPts val="1400"/>
              <a:buChar char="○"/>
            </a:pPr>
            <a:r>
              <a:rPr lang="en"/>
              <a:t>Can help in reducing </a:t>
            </a:r>
            <a:r>
              <a:rPr lang="en" i="1"/>
              <a:t>context degradation.</a:t>
            </a:r>
            <a:endParaRPr i="1"/>
          </a:p>
          <a:p>
            <a:pPr marL="914400" lvl="1" indent="-317500" algn="l" rtl="0">
              <a:spcBef>
                <a:spcPts val="0"/>
              </a:spcBef>
              <a:spcAft>
                <a:spcPts val="0"/>
              </a:spcAft>
              <a:buSzPts val="1400"/>
              <a:buChar char="○"/>
            </a:pPr>
            <a:r>
              <a:rPr lang="en"/>
              <a:t>Trigger it with: "Let's think step by step" or "Explain your reasoning before answering."</a:t>
            </a:r>
            <a:endParaRPr/>
          </a:p>
          <a:p>
            <a:pPr marL="0" lvl="0" indent="0" algn="l" rtl="0">
              <a:spcBef>
                <a:spcPts val="1200"/>
              </a:spcBef>
              <a:spcAft>
                <a:spcPts val="1200"/>
              </a:spcAft>
              <a:buNone/>
            </a:pPr>
            <a:r>
              <a:rPr lang="en"/>
              <a:t>	</a:t>
            </a:r>
            <a:endParaRPr i="1"/>
          </a:p>
        </p:txBody>
      </p:sp>
      <p:sp>
        <p:nvSpPr>
          <p:cNvPr id="251" name="Google Shape;251;p37"/>
          <p:cNvSpPr txBox="1"/>
          <p:nvPr/>
        </p:nvSpPr>
        <p:spPr>
          <a:xfrm>
            <a:off x="777950" y="2546575"/>
            <a:ext cx="3223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1"/>
              </a:solidFill>
              <a:latin typeface="Poppins"/>
              <a:ea typeface="Poppins"/>
              <a:cs typeface="Poppins"/>
              <a:sym typeface="Poppins"/>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38"/>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Prompt improvements</a:t>
            </a:r>
            <a:endParaRPr/>
          </a:p>
        </p:txBody>
      </p:sp>
      <p:sp>
        <p:nvSpPr>
          <p:cNvPr id="257" name="Google Shape;257;p38"/>
          <p:cNvSpPr txBox="1">
            <a:spLocks noGrp="1"/>
          </p:cNvSpPr>
          <p:nvPr>
            <p:ph type="body" idx="1"/>
          </p:nvPr>
        </p:nvSpPr>
        <p:spPr>
          <a:xfrm>
            <a:off x="311700" y="97942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i="1"/>
          </a:p>
        </p:txBody>
      </p:sp>
      <p:sp>
        <p:nvSpPr>
          <p:cNvPr id="258" name="Google Shape;258;p38"/>
          <p:cNvSpPr txBox="1"/>
          <p:nvPr/>
        </p:nvSpPr>
        <p:spPr>
          <a:xfrm>
            <a:off x="777950" y="2546575"/>
            <a:ext cx="3223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800">
              <a:solidFill>
                <a:schemeClr val="dk1"/>
              </a:solidFill>
              <a:latin typeface="Poppins"/>
              <a:ea typeface="Poppins"/>
              <a:cs typeface="Poppins"/>
              <a:sym typeface="Poppins"/>
            </a:endParaRPr>
          </a:p>
        </p:txBody>
      </p:sp>
      <p:pic>
        <p:nvPicPr>
          <p:cNvPr id="259" name="Google Shape;259;p38" title="Screenshot 2026-06-01 at 20.53.21.png"/>
          <p:cNvPicPr preferRelativeResize="0"/>
          <p:nvPr/>
        </p:nvPicPr>
        <p:blipFill>
          <a:blip r:embed="rId3">
            <a:alphaModFix/>
          </a:blip>
          <a:stretch>
            <a:fillRect/>
          </a:stretch>
        </p:blipFill>
        <p:spPr>
          <a:xfrm>
            <a:off x="311700" y="979425"/>
            <a:ext cx="5924426" cy="341640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9"/>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Prompt improvements</a:t>
            </a:r>
            <a:endParaRPr/>
          </a:p>
        </p:txBody>
      </p:sp>
      <p:sp>
        <p:nvSpPr>
          <p:cNvPr id="265" name="Google Shape;265;p39"/>
          <p:cNvSpPr txBox="1">
            <a:spLocks noGrp="1"/>
          </p:cNvSpPr>
          <p:nvPr>
            <p:ph type="body" idx="1"/>
          </p:nvPr>
        </p:nvSpPr>
        <p:spPr>
          <a:xfrm>
            <a:off x="311700" y="783550"/>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b="1"/>
              <a:t>ReAct (Reason + Act)</a:t>
            </a:r>
            <a:endParaRPr/>
          </a:p>
          <a:p>
            <a:pPr marL="914400" lvl="1" indent="-317500" algn="l" rtl="0">
              <a:spcBef>
                <a:spcPts val="0"/>
              </a:spcBef>
              <a:spcAft>
                <a:spcPts val="0"/>
              </a:spcAft>
              <a:buSzPts val="1400"/>
              <a:buChar char="○"/>
            </a:pPr>
            <a:r>
              <a:rPr lang="en"/>
              <a:t>Combines reasoning with tool use. The model alternates between Thought ("I need to check the API docs to know the rate limit"), Action ("search: API rate limits"), and Observation ("The limit is 100 req/min"). This is the foundation of most AI agents today.</a:t>
            </a:r>
            <a:endParaRPr i="1"/>
          </a:p>
        </p:txBody>
      </p:sp>
      <p:pic>
        <p:nvPicPr>
          <p:cNvPr id="266" name="Google Shape;266;p39" title="Screenshot 2026-06-01 at 21.01.12.png"/>
          <p:cNvPicPr preferRelativeResize="0"/>
          <p:nvPr/>
        </p:nvPicPr>
        <p:blipFill>
          <a:blip r:embed="rId3">
            <a:alphaModFix/>
          </a:blip>
          <a:stretch>
            <a:fillRect/>
          </a:stretch>
        </p:blipFill>
        <p:spPr>
          <a:xfrm>
            <a:off x="345275" y="2485026"/>
            <a:ext cx="8619149" cy="21991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40"/>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Prompt improvements</a:t>
            </a:r>
            <a:endParaRPr/>
          </a:p>
        </p:txBody>
      </p:sp>
      <p:pic>
        <p:nvPicPr>
          <p:cNvPr id="272" name="Google Shape;272;p40" title="Screenshot 2026-06-01 at 20.56.54.png"/>
          <p:cNvPicPr preferRelativeResize="0"/>
          <p:nvPr/>
        </p:nvPicPr>
        <p:blipFill>
          <a:blip r:embed="rId3">
            <a:alphaModFix/>
          </a:blip>
          <a:stretch>
            <a:fillRect/>
          </a:stretch>
        </p:blipFill>
        <p:spPr>
          <a:xfrm>
            <a:off x="484024" y="889900"/>
            <a:ext cx="5188933" cy="34164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41"/>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Prompt improvements</a:t>
            </a:r>
            <a:endParaRPr/>
          </a:p>
        </p:txBody>
      </p:sp>
      <p:sp>
        <p:nvSpPr>
          <p:cNvPr id="278" name="Google Shape;278;p41"/>
          <p:cNvSpPr txBox="1">
            <a:spLocks noGrp="1"/>
          </p:cNvSpPr>
          <p:nvPr>
            <p:ph type="body" idx="1"/>
          </p:nvPr>
        </p:nvSpPr>
        <p:spPr>
          <a:xfrm>
            <a:off x="311700" y="97942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b="1"/>
              <a:t>Ask the LLM to Ask You Questions</a:t>
            </a:r>
            <a:endParaRPr b="1"/>
          </a:p>
          <a:p>
            <a:pPr marL="914400" lvl="1" indent="-317500" algn="l" rtl="0">
              <a:spcBef>
                <a:spcPts val="0"/>
              </a:spcBef>
              <a:spcAft>
                <a:spcPts val="0"/>
              </a:spcAft>
              <a:buSzPts val="1400"/>
              <a:buChar char="○"/>
            </a:pPr>
            <a:r>
              <a:rPr lang="en"/>
              <a:t>Instead of trying to write the perfect prompt upfront, instruct the model: "Before starting, ask me clarifying questions about anything that's ambiguous." This flips the dynamic — the LLM helps you refine the task. Especially powerful for complex or underspecified tasks where you don't know what you don't know.</a:t>
            </a:r>
            <a:endParaRPr/>
          </a:p>
          <a:p>
            <a:pPr marL="457200" lvl="0" indent="-342900" algn="l" rtl="0">
              <a:spcBef>
                <a:spcPts val="0"/>
              </a:spcBef>
              <a:spcAft>
                <a:spcPts val="0"/>
              </a:spcAft>
              <a:buSzPts val="1800"/>
              <a:buChar char="●"/>
            </a:pPr>
            <a:r>
              <a:rPr lang="en" i="1"/>
              <a:t>Key insight: these techniques work because LLMs don't "think" unless you explicitly create space for thinking in the output.</a:t>
            </a:r>
            <a:endParaRPr i="1"/>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42"/>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t>Divide &amp; Conquer: larger changes (features and refactoring)</a:t>
            </a:r>
            <a:endParaRPr/>
          </a:p>
        </p:txBody>
      </p:sp>
      <p:sp>
        <p:nvSpPr>
          <p:cNvPr id="284" name="Google Shape;284;p42"/>
          <p:cNvSpPr txBox="1">
            <a:spLocks noGrp="1"/>
          </p:cNvSpPr>
          <p:nvPr>
            <p:ph type="body" idx="1"/>
          </p:nvPr>
        </p:nvSpPr>
        <p:spPr>
          <a:xfrm>
            <a:off x="311700" y="979425"/>
            <a:ext cx="8520600" cy="2832900"/>
          </a:xfrm>
          <a:prstGeom prst="rect">
            <a:avLst/>
          </a:prstGeom>
        </p:spPr>
        <p:txBody>
          <a:bodyPr spcFirstLastPara="1" wrap="square" lIns="91425" tIns="91425" rIns="91425" bIns="91425" anchor="t" anchorCtr="0">
            <a:normAutofit fontScale="85000" lnSpcReduction="10000"/>
          </a:bodyPr>
          <a:lstStyle/>
          <a:p>
            <a:pPr marL="457200" lvl="0" indent="-325755" algn="l" rtl="0">
              <a:spcBef>
                <a:spcPts val="0"/>
              </a:spcBef>
              <a:spcAft>
                <a:spcPts val="0"/>
              </a:spcAft>
              <a:buSzPct val="100000"/>
              <a:buChar char="●"/>
            </a:pPr>
            <a:r>
              <a:rPr lang="en" b="1"/>
              <a:t>Use Research → Plan → Implement approach:</a:t>
            </a:r>
            <a:endParaRPr b="1"/>
          </a:p>
          <a:p>
            <a:pPr marL="914400" lvl="1" indent="-304165" algn="l" rtl="0">
              <a:spcBef>
                <a:spcPts val="0"/>
              </a:spcBef>
              <a:spcAft>
                <a:spcPts val="0"/>
              </a:spcAft>
              <a:buSzPct val="100000"/>
              <a:buChar char="○"/>
            </a:pPr>
            <a:r>
              <a:rPr lang="en"/>
              <a:t>Step 1 - ask the LLM to:</a:t>
            </a:r>
            <a:endParaRPr/>
          </a:p>
          <a:p>
            <a:pPr marL="1371600" lvl="2" indent="-304165" algn="l" rtl="0">
              <a:spcBef>
                <a:spcPts val="0"/>
              </a:spcBef>
              <a:spcAft>
                <a:spcPts val="0"/>
              </a:spcAft>
              <a:buSzPct val="100000"/>
              <a:buChar char="■"/>
            </a:pPr>
            <a:r>
              <a:rPr lang="en"/>
              <a:t>Research the code for the changes needed to implement the feature / refactoring</a:t>
            </a:r>
            <a:endParaRPr/>
          </a:p>
          <a:p>
            <a:pPr marL="1371600" lvl="2" indent="-304165" algn="l" rtl="0">
              <a:spcBef>
                <a:spcPts val="0"/>
              </a:spcBef>
              <a:spcAft>
                <a:spcPts val="0"/>
              </a:spcAft>
              <a:buSzPct val="100000"/>
              <a:buChar char="■"/>
            </a:pPr>
            <a:r>
              <a:rPr lang="en"/>
              <a:t>Ask all the clarifying questions, for ensuring the Mental Alignment</a:t>
            </a:r>
            <a:endParaRPr/>
          </a:p>
          <a:p>
            <a:pPr marL="1371600" lvl="2" indent="-304165" algn="l" rtl="0">
              <a:spcBef>
                <a:spcPts val="0"/>
              </a:spcBef>
              <a:spcAft>
                <a:spcPts val="0"/>
              </a:spcAft>
              <a:buSzPct val="100000"/>
              <a:buChar char="■"/>
            </a:pPr>
            <a:r>
              <a:rPr lang="en"/>
              <a:t>Create a Markdown document with the research output → Work Unit 1</a:t>
            </a:r>
            <a:endParaRPr/>
          </a:p>
          <a:p>
            <a:pPr marL="914400" lvl="1" indent="-304165" algn="l" rtl="0">
              <a:spcBef>
                <a:spcPts val="0"/>
              </a:spcBef>
              <a:spcAft>
                <a:spcPts val="0"/>
              </a:spcAft>
              <a:buSzPct val="100000"/>
              <a:buChar char="○"/>
            </a:pPr>
            <a:r>
              <a:rPr lang="en"/>
              <a:t>Step 2 - ask the LLM to:</a:t>
            </a:r>
            <a:endParaRPr/>
          </a:p>
          <a:p>
            <a:pPr marL="1371600" lvl="2" indent="-304165" algn="l" rtl="0">
              <a:spcBef>
                <a:spcPts val="0"/>
              </a:spcBef>
              <a:spcAft>
                <a:spcPts val="0"/>
              </a:spcAft>
              <a:buSzPct val="100000"/>
              <a:buChar char="■"/>
            </a:pPr>
            <a:r>
              <a:rPr lang="en"/>
              <a:t>Create an implementation plan document, from the research doc → n implementation phases</a:t>
            </a:r>
            <a:endParaRPr/>
          </a:p>
          <a:p>
            <a:pPr marL="1371600" lvl="2" indent="-304165" algn="l" rtl="0">
              <a:spcBef>
                <a:spcPts val="0"/>
              </a:spcBef>
              <a:spcAft>
                <a:spcPts val="0"/>
              </a:spcAft>
              <a:buSzPct val="100000"/>
              <a:buChar char="■"/>
            </a:pPr>
            <a:r>
              <a:rPr lang="en"/>
              <a:t>Ask all the clarifying questions, for ensuring the Mental Alignment</a:t>
            </a:r>
            <a:endParaRPr/>
          </a:p>
          <a:p>
            <a:pPr marL="1371600" lvl="2" indent="-304165" algn="l" rtl="0">
              <a:spcBef>
                <a:spcPts val="0"/>
              </a:spcBef>
              <a:spcAft>
                <a:spcPts val="0"/>
              </a:spcAft>
              <a:buSzPct val="100000"/>
              <a:buChar char="■"/>
            </a:pPr>
            <a:r>
              <a:rPr lang="en"/>
              <a:t>Create a Markdown document with the implementation phases plan output → Work Unit 2</a:t>
            </a:r>
            <a:endParaRPr/>
          </a:p>
        </p:txBody>
      </p:sp>
      <p:sp>
        <p:nvSpPr>
          <p:cNvPr id="285" name="Google Shape;285;p42"/>
          <p:cNvSpPr/>
          <p:nvPr/>
        </p:nvSpPr>
        <p:spPr>
          <a:xfrm rot="-5400000">
            <a:off x="1691112" y="3438263"/>
            <a:ext cx="351825" cy="1295750"/>
          </a:xfrm>
          <a:prstGeom prst="flowChartOffpageConnector">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286" name="Google Shape;286;p42"/>
          <p:cNvSpPr/>
          <p:nvPr/>
        </p:nvSpPr>
        <p:spPr>
          <a:xfrm rot="-5400000">
            <a:off x="3966062" y="3438263"/>
            <a:ext cx="351825" cy="1295750"/>
          </a:xfrm>
          <a:prstGeom prst="flowChartOffpageConnector">
            <a:avLst/>
          </a:prstGeom>
          <a:solidFill>
            <a:srgbClr val="A2C4C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287" name="Google Shape;287;p42"/>
          <p:cNvSpPr/>
          <p:nvPr/>
        </p:nvSpPr>
        <p:spPr>
          <a:xfrm rot="-5400000">
            <a:off x="6241012" y="3438263"/>
            <a:ext cx="351825" cy="1295750"/>
          </a:xfrm>
          <a:prstGeom prst="flowChartOffpageConnector">
            <a:avLst/>
          </a:prstGeom>
          <a:solidFill>
            <a:srgbClr val="B4A7D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288" name="Google Shape;288;p42"/>
          <p:cNvSpPr/>
          <p:nvPr/>
        </p:nvSpPr>
        <p:spPr>
          <a:xfrm>
            <a:off x="2857888" y="3843188"/>
            <a:ext cx="293220" cy="485892"/>
          </a:xfrm>
          <a:prstGeom prst="flowChartDocumen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000">
                <a:latin typeface="Poppins"/>
                <a:ea typeface="Poppins"/>
                <a:cs typeface="Poppins"/>
                <a:sym typeface="Poppins"/>
              </a:rPr>
              <a:t>MD</a:t>
            </a:r>
            <a:endParaRPr sz="1000">
              <a:latin typeface="Poppins"/>
              <a:ea typeface="Poppins"/>
              <a:cs typeface="Poppins"/>
              <a:sym typeface="Poppins"/>
            </a:endParaRPr>
          </a:p>
        </p:txBody>
      </p:sp>
      <p:sp>
        <p:nvSpPr>
          <p:cNvPr id="289" name="Google Shape;289;p42"/>
          <p:cNvSpPr/>
          <p:nvPr/>
        </p:nvSpPr>
        <p:spPr>
          <a:xfrm>
            <a:off x="5132838" y="3843188"/>
            <a:ext cx="293220" cy="485892"/>
          </a:xfrm>
          <a:prstGeom prst="flowChartDocument">
            <a:avLst/>
          </a:prstGeom>
          <a:solidFill>
            <a:srgbClr val="A2C4C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dk1"/>
                </a:solidFill>
                <a:latin typeface="Poppins"/>
                <a:ea typeface="Poppins"/>
                <a:cs typeface="Poppins"/>
                <a:sym typeface="Poppins"/>
              </a:rPr>
              <a:t>MD</a:t>
            </a:r>
            <a:endParaRPr>
              <a:latin typeface="Poppins"/>
              <a:ea typeface="Poppins"/>
              <a:cs typeface="Poppins"/>
              <a:sym typeface="Poppins"/>
            </a:endParaRPr>
          </a:p>
        </p:txBody>
      </p:sp>
      <p:sp>
        <p:nvSpPr>
          <p:cNvPr id="290" name="Google Shape;290;p42"/>
          <p:cNvSpPr/>
          <p:nvPr/>
        </p:nvSpPr>
        <p:spPr>
          <a:xfrm>
            <a:off x="2634050" y="3983538"/>
            <a:ext cx="104700" cy="205200"/>
          </a:xfrm>
          <a:prstGeom prst="rightArrow">
            <a:avLst>
              <a:gd name="adj1" fmla="val 50000"/>
              <a:gd name="adj2" fmla="val 50000"/>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291" name="Google Shape;291;p42"/>
          <p:cNvSpPr/>
          <p:nvPr/>
        </p:nvSpPr>
        <p:spPr>
          <a:xfrm>
            <a:off x="3270250" y="3983525"/>
            <a:ext cx="104700" cy="205200"/>
          </a:xfrm>
          <a:prstGeom prst="rightArrow">
            <a:avLst>
              <a:gd name="adj1" fmla="val 50000"/>
              <a:gd name="adj2" fmla="val 50000"/>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292" name="Google Shape;292;p42"/>
          <p:cNvSpPr/>
          <p:nvPr/>
        </p:nvSpPr>
        <p:spPr>
          <a:xfrm>
            <a:off x="4909000" y="3983513"/>
            <a:ext cx="104700" cy="205200"/>
          </a:xfrm>
          <a:prstGeom prst="rightArrow">
            <a:avLst>
              <a:gd name="adj1" fmla="val 50000"/>
              <a:gd name="adj2" fmla="val 50000"/>
            </a:avLst>
          </a:prstGeom>
          <a:solidFill>
            <a:srgbClr val="A2C4C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293" name="Google Shape;293;p42"/>
          <p:cNvSpPr/>
          <p:nvPr/>
        </p:nvSpPr>
        <p:spPr>
          <a:xfrm>
            <a:off x="5545200" y="3983513"/>
            <a:ext cx="104700" cy="205200"/>
          </a:xfrm>
          <a:prstGeom prst="rightArrow">
            <a:avLst>
              <a:gd name="adj1" fmla="val 50000"/>
              <a:gd name="adj2" fmla="val 50000"/>
            </a:avLst>
          </a:prstGeom>
          <a:solidFill>
            <a:srgbClr val="A2C4C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294" name="Google Shape;294;p42"/>
          <p:cNvSpPr/>
          <p:nvPr/>
        </p:nvSpPr>
        <p:spPr>
          <a:xfrm>
            <a:off x="7407788" y="3843200"/>
            <a:ext cx="293220" cy="485892"/>
          </a:xfrm>
          <a:prstGeom prst="flowChartDocument">
            <a:avLst/>
          </a:prstGeom>
          <a:solidFill>
            <a:srgbClr val="B4A7D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a:solidFill>
                  <a:schemeClr val="dk1"/>
                </a:solidFill>
                <a:latin typeface="Poppins"/>
                <a:ea typeface="Poppins"/>
                <a:cs typeface="Poppins"/>
                <a:sym typeface="Poppins"/>
              </a:rPr>
              <a:t>MD</a:t>
            </a:r>
            <a:endParaRPr>
              <a:latin typeface="Poppins"/>
              <a:ea typeface="Poppins"/>
              <a:cs typeface="Poppins"/>
              <a:sym typeface="Poppins"/>
            </a:endParaRPr>
          </a:p>
        </p:txBody>
      </p:sp>
      <p:sp>
        <p:nvSpPr>
          <p:cNvPr id="295" name="Google Shape;295;p42"/>
          <p:cNvSpPr/>
          <p:nvPr/>
        </p:nvSpPr>
        <p:spPr>
          <a:xfrm>
            <a:off x="7183950" y="3983525"/>
            <a:ext cx="104700" cy="205200"/>
          </a:xfrm>
          <a:prstGeom prst="rightArrow">
            <a:avLst>
              <a:gd name="adj1" fmla="val 50000"/>
              <a:gd name="adj2" fmla="val 50000"/>
            </a:avLst>
          </a:prstGeom>
          <a:solidFill>
            <a:srgbClr val="B4A7D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296" name="Google Shape;296;p42"/>
          <p:cNvSpPr/>
          <p:nvPr/>
        </p:nvSpPr>
        <p:spPr>
          <a:xfrm>
            <a:off x="7820150" y="3983525"/>
            <a:ext cx="104700" cy="205200"/>
          </a:xfrm>
          <a:prstGeom prst="rightArrow">
            <a:avLst>
              <a:gd name="adj1" fmla="val 50000"/>
              <a:gd name="adj2" fmla="val 50000"/>
            </a:avLst>
          </a:prstGeom>
          <a:solidFill>
            <a:srgbClr val="B4A7D6"/>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297" name="Google Shape;297;p42"/>
          <p:cNvSpPr txBox="1"/>
          <p:nvPr/>
        </p:nvSpPr>
        <p:spPr>
          <a:xfrm>
            <a:off x="1219150" y="3983525"/>
            <a:ext cx="1030500" cy="205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chemeClr val="dk1"/>
                </a:solidFill>
                <a:latin typeface="Poppins"/>
                <a:ea typeface="Poppins"/>
                <a:cs typeface="Poppins"/>
                <a:sym typeface="Poppins"/>
              </a:rPr>
              <a:t>Research</a:t>
            </a:r>
            <a:endParaRPr sz="800">
              <a:solidFill>
                <a:schemeClr val="dk1"/>
              </a:solidFill>
              <a:latin typeface="Poppins"/>
              <a:ea typeface="Poppins"/>
              <a:cs typeface="Poppins"/>
              <a:sym typeface="Poppins"/>
            </a:endParaRPr>
          </a:p>
        </p:txBody>
      </p:sp>
      <p:sp>
        <p:nvSpPr>
          <p:cNvPr id="298" name="Google Shape;298;p42"/>
          <p:cNvSpPr txBox="1"/>
          <p:nvPr/>
        </p:nvSpPr>
        <p:spPr>
          <a:xfrm>
            <a:off x="3494100" y="3983550"/>
            <a:ext cx="1030500" cy="205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chemeClr val="dk1"/>
                </a:solidFill>
                <a:latin typeface="Poppins"/>
                <a:ea typeface="Poppins"/>
                <a:cs typeface="Poppins"/>
                <a:sym typeface="Poppins"/>
              </a:rPr>
              <a:t>Plan</a:t>
            </a:r>
            <a:endParaRPr sz="800">
              <a:solidFill>
                <a:schemeClr val="dk1"/>
              </a:solidFill>
              <a:latin typeface="Poppins"/>
              <a:ea typeface="Poppins"/>
              <a:cs typeface="Poppins"/>
              <a:sym typeface="Poppins"/>
            </a:endParaRPr>
          </a:p>
        </p:txBody>
      </p:sp>
      <p:sp>
        <p:nvSpPr>
          <p:cNvPr id="299" name="Google Shape;299;p42"/>
          <p:cNvSpPr txBox="1"/>
          <p:nvPr/>
        </p:nvSpPr>
        <p:spPr>
          <a:xfrm>
            <a:off x="5769050" y="3983550"/>
            <a:ext cx="1030500" cy="2052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800">
                <a:solidFill>
                  <a:schemeClr val="dk1"/>
                </a:solidFill>
                <a:latin typeface="Poppins"/>
                <a:ea typeface="Poppins"/>
                <a:cs typeface="Poppins"/>
                <a:sym typeface="Poppins"/>
              </a:rPr>
              <a:t>Implement</a:t>
            </a:r>
            <a:endParaRPr sz="800">
              <a:solidFill>
                <a:schemeClr val="dk1"/>
              </a:solidFill>
              <a:latin typeface="Poppins"/>
              <a:ea typeface="Poppins"/>
              <a:cs typeface="Poppins"/>
              <a:sym typeface="Poppins"/>
            </a:endParaRPr>
          </a:p>
        </p:txBody>
      </p:sp>
      <p:sp>
        <p:nvSpPr>
          <p:cNvPr id="300" name="Google Shape;300;p42"/>
          <p:cNvSpPr/>
          <p:nvPr/>
        </p:nvSpPr>
        <p:spPr>
          <a:xfrm>
            <a:off x="2755350" y="4386175"/>
            <a:ext cx="498300" cy="167700"/>
          </a:xfrm>
          <a:prstGeom prst="rect">
            <a:avLst/>
          </a:prstGeom>
          <a:solidFill>
            <a:schemeClr val="lt1"/>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latin typeface="Poppins"/>
                <a:ea typeface="Poppins"/>
                <a:cs typeface="Poppins"/>
                <a:sym typeface="Poppins"/>
              </a:rPr>
              <a:t>Review</a:t>
            </a:r>
            <a:endParaRPr sz="700">
              <a:latin typeface="Poppins"/>
              <a:ea typeface="Poppins"/>
              <a:cs typeface="Poppins"/>
              <a:sym typeface="Poppins"/>
            </a:endParaRPr>
          </a:p>
        </p:txBody>
      </p:sp>
      <p:sp>
        <p:nvSpPr>
          <p:cNvPr id="301" name="Google Shape;301;p42"/>
          <p:cNvSpPr/>
          <p:nvPr/>
        </p:nvSpPr>
        <p:spPr>
          <a:xfrm>
            <a:off x="5030300" y="4386175"/>
            <a:ext cx="498300" cy="167700"/>
          </a:xfrm>
          <a:prstGeom prst="rect">
            <a:avLst/>
          </a:prstGeom>
          <a:solidFill>
            <a:schemeClr val="lt1"/>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latin typeface="Poppins"/>
                <a:ea typeface="Poppins"/>
                <a:cs typeface="Poppins"/>
                <a:sym typeface="Poppins"/>
              </a:rPr>
              <a:t>Review</a:t>
            </a:r>
            <a:endParaRPr sz="700">
              <a:latin typeface="Poppins"/>
              <a:ea typeface="Poppins"/>
              <a:cs typeface="Poppins"/>
              <a:sym typeface="Poppins"/>
            </a:endParaRPr>
          </a:p>
        </p:txBody>
      </p:sp>
      <p:sp>
        <p:nvSpPr>
          <p:cNvPr id="302" name="Google Shape;302;p42"/>
          <p:cNvSpPr/>
          <p:nvPr/>
        </p:nvSpPr>
        <p:spPr>
          <a:xfrm>
            <a:off x="7198450" y="4386175"/>
            <a:ext cx="711900" cy="167700"/>
          </a:xfrm>
          <a:prstGeom prst="rect">
            <a:avLst/>
          </a:prstGeom>
          <a:solidFill>
            <a:schemeClr val="lt1"/>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latin typeface="Poppins"/>
                <a:ea typeface="Poppins"/>
                <a:cs typeface="Poppins"/>
                <a:sym typeface="Poppins"/>
              </a:rPr>
              <a:t>n x Review</a:t>
            </a:r>
            <a:endParaRPr sz="700">
              <a:latin typeface="Poppins"/>
              <a:ea typeface="Poppins"/>
              <a:cs typeface="Poppins"/>
              <a:sym typeface="Poppin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43"/>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t>Divide &amp; Conquer: larger changes (features and refactoring)</a:t>
            </a:r>
            <a:endParaRPr/>
          </a:p>
        </p:txBody>
      </p:sp>
      <p:sp>
        <p:nvSpPr>
          <p:cNvPr id="308" name="Google Shape;308;p43"/>
          <p:cNvSpPr txBox="1">
            <a:spLocks noGrp="1"/>
          </p:cNvSpPr>
          <p:nvPr>
            <p:ph type="body" idx="1"/>
          </p:nvPr>
        </p:nvSpPr>
        <p:spPr>
          <a:xfrm>
            <a:off x="311700" y="979425"/>
            <a:ext cx="8520600" cy="1831800"/>
          </a:xfrm>
          <a:prstGeom prst="rect">
            <a:avLst/>
          </a:prstGeom>
        </p:spPr>
        <p:txBody>
          <a:bodyPr spcFirstLastPara="1" wrap="square" lIns="91425" tIns="91425" rIns="91425" bIns="91425" anchor="t" anchorCtr="0">
            <a:normAutofit fontScale="77500" lnSpcReduction="20000"/>
          </a:bodyPr>
          <a:lstStyle/>
          <a:p>
            <a:pPr marL="914400" lvl="1" indent="-297498" algn="l" rtl="0">
              <a:spcBef>
                <a:spcPts val="0"/>
              </a:spcBef>
              <a:spcAft>
                <a:spcPts val="0"/>
              </a:spcAft>
              <a:buSzPct val="100000"/>
              <a:buChar char="○"/>
            </a:pPr>
            <a:r>
              <a:rPr lang="en"/>
              <a:t>Step 3 - for each created phase, ask the LLM to:</a:t>
            </a:r>
            <a:endParaRPr/>
          </a:p>
          <a:p>
            <a:pPr marL="1371600" lvl="2" indent="-297498" algn="l" rtl="0">
              <a:spcBef>
                <a:spcPts val="0"/>
              </a:spcBef>
              <a:spcAft>
                <a:spcPts val="0"/>
              </a:spcAft>
              <a:buSzPct val="100000"/>
              <a:buChar char="■"/>
            </a:pPr>
            <a:r>
              <a:rPr lang="en"/>
              <a:t>Create the minimal series of implementation tasks, for the referenced phase → m implementation tasks + tests / TDD</a:t>
            </a:r>
            <a:endParaRPr/>
          </a:p>
          <a:p>
            <a:pPr marL="1371600" lvl="2" indent="-297498" algn="l" rtl="0">
              <a:spcBef>
                <a:spcPts val="0"/>
              </a:spcBef>
              <a:spcAft>
                <a:spcPts val="0"/>
              </a:spcAft>
              <a:buSzPct val="100000"/>
              <a:buChar char="■"/>
            </a:pPr>
            <a:r>
              <a:rPr lang="en"/>
              <a:t>Ask all the clarifying questions, for ensuring the Mental Alignment</a:t>
            </a:r>
            <a:endParaRPr/>
          </a:p>
          <a:p>
            <a:pPr marL="1371600" lvl="2" indent="-297498" algn="l" rtl="0">
              <a:spcBef>
                <a:spcPts val="0"/>
              </a:spcBef>
              <a:spcAft>
                <a:spcPts val="0"/>
              </a:spcAft>
              <a:buSzPct val="100000"/>
              <a:buChar char="■"/>
            </a:pPr>
            <a:r>
              <a:rPr lang="en"/>
              <a:t>Create a Markdown document with the task implementation plan output → Work Unit 3</a:t>
            </a:r>
            <a:endParaRPr/>
          </a:p>
          <a:p>
            <a:pPr marL="914400" lvl="1" indent="-295037" algn="l" rtl="0">
              <a:lnSpc>
                <a:spcPct val="115000"/>
              </a:lnSpc>
              <a:spcBef>
                <a:spcPts val="0"/>
              </a:spcBef>
              <a:spcAft>
                <a:spcPts val="0"/>
              </a:spcAft>
              <a:buSzPct val="100000"/>
              <a:buChar char="○"/>
            </a:pPr>
            <a:r>
              <a:rPr lang="en" sz="1350" i="1">
                <a:solidFill>
                  <a:srgbClr val="1F2022"/>
                </a:solidFill>
              </a:rPr>
              <a:t>Example reference criteria:</a:t>
            </a:r>
            <a:endParaRPr sz="1350" i="1">
              <a:solidFill>
                <a:srgbClr val="1F2022"/>
              </a:solidFill>
            </a:endParaRPr>
          </a:p>
          <a:p>
            <a:pPr marL="1371600" lvl="2" indent="-295037" algn="l" rtl="0">
              <a:lnSpc>
                <a:spcPct val="115000"/>
              </a:lnSpc>
              <a:spcBef>
                <a:spcPts val="0"/>
              </a:spcBef>
              <a:spcAft>
                <a:spcPts val="0"/>
              </a:spcAft>
              <a:buSzPct val="100000"/>
              <a:buChar char="■"/>
            </a:pPr>
            <a:r>
              <a:rPr lang="en" sz="1350" i="1">
                <a:solidFill>
                  <a:srgbClr val="1F2022"/>
                </a:solidFill>
              </a:rPr>
              <a:t>Implementable in &lt; 1h / by the reviewer’s role (Developer / QA / DevOps / …)</a:t>
            </a:r>
            <a:endParaRPr sz="1350" i="1">
              <a:solidFill>
                <a:srgbClr val="1F2022"/>
              </a:solidFill>
            </a:endParaRPr>
          </a:p>
          <a:p>
            <a:pPr marL="1371600" lvl="2" indent="-295037" algn="l" rtl="0">
              <a:lnSpc>
                <a:spcPct val="115000"/>
              </a:lnSpc>
              <a:spcBef>
                <a:spcPts val="0"/>
              </a:spcBef>
              <a:spcAft>
                <a:spcPts val="0"/>
              </a:spcAft>
              <a:buSzPct val="100000"/>
              <a:buChar char="■"/>
            </a:pPr>
            <a:r>
              <a:rPr lang="en" sz="1350" i="1">
                <a:solidFill>
                  <a:srgbClr val="1F2022"/>
                </a:solidFill>
              </a:rPr>
              <a:t>Max changed &amp; created files: 3</a:t>
            </a:r>
            <a:endParaRPr sz="1350" i="1"/>
          </a:p>
        </p:txBody>
      </p:sp>
      <p:sp>
        <p:nvSpPr>
          <p:cNvPr id="309" name="Google Shape;309;p43"/>
          <p:cNvSpPr/>
          <p:nvPr/>
        </p:nvSpPr>
        <p:spPr>
          <a:xfrm>
            <a:off x="355050" y="2941125"/>
            <a:ext cx="779100" cy="7791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Poppins"/>
                <a:ea typeface="Poppins"/>
                <a:cs typeface="Poppins"/>
                <a:sym typeface="Poppins"/>
              </a:rPr>
              <a:t>Unit of work</a:t>
            </a:r>
            <a:endParaRPr>
              <a:latin typeface="Poppins"/>
              <a:ea typeface="Poppins"/>
              <a:cs typeface="Poppins"/>
              <a:sym typeface="Poppins"/>
            </a:endParaRPr>
          </a:p>
        </p:txBody>
      </p:sp>
      <p:sp>
        <p:nvSpPr>
          <p:cNvPr id="310" name="Google Shape;310;p43"/>
          <p:cNvSpPr/>
          <p:nvPr/>
        </p:nvSpPr>
        <p:spPr>
          <a:xfrm>
            <a:off x="3209050" y="2941125"/>
            <a:ext cx="779100" cy="7791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Poppins"/>
                <a:ea typeface="Poppins"/>
                <a:cs typeface="Poppins"/>
                <a:sym typeface="Poppins"/>
              </a:rPr>
              <a:t>Unit of work</a:t>
            </a:r>
            <a:endParaRPr>
              <a:latin typeface="Poppins"/>
              <a:ea typeface="Poppins"/>
              <a:cs typeface="Poppins"/>
              <a:sym typeface="Poppins"/>
            </a:endParaRPr>
          </a:p>
        </p:txBody>
      </p:sp>
      <p:sp>
        <p:nvSpPr>
          <p:cNvPr id="311" name="Google Shape;311;p43"/>
          <p:cNvSpPr/>
          <p:nvPr/>
        </p:nvSpPr>
        <p:spPr>
          <a:xfrm>
            <a:off x="6063050" y="2941125"/>
            <a:ext cx="779100" cy="779100"/>
          </a:xfrm>
          <a:prstGeom prst="rect">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Poppins"/>
                <a:ea typeface="Poppins"/>
                <a:cs typeface="Poppins"/>
                <a:sym typeface="Poppins"/>
              </a:rPr>
              <a:t>Unit of work</a:t>
            </a:r>
            <a:endParaRPr>
              <a:latin typeface="Poppins"/>
              <a:ea typeface="Poppins"/>
              <a:cs typeface="Poppins"/>
              <a:sym typeface="Poppins"/>
            </a:endParaRPr>
          </a:p>
        </p:txBody>
      </p:sp>
      <p:sp>
        <p:nvSpPr>
          <p:cNvPr id="312" name="Google Shape;312;p43"/>
          <p:cNvSpPr/>
          <p:nvPr/>
        </p:nvSpPr>
        <p:spPr>
          <a:xfrm>
            <a:off x="1495100" y="2999775"/>
            <a:ext cx="1353000" cy="661800"/>
          </a:xfrm>
          <a:prstGeom prst="ellipse">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latin typeface="Poppins"/>
                <a:ea typeface="Poppins"/>
                <a:cs typeface="Poppins"/>
                <a:sym typeface="Poppins"/>
              </a:rPr>
              <a:t>Verification step</a:t>
            </a:r>
            <a:endParaRPr sz="900">
              <a:latin typeface="Poppins"/>
              <a:ea typeface="Poppins"/>
              <a:cs typeface="Poppins"/>
              <a:sym typeface="Poppins"/>
            </a:endParaRPr>
          </a:p>
        </p:txBody>
      </p:sp>
      <p:sp>
        <p:nvSpPr>
          <p:cNvPr id="313" name="Google Shape;313;p43"/>
          <p:cNvSpPr/>
          <p:nvPr/>
        </p:nvSpPr>
        <p:spPr>
          <a:xfrm>
            <a:off x="4349100" y="2999775"/>
            <a:ext cx="1353000" cy="661800"/>
          </a:xfrm>
          <a:prstGeom prst="ellipse">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chemeClr val="dk1"/>
                </a:solidFill>
                <a:latin typeface="Poppins"/>
                <a:ea typeface="Poppins"/>
                <a:cs typeface="Poppins"/>
                <a:sym typeface="Poppins"/>
              </a:rPr>
              <a:t>Verification step</a:t>
            </a:r>
            <a:endParaRPr>
              <a:latin typeface="Poppins"/>
              <a:ea typeface="Poppins"/>
              <a:cs typeface="Poppins"/>
              <a:sym typeface="Poppins"/>
            </a:endParaRPr>
          </a:p>
        </p:txBody>
      </p:sp>
      <p:sp>
        <p:nvSpPr>
          <p:cNvPr id="314" name="Google Shape;314;p43"/>
          <p:cNvSpPr/>
          <p:nvPr/>
        </p:nvSpPr>
        <p:spPr>
          <a:xfrm>
            <a:off x="7203100" y="3058425"/>
            <a:ext cx="1353000" cy="661800"/>
          </a:xfrm>
          <a:prstGeom prst="ellipse">
            <a:avLst/>
          </a:prstGeom>
          <a:solidFill>
            <a:srgbClr val="FFF2C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a:solidFill>
                  <a:schemeClr val="dk1"/>
                </a:solidFill>
                <a:latin typeface="Poppins"/>
                <a:ea typeface="Poppins"/>
                <a:cs typeface="Poppins"/>
                <a:sym typeface="Poppins"/>
              </a:rPr>
              <a:t>Verification step</a:t>
            </a:r>
            <a:endParaRPr>
              <a:latin typeface="Poppins"/>
              <a:ea typeface="Poppins"/>
              <a:cs typeface="Poppins"/>
              <a:sym typeface="Poppins"/>
            </a:endParaRPr>
          </a:p>
        </p:txBody>
      </p:sp>
      <p:sp>
        <p:nvSpPr>
          <p:cNvPr id="315" name="Google Shape;315;p43"/>
          <p:cNvSpPr/>
          <p:nvPr/>
        </p:nvSpPr>
        <p:spPr>
          <a:xfrm>
            <a:off x="1262275" y="3228063"/>
            <a:ext cx="104700" cy="20520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316" name="Google Shape;316;p43"/>
          <p:cNvSpPr/>
          <p:nvPr/>
        </p:nvSpPr>
        <p:spPr>
          <a:xfrm>
            <a:off x="2976225" y="3286713"/>
            <a:ext cx="104700" cy="20520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317" name="Google Shape;317;p43"/>
          <p:cNvSpPr/>
          <p:nvPr/>
        </p:nvSpPr>
        <p:spPr>
          <a:xfrm>
            <a:off x="4116275" y="3286713"/>
            <a:ext cx="104700" cy="20520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318" name="Google Shape;318;p43"/>
          <p:cNvSpPr/>
          <p:nvPr/>
        </p:nvSpPr>
        <p:spPr>
          <a:xfrm>
            <a:off x="5830225" y="3228063"/>
            <a:ext cx="104700" cy="20520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319" name="Google Shape;319;p43"/>
          <p:cNvSpPr/>
          <p:nvPr/>
        </p:nvSpPr>
        <p:spPr>
          <a:xfrm>
            <a:off x="6970275" y="3286713"/>
            <a:ext cx="104700" cy="20520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320" name="Google Shape;320;p43"/>
          <p:cNvSpPr/>
          <p:nvPr/>
        </p:nvSpPr>
        <p:spPr>
          <a:xfrm>
            <a:off x="8684225" y="3286713"/>
            <a:ext cx="104700" cy="205200"/>
          </a:xfrm>
          <a:prstGeom prst="rightArrow">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
        <p:nvSpPr>
          <p:cNvPr id="321" name="Google Shape;321;p43"/>
          <p:cNvSpPr/>
          <p:nvPr/>
        </p:nvSpPr>
        <p:spPr>
          <a:xfrm>
            <a:off x="355050" y="3875150"/>
            <a:ext cx="8433900" cy="272400"/>
          </a:xfrm>
          <a:prstGeom prst="rightArrow">
            <a:avLst>
              <a:gd name="adj1" fmla="val 50000"/>
              <a:gd name="adj2" fmla="val 50000"/>
            </a:avLst>
          </a:prstGeom>
          <a:solidFill>
            <a:srgbClr val="EFEFE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a:latin typeface="Poppins"/>
                <a:ea typeface="Poppins"/>
                <a:cs typeface="Poppins"/>
                <a:sym typeface="Poppins"/>
              </a:rPr>
              <a:t>Project progress</a:t>
            </a:r>
            <a:endParaRPr sz="600">
              <a:latin typeface="Poppins"/>
              <a:ea typeface="Poppins"/>
              <a:cs typeface="Poppins"/>
              <a:sym typeface="Poppins"/>
            </a:endParaRPr>
          </a:p>
        </p:txBody>
      </p:sp>
      <p:sp>
        <p:nvSpPr>
          <p:cNvPr id="322" name="Google Shape;322;p43"/>
          <p:cNvSpPr txBox="1"/>
          <p:nvPr/>
        </p:nvSpPr>
        <p:spPr>
          <a:xfrm>
            <a:off x="5436725" y="4063775"/>
            <a:ext cx="30000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800">
                <a:latin typeface="Poppins"/>
                <a:ea typeface="Poppins"/>
                <a:cs typeface="Poppins"/>
                <a:sym typeface="Poppins"/>
              </a:rPr>
              <a:t>Each Unit of Work could be split into task: review &amp; commit each task; then create and update the PR, assign an AI reviewer</a:t>
            </a:r>
            <a:endParaRPr sz="800">
              <a:latin typeface="Poppins"/>
              <a:ea typeface="Poppins"/>
              <a:cs typeface="Poppins"/>
              <a:sym typeface="Poppin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44"/>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Exercise</a:t>
            </a:r>
            <a:endParaRPr/>
          </a:p>
        </p:txBody>
      </p:sp>
      <p:sp>
        <p:nvSpPr>
          <p:cNvPr id="328" name="Google Shape;328;p44"/>
          <p:cNvSpPr txBox="1">
            <a:spLocks noGrp="1"/>
          </p:cNvSpPr>
          <p:nvPr>
            <p:ph type="body" idx="1"/>
          </p:nvPr>
        </p:nvSpPr>
        <p:spPr>
          <a:xfrm>
            <a:off x="311700" y="979425"/>
            <a:ext cx="8520600" cy="3416400"/>
          </a:xfrm>
          <a:prstGeom prst="rect">
            <a:avLst/>
          </a:prstGeom>
        </p:spPr>
        <p:txBody>
          <a:bodyPr spcFirstLastPara="1" wrap="square" lIns="91425" tIns="91425" rIns="91425" bIns="91425" anchor="t" anchorCtr="0">
            <a:normAutofit fontScale="77500" lnSpcReduction="10000"/>
          </a:bodyPr>
          <a:lstStyle/>
          <a:p>
            <a:pPr marL="457200" lvl="0" indent="-308610" algn="l" rtl="0">
              <a:spcBef>
                <a:spcPts val="0"/>
              </a:spcBef>
              <a:spcAft>
                <a:spcPts val="0"/>
              </a:spcAft>
              <a:buSzPct val="100000"/>
              <a:buChar char="●"/>
            </a:pPr>
            <a:r>
              <a:rPr lang="en" b="1"/>
              <a:t>STEP 1 — RESEARCH. </a:t>
            </a:r>
            <a:r>
              <a:rPr lang="en"/>
              <a:t>"What are the key concepts I need to understand before creating a Java class? Explain in simple terms with a real-world analogy. Format your response in Markdown." </a:t>
            </a:r>
            <a:br>
              <a:rPr lang="en"/>
            </a:br>
            <a:r>
              <a:rPr lang="en" b="1"/>
              <a:t>Then immediately follow with</a:t>
            </a:r>
            <a:r>
              <a:rPr lang="en"/>
              <a:t>: "Save that research as a Markdown file called </a:t>
            </a:r>
            <a:r>
              <a:rPr lang="en" u="sng">
                <a:solidFill>
                  <a:schemeClr val="hlink"/>
                </a:solidFill>
                <a:hlinkClick r:id="rId3"/>
              </a:rPr>
              <a:t>research.md</a:t>
            </a:r>
            <a:r>
              <a:rPr lang="en"/>
              <a:t>"</a:t>
            </a:r>
            <a:br>
              <a:rPr lang="en"/>
            </a:br>
            <a:endParaRPr/>
          </a:p>
          <a:p>
            <a:pPr marL="457200" lvl="0" indent="-308610" algn="l" rtl="0">
              <a:spcBef>
                <a:spcPts val="0"/>
              </a:spcBef>
              <a:spcAft>
                <a:spcPts val="0"/>
              </a:spcAft>
              <a:buSzPct val="100000"/>
              <a:buChar char="●"/>
            </a:pPr>
            <a:r>
              <a:rPr lang="en" b="1"/>
              <a:t>STEP 2 — PLAN: </a:t>
            </a:r>
            <a:r>
              <a:rPr lang="en"/>
              <a:t> "I want to create a Java class to represent a Student in a school system. What fields, constructors, and methods should it have? Format your response in Markdown with clear headings and a checklist." Then follow with: "Save that as </a:t>
            </a:r>
            <a:r>
              <a:rPr lang="en" u="sng">
                <a:solidFill>
                  <a:schemeClr val="hlink"/>
                </a:solidFill>
                <a:hlinkClick r:id="rId4"/>
              </a:rPr>
              <a:t>plan.md</a:t>
            </a:r>
            <a:r>
              <a:rPr lang="en"/>
              <a:t>"</a:t>
            </a:r>
            <a:br>
              <a:rPr lang="en"/>
            </a:br>
            <a:endParaRPr/>
          </a:p>
          <a:p>
            <a:pPr marL="457200" lvl="0" indent="-308610" algn="l" rtl="0">
              <a:spcBef>
                <a:spcPts val="0"/>
              </a:spcBef>
              <a:spcAft>
                <a:spcPts val="0"/>
              </a:spcAft>
              <a:buSzPct val="100000"/>
              <a:buChar char="●"/>
            </a:pPr>
            <a:r>
              <a:rPr lang="en" b="1"/>
              <a:t>STEP 3 — IMPLEMENT (referring back to the saved plan): </a:t>
            </a:r>
            <a:r>
              <a:rPr lang="en"/>
              <a:t>"Read the plan in plan.md and implement the Java Student class exactly as planned. Follow every item in the checklist."</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5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Exercise 0</a:t>
            </a:r>
            <a:endParaRPr/>
          </a:p>
        </p:txBody>
      </p:sp>
      <p:sp>
        <p:nvSpPr>
          <p:cNvPr id="2" name="Exercise folder"/>
          <p:cNvSpPr txBox="1"/>
          <p:nvPr/>
        </p:nvSpPr>
        <p:spPr>
          <a:xfrm>
            <a:off x="311700" y="2926080"/>
            <a:ext cx="8520600" cy="411480"/>
          </a:xfrm>
          <a:prstGeom prst="rect">
            <a:avLst/>
          </a:prstGeom>
          <a:noFill/>
        </p:spPr>
        <p:txBody>
          <a:bodyPr wrap="square" lIns="91425" tIns="0" rIns="91425" bIns="0" anchor="t">
            <a:noAutofit/>
          </a:bodyPr>
          <a:lstStyle/>
          <a:p>
            <a:pPr marL="0" indent="0" algn="ctr">
              <a:buNone/>
            </a:pPr>
            <a:r>
              <a:rPr lang="en" sz="1600">
                <a:solidFill>
                  <a:srgbClr val="FFFFFF"/>
                </a:solidFill>
                <a:latin typeface="Poppins"/>
                <a:ea typeface="Poppins"/>
                <a:cs typeface="Poppins"/>
                <a:sym typeface="Poppins"/>
              </a:rPr>
              <a:t>week-01/exercise-0</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45"/>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Provide the LLM with examples</a:t>
            </a:r>
            <a:endParaRPr/>
          </a:p>
        </p:txBody>
      </p:sp>
      <p:sp>
        <p:nvSpPr>
          <p:cNvPr id="334" name="Google Shape;334;p45"/>
          <p:cNvSpPr txBox="1">
            <a:spLocks noGrp="1"/>
          </p:cNvSpPr>
          <p:nvPr>
            <p:ph type="body" idx="1"/>
          </p:nvPr>
        </p:nvSpPr>
        <p:spPr>
          <a:xfrm>
            <a:off x="311700" y="863550"/>
            <a:ext cx="5209200" cy="3416400"/>
          </a:xfrm>
          <a:prstGeom prst="rect">
            <a:avLst/>
          </a:prstGeom>
        </p:spPr>
        <p:txBody>
          <a:bodyPr spcFirstLastPara="1" wrap="square" lIns="91425" tIns="91425" rIns="91425" bIns="91425" anchor="t" anchorCtr="0">
            <a:normAutofit fontScale="40000" lnSpcReduction="20000"/>
          </a:bodyPr>
          <a:lstStyle/>
          <a:p>
            <a:pPr marL="457200" lvl="0" indent="-282893" algn="l" rtl="0">
              <a:spcBef>
                <a:spcPts val="0"/>
              </a:spcBef>
              <a:spcAft>
                <a:spcPts val="0"/>
              </a:spcAft>
              <a:buSzPct val="100000"/>
              <a:buChar char="●"/>
            </a:pPr>
            <a:r>
              <a:rPr lang="en" b="1"/>
              <a:t>Zero-Shot Prompting</a:t>
            </a:r>
            <a:endParaRPr b="1"/>
          </a:p>
          <a:p>
            <a:pPr marL="914400" lvl="1" indent="-270828" algn="l" rtl="0">
              <a:spcBef>
                <a:spcPts val="0"/>
              </a:spcBef>
              <a:spcAft>
                <a:spcPts val="0"/>
              </a:spcAft>
              <a:buSzPct val="100000"/>
              <a:buChar char="○"/>
            </a:pPr>
            <a:r>
              <a:rPr lang="en"/>
              <a:t>You give instructions only, no examples. </a:t>
            </a:r>
            <a:endParaRPr/>
          </a:p>
          <a:p>
            <a:pPr marL="914400" lvl="1" indent="-270828" algn="l" rtl="0">
              <a:spcBef>
                <a:spcPts val="0"/>
              </a:spcBef>
              <a:spcAft>
                <a:spcPts val="0"/>
              </a:spcAft>
              <a:buSzPct val="100000"/>
              <a:buChar char="○"/>
            </a:pPr>
            <a:r>
              <a:rPr lang="en"/>
              <a:t>Works for simple, well-defined tasks.</a:t>
            </a:r>
            <a:endParaRPr/>
          </a:p>
          <a:p>
            <a:pPr marL="914400" lvl="1" indent="-270828" algn="l" rtl="0">
              <a:spcBef>
                <a:spcPts val="0"/>
              </a:spcBef>
              <a:spcAft>
                <a:spcPts val="0"/>
              </a:spcAft>
              <a:buSzPct val="100000"/>
              <a:buChar char="○"/>
            </a:pPr>
            <a:r>
              <a:rPr lang="en"/>
              <a:t>Example: </a:t>
            </a:r>
            <a:r>
              <a:rPr lang="en" i="1"/>
              <a:t>"Translate this sentence to French."</a:t>
            </a:r>
            <a:endParaRPr i="1"/>
          </a:p>
          <a:p>
            <a:pPr marL="457200" lvl="0" indent="-282893" algn="l" rtl="0">
              <a:spcBef>
                <a:spcPts val="0"/>
              </a:spcBef>
              <a:spcAft>
                <a:spcPts val="0"/>
              </a:spcAft>
              <a:buSzPct val="100000"/>
              <a:buChar char="●"/>
            </a:pPr>
            <a:r>
              <a:rPr lang="en" b="1"/>
              <a:t>One-Shot Prompting</a:t>
            </a:r>
            <a:endParaRPr b="1"/>
          </a:p>
          <a:p>
            <a:pPr marL="914400" lvl="1" indent="-270828" algn="l" rtl="0">
              <a:spcBef>
                <a:spcPts val="0"/>
              </a:spcBef>
              <a:spcAft>
                <a:spcPts val="0"/>
              </a:spcAft>
              <a:buSzPct val="100000"/>
              <a:buChar char="○"/>
            </a:pPr>
            <a:r>
              <a:rPr lang="en"/>
              <a:t>You provide one input → output example before your actual request. </a:t>
            </a:r>
            <a:endParaRPr/>
          </a:p>
          <a:p>
            <a:pPr marL="914400" lvl="1" indent="-270828" algn="l" rtl="0">
              <a:spcBef>
                <a:spcPts val="0"/>
              </a:spcBef>
              <a:spcAft>
                <a:spcPts val="0"/>
              </a:spcAft>
              <a:buSzPct val="100000"/>
              <a:buChar char="○"/>
            </a:pPr>
            <a:r>
              <a:rPr lang="en"/>
              <a:t>Helps the model understand format and tone.</a:t>
            </a:r>
            <a:endParaRPr/>
          </a:p>
          <a:p>
            <a:pPr marL="914400" lvl="1" indent="-270828" algn="l" rtl="0">
              <a:spcBef>
                <a:spcPts val="0"/>
              </a:spcBef>
              <a:spcAft>
                <a:spcPts val="0"/>
              </a:spcAft>
              <a:buSzPct val="100000"/>
              <a:buChar char="○"/>
            </a:pPr>
            <a:r>
              <a:rPr lang="en"/>
              <a:t>Example: </a:t>
            </a:r>
            <a:r>
              <a:rPr lang="en" i="1"/>
              <a:t>"Input: 'The server is down' → Output: 'SEV1 - Infrastructure - Immediate'. Now classify: 'Login button is misaligned'"</a:t>
            </a:r>
            <a:endParaRPr i="1"/>
          </a:p>
          <a:p>
            <a:pPr marL="457200" lvl="0" indent="-282893" algn="l" rtl="0">
              <a:spcBef>
                <a:spcPts val="0"/>
              </a:spcBef>
              <a:spcAft>
                <a:spcPts val="0"/>
              </a:spcAft>
              <a:buSzPct val="100000"/>
              <a:buChar char="●"/>
            </a:pPr>
            <a:r>
              <a:rPr lang="en" b="1"/>
              <a:t>Few-Shot Prompting</a:t>
            </a:r>
            <a:endParaRPr b="1"/>
          </a:p>
          <a:p>
            <a:pPr marL="914400" lvl="1" indent="-270828" algn="l" rtl="0">
              <a:spcBef>
                <a:spcPts val="0"/>
              </a:spcBef>
              <a:spcAft>
                <a:spcPts val="0"/>
              </a:spcAft>
              <a:buSzPct val="100000"/>
              <a:buChar char="○"/>
            </a:pPr>
            <a:r>
              <a:rPr lang="en"/>
              <a:t>You provide 2-5 examples. </a:t>
            </a:r>
            <a:endParaRPr/>
          </a:p>
          <a:p>
            <a:pPr marL="914400" lvl="1" indent="-270828" algn="l" rtl="0">
              <a:spcBef>
                <a:spcPts val="0"/>
              </a:spcBef>
              <a:spcAft>
                <a:spcPts val="0"/>
              </a:spcAft>
              <a:buSzPct val="100000"/>
              <a:buChar char="○"/>
            </a:pPr>
            <a:r>
              <a:rPr lang="en"/>
              <a:t>Best for complex or ambiguous tasks where the pattern isn't obvious from instructions alone. </a:t>
            </a:r>
            <a:endParaRPr/>
          </a:p>
          <a:p>
            <a:pPr marL="914400" lvl="1" indent="-270828" algn="l" rtl="0">
              <a:spcBef>
                <a:spcPts val="0"/>
              </a:spcBef>
              <a:spcAft>
                <a:spcPts val="0"/>
              </a:spcAft>
              <a:buSzPct val="100000"/>
              <a:buChar char="○"/>
            </a:pPr>
            <a:r>
              <a:rPr lang="en"/>
              <a:t>The model “learns” the shape/format of your expected output.</a:t>
            </a:r>
            <a:endParaRPr/>
          </a:p>
          <a:p>
            <a:pPr marL="457200" lvl="0" indent="-282893" algn="l" rtl="0">
              <a:spcBef>
                <a:spcPts val="0"/>
              </a:spcBef>
              <a:spcAft>
                <a:spcPts val="0"/>
              </a:spcAft>
              <a:buSzPct val="100000"/>
              <a:buChar char="●"/>
            </a:pPr>
            <a:r>
              <a:rPr lang="en" b="1"/>
              <a:t>When to use which?</a:t>
            </a:r>
            <a:endParaRPr b="1"/>
          </a:p>
          <a:p>
            <a:pPr marL="914400" lvl="1" indent="-270828" algn="l" rtl="0">
              <a:spcBef>
                <a:spcPts val="0"/>
              </a:spcBef>
              <a:spcAft>
                <a:spcPts val="0"/>
              </a:spcAft>
              <a:buSzPct val="100000"/>
              <a:buChar char="○"/>
            </a:pPr>
            <a:r>
              <a:rPr lang="en"/>
              <a:t>Start with zero-shot. </a:t>
            </a:r>
            <a:endParaRPr/>
          </a:p>
          <a:p>
            <a:pPr marL="914400" lvl="1" indent="-270828" algn="l" rtl="0">
              <a:spcBef>
                <a:spcPts val="0"/>
              </a:spcBef>
              <a:spcAft>
                <a:spcPts val="0"/>
              </a:spcAft>
              <a:buSzPct val="100000"/>
              <a:buChar char="○"/>
            </a:pPr>
            <a:r>
              <a:rPr lang="en"/>
              <a:t>If the output format or quality isn't right, add examples progressively.</a:t>
            </a:r>
            <a:endParaRPr/>
          </a:p>
          <a:p>
            <a:pPr marL="914400" lvl="1" indent="-270828" algn="l" rtl="0">
              <a:spcBef>
                <a:spcPts val="0"/>
              </a:spcBef>
              <a:spcAft>
                <a:spcPts val="0"/>
              </a:spcAft>
              <a:buSzPct val="100000"/>
              <a:buChar char="○"/>
            </a:pPr>
            <a:r>
              <a:rPr lang="en"/>
              <a:t>Few-shot is your best friend for classification, structured extraction, and consistent formatting.</a:t>
            </a:r>
            <a:endParaRPr/>
          </a:p>
          <a:p>
            <a:pPr marL="914400" lvl="1" indent="-270828" algn="l" rtl="0">
              <a:spcBef>
                <a:spcPts val="0"/>
              </a:spcBef>
              <a:spcAft>
                <a:spcPts val="0"/>
              </a:spcAft>
              <a:buSzPct val="100000"/>
              <a:buChar char="○"/>
            </a:pPr>
            <a:r>
              <a:rPr lang="en"/>
              <a:t>Example: </a:t>
            </a:r>
            <a:r>
              <a:rPr lang="en" i="1"/>
              <a:t>“Ex. 1: function add(a, b) { return a + b; } - Doc: Adds two numbers and returns the sum. @param a - first nr, @param b - second nr</a:t>
            </a:r>
            <a:br>
              <a:rPr lang="en" i="1"/>
            </a:br>
            <a:r>
              <a:rPr lang="en" i="1"/>
              <a:t>Ex. 2: function multiply(x, y) { return x * y; } - Doc: Multiplies two numbers, returns the product. @param x - first nr, @param y - second nr</a:t>
            </a:r>
            <a:br>
              <a:rPr lang="en" i="1"/>
            </a:br>
            <a:r>
              <a:rPr lang="en" i="1"/>
              <a:t>Your task - document: function divide(num, den) { return num / den; }”</a:t>
            </a:r>
            <a:endParaRPr i="1"/>
          </a:p>
        </p:txBody>
      </p:sp>
      <p:pic>
        <p:nvPicPr>
          <p:cNvPr id="335" name="Google Shape;335;p45"/>
          <p:cNvPicPr preferRelativeResize="0"/>
          <p:nvPr/>
        </p:nvPicPr>
        <p:blipFill>
          <a:blip r:embed="rId3">
            <a:alphaModFix/>
          </a:blip>
          <a:stretch>
            <a:fillRect/>
          </a:stretch>
        </p:blipFill>
        <p:spPr>
          <a:xfrm>
            <a:off x="5443900" y="1503675"/>
            <a:ext cx="3388399" cy="21361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46"/>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Final considerations</a:t>
            </a:r>
            <a:endParaRPr/>
          </a:p>
        </p:txBody>
      </p:sp>
      <p:sp>
        <p:nvSpPr>
          <p:cNvPr id="341" name="Google Shape;341;p46"/>
          <p:cNvSpPr txBox="1">
            <a:spLocks noGrp="1"/>
          </p:cNvSpPr>
          <p:nvPr>
            <p:ph type="body" idx="1"/>
          </p:nvPr>
        </p:nvSpPr>
        <p:spPr>
          <a:xfrm>
            <a:off x="311700" y="979425"/>
            <a:ext cx="8520600" cy="34164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n" b="1"/>
              <a:t>LLMs aren't psychic. </a:t>
            </a:r>
            <a:r>
              <a:rPr lang="en"/>
              <a:t>If information is neither in training or in the prompt, then they don't know it.</a:t>
            </a:r>
            <a:endParaRPr/>
          </a:p>
          <a:p>
            <a:pPr marL="457200" lvl="0" indent="-342900" algn="l" rtl="0">
              <a:spcBef>
                <a:spcPts val="0"/>
              </a:spcBef>
              <a:spcAft>
                <a:spcPts val="0"/>
              </a:spcAft>
              <a:buSzPts val="1800"/>
              <a:buChar char="●"/>
            </a:pPr>
            <a:r>
              <a:rPr lang="en" b="1"/>
              <a:t>LLMs are not aware of the nuances of your company</a:t>
            </a:r>
            <a:r>
              <a:rPr lang="en"/>
              <a:t> and its work.</a:t>
            </a:r>
            <a:endParaRPr/>
          </a:p>
          <a:p>
            <a:pPr marL="457200" lvl="0" indent="-342900" algn="l" rtl="0">
              <a:spcBef>
                <a:spcPts val="0"/>
              </a:spcBef>
              <a:spcAft>
                <a:spcPts val="0"/>
              </a:spcAft>
              <a:buSzPts val="1800"/>
              <a:buChar char="●"/>
            </a:pPr>
            <a:r>
              <a:rPr lang="en" b="1"/>
              <a:t>LLMs get distracted.</a:t>
            </a:r>
            <a:r>
              <a:rPr lang="en"/>
              <a:t> Don't fill the prompt with lots of "just in case" information.</a:t>
            </a:r>
            <a:endParaRPr/>
          </a:p>
          <a:p>
            <a:pPr marL="457200" lvl="0" indent="-342900" algn="l" rtl="0">
              <a:spcBef>
                <a:spcPts val="0"/>
              </a:spcBef>
              <a:spcAft>
                <a:spcPts val="0"/>
              </a:spcAft>
              <a:buSzPts val="1800"/>
              <a:buChar char="●"/>
            </a:pPr>
            <a:r>
              <a:rPr lang="en" b="1"/>
              <a:t>LLMs need documents that make sense.</a:t>
            </a:r>
            <a:r>
              <a:rPr lang="en"/>
              <a:t> They prefer familiar text.</a:t>
            </a:r>
            <a:endParaRPr/>
          </a:p>
          <a:p>
            <a:pPr marL="457200" lvl="0" indent="-342900" algn="l" rtl="0">
              <a:spcBef>
                <a:spcPts val="0"/>
              </a:spcBef>
              <a:spcAft>
                <a:spcPts val="0"/>
              </a:spcAft>
              <a:buSzPts val="1800"/>
              <a:buChar char="●"/>
            </a:pPr>
            <a:r>
              <a:rPr lang="en"/>
              <a:t>LLMs </a:t>
            </a:r>
            <a:r>
              <a:rPr lang="en" i="1"/>
              <a:t>can</a:t>
            </a:r>
            <a:r>
              <a:rPr lang="en"/>
              <a:t> do most any well-contained task involving text.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47"/>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We have just started scratching the surface…</a:t>
            </a:r>
            <a:endParaRPr/>
          </a:p>
        </p:txBody>
      </p:sp>
      <p:sp>
        <p:nvSpPr>
          <p:cNvPr id="347" name="Google Shape;347;p47"/>
          <p:cNvSpPr txBox="1">
            <a:spLocks noGrp="1"/>
          </p:cNvSpPr>
          <p:nvPr>
            <p:ph type="body" idx="1"/>
          </p:nvPr>
        </p:nvSpPr>
        <p:spPr>
          <a:xfrm>
            <a:off x="311700" y="979425"/>
            <a:ext cx="8520600" cy="34164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We focused on the interaction with LLM, mentioning also several points we will discuss during the next weeks.</a:t>
            </a:r>
            <a:endParaRPr/>
          </a:p>
          <a:p>
            <a:pPr marL="0" lvl="0" indent="0" algn="ctr" rtl="0">
              <a:spcBef>
                <a:spcPts val="1200"/>
              </a:spcBef>
              <a:spcAft>
                <a:spcPts val="0"/>
              </a:spcAft>
              <a:buNone/>
            </a:pPr>
            <a:endParaRPr/>
          </a:p>
          <a:p>
            <a:pPr marL="0" lvl="0" indent="0" algn="ctr" rtl="0">
              <a:spcBef>
                <a:spcPts val="1200"/>
              </a:spcBef>
              <a:spcAft>
                <a:spcPts val="1200"/>
              </a:spcAft>
              <a:buNone/>
            </a:pPr>
            <a:r>
              <a:rPr lang="en"/>
              <a:t>Now, with a little more context, what are your expectations?</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48"/>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Claude Code</a:t>
            </a:r>
            <a:endParaRPr/>
          </a:p>
        </p:txBody>
      </p:sp>
      <p:pic>
        <p:nvPicPr>
          <p:cNvPr id="353" name="Google Shape;353;p48"/>
          <p:cNvPicPr preferRelativeResize="0"/>
          <p:nvPr/>
        </p:nvPicPr>
        <p:blipFill>
          <a:blip r:embed="rId3">
            <a:alphaModFix/>
          </a:blip>
          <a:stretch>
            <a:fillRect/>
          </a:stretch>
        </p:blipFill>
        <p:spPr>
          <a:xfrm>
            <a:off x="2340125" y="1415000"/>
            <a:ext cx="4463749" cy="2313501"/>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49"/>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Claude Code: from Chatbot to Agent</a:t>
            </a:r>
            <a:endParaRPr/>
          </a:p>
        </p:txBody>
      </p:sp>
      <p:sp>
        <p:nvSpPr>
          <p:cNvPr id="359" name="Google Shape;359;p49"/>
          <p:cNvSpPr/>
          <p:nvPr/>
        </p:nvSpPr>
        <p:spPr>
          <a:xfrm>
            <a:off x="3451500" y="1066525"/>
            <a:ext cx="2241000" cy="825000"/>
          </a:xfrm>
          <a:prstGeom prst="roundRect">
            <a:avLst>
              <a:gd name="adj" fmla="val 16667"/>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latin typeface="Poppins"/>
                <a:ea typeface="Poppins"/>
                <a:cs typeface="Poppins"/>
                <a:sym typeface="Poppins"/>
              </a:rPr>
              <a:t>LLM (the brain)</a:t>
            </a:r>
            <a:endParaRPr sz="1300">
              <a:latin typeface="Poppins"/>
              <a:ea typeface="Poppins"/>
              <a:cs typeface="Poppins"/>
              <a:sym typeface="Poppins"/>
            </a:endParaRPr>
          </a:p>
        </p:txBody>
      </p:sp>
      <p:sp>
        <p:nvSpPr>
          <p:cNvPr id="360" name="Google Shape;360;p49"/>
          <p:cNvSpPr/>
          <p:nvPr/>
        </p:nvSpPr>
        <p:spPr>
          <a:xfrm>
            <a:off x="5692500" y="2159250"/>
            <a:ext cx="2241000" cy="825000"/>
          </a:xfrm>
          <a:prstGeom prst="roundRect">
            <a:avLst>
              <a:gd name="adj" fmla="val 16667"/>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latin typeface="Poppins"/>
                <a:ea typeface="Poppins"/>
                <a:cs typeface="Poppins"/>
                <a:sym typeface="Poppins"/>
              </a:rPr>
              <a:t>Tools (the hands)</a:t>
            </a:r>
            <a:endParaRPr sz="1300">
              <a:latin typeface="Poppins"/>
              <a:ea typeface="Poppins"/>
              <a:cs typeface="Poppins"/>
              <a:sym typeface="Poppins"/>
            </a:endParaRPr>
          </a:p>
        </p:txBody>
      </p:sp>
      <p:sp>
        <p:nvSpPr>
          <p:cNvPr id="361" name="Google Shape;361;p49"/>
          <p:cNvSpPr/>
          <p:nvPr/>
        </p:nvSpPr>
        <p:spPr>
          <a:xfrm>
            <a:off x="3451500" y="3251975"/>
            <a:ext cx="2241000" cy="825000"/>
          </a:xfrm>
          <a:prstGeom prst="roundRect">
            <a:avLst>
              <a:gd name="adj" fmla="val 16667"/>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latin typeface="Poppins"/>
                <a:ea typeface="Poppins"/>
                <a:cs typeface="Poppins"/>
                <a:sym typeface="Poppins"/>
              </a:rPr>
              <a:t>Context (the memory)</a:t>
            </a:r>
            <a:endParaRPr sz="1300">
              <a:latin typeface="Poppins"/>
              <a:ea typeface="Poppins"/>
              <a:cs typeface="Poppins"/>
              <a:sym typeface="Poppins"/>
            </a:endParaRPr>
          </a:p>
        </p:txBody>
      </p:sp>
      <p:sp>
        <p:nvSpPr>
          <p:cNvPr id="362" name="Google Shape;362;p49"/>
          <p:cNvSpPr/>
          <p:nvPr/>
        </p:nvSpPr>
        <p:spPr>
          <a:xfrm>
            <a:off x="1210500" y="2159250"/>
            <a:ext cx="2241000" cy="825000"/>
          </a:xfrm>
          <a:prstGeom prst="roundRect">
            <a:avLst>
              <a:gd name="adj" fmla="val 16667"/>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300">
                <a:latin typeface="Poppins"/>
                <a:ea typeface="Poppins"/>
                <a:cs typeface="Poppins"/>
                <a:sym typeface="Poppins"/>
              </a:rPr>
              <a:t>Loop (the workflow)</a:t>
            </a:r>
            <a:endParaRPr sz="1300">
              <a:latin typeface="Poppins"/>
              <a:ea typeface="Poppins"/>
              <a:cs typeface="Poppins"/>
              <a:sym typeface="Poppins"/>
            </a:endParaRPr>
          </a:p>
        </p:txBody>
      </p:sp>
      <p:sp>
        <p:nvSpPr>
          <p:cNvPr id="363" name="Google Shape;363;p49"/>
          <p:cNvSpPr/>
          <p:nvPr/>
        </p:nvSpPr>
        <p:spPr>
          <a:xfrm>
            <a:off x="3579300" y="2010450"/>
            <a:ext cx="1985400" cy="1122600"/>
          </a:xfrm>
          <a:prstGeom prst="quadArrow">
            <a:avLst>
              <a:gd name="adj1" fmla="val 22500"/>
              <a:gd name="adj2" fmla="val 22500"/>
              <a:gd name="adj3" fmla="val 22500"/>
            </a:avLst>
          </a:prstGeom>
          <a:noFill/>
          <a:ln w="19050"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Poppins"/>
              <a:ea typeface="Poppins"/>
              <a:cs typeface="Poppins"/>
              <a:sym typeface="Poppin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50"/>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Claude Code CLI: overview</a:t>
            </a:r>
            <a:endParaRPr/>
          </a:p>
        </p:txBody>
      </p:sp>
      <p:pic>
        <p:nvPicPr>
          <p:cNvPr id="369" name="Google Shape;369;p50"/>
          <p:cNvPicPr preferRelativeResize="0"/>
          <p:nvPr/>
        </p:nvPicPr>
        <p:blipFill>
          <a:blip r:embed="rId3">
            <a:alphaModFix/>
          </a:blip>
          <a:stretch>
            <a:fillRect/>
          </a:stretch>
        </p:blipFill>
        <p:spPr>
          <a:xfrm>
            <a:off x="1177813" y="1705148"/>
            <a:ext cx="6788376" cy="17332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51"/>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Useful (first) Claude Code commands</a:t>
            </a:r>
            <a:endParaRPr/>
          </a:p>
        </p:txBody>
      </p:sp>
      <p:graphicFrame>
        <p:nvGraphicFramePr>
          <p:cNvPr id="375" name="Google Shape;375;p51"/>
          <p:cNvGraphicFramePr/>
          <p:nvPr/>
        </p:nvGraphicFramePr>
        <p:xfrm>
          <a:off x="952500" y="986850"/>
          <a:ext cx="7239000" cy="3169830"/>
        </p:xfrm>
        <a:graphic>
          <a:graphicData uri="http://schemas.openxmlformats.org/drawingml/2006/table">
            <a:tbl>
              <a:tblPr>
                <a:noFill/>
                <a:tableStyleId>{7A16D522-D285-4379-80FD-8D04E42976DE}</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381000">
                <a:tc>
                  <a:txBody>
                    <a:bodyPr/>
                    <a:lstStyle/>
                    <a:p>
                      <a:pPr marL="0" lvl="0" indent="0" algn="ctr" rtl="0">
                        <a:spcBef>
                          <a:spcPts val="0"/>
                        </a:spcBef>
                        <a:spcAft>
                          <a:spcPts val="0"/>
                        </a:spcAft>
                        <a:buNone/>
                      </a:pPr>
                      <a:r>
                        <a:rPr lang="en" sz="1200" b="1">
                          <a:latin typeface="Poppins"/>
                          <a:ea typeface="Poppins"/>
                          <a:cs typeface="Poppins"/>
                          <a:sym typeface="Poppins"/>
                        </a:rPr>
                        <a:t>Command</a:t>
                      </a:r>
                      <a:endParaRPr sz="1200" b="1">
                        <a:latin typeface="Poppins"/>
                        <a:ea typeface="Poppins"/>
                        <a:cs typeface="Poppins"/>
                        <a:sym typeface="Poppins"/>
                      </a:endParaRPr>
                    </a:p>
                  </a:txBody>
                  <a:tcPr marL="91425" marR="91425" marT="91425" marB="91425"/>
                </a:tc>
                <a:tc>
                  <a:txBody>
                    <a:bodyPr/>
                    <a:lstStyle/>
                    <a:p>
                      <a:pPr marL="0" lvl="0" indent="0" algn="ctr" rtl="0">
                        <a:spcBef>
                          <a:spcPts val="0"/>
                        </a:spcBef>
                        <a:spcAft>
                          <a:spcPts val="0"/>
                        </a:spcAft>
                        <a:buNone/>
                      </a:pPr>
                      <a:r>
                        <a:rPr lang="en" sz="1200" b="1">
                          <a:latin typeface="Poppins"/>
                          <a:ea typeface="Poppins"/>
                          <a:cs typeface="Poppins"/>
                          <a:sym typeface="Poppins"/>
                        </a:rPr>
                        <a:t>Description</a:t>
                      </a:r>
                      <a:endParaRPr sz="1200" b="1">
                        <a:latin typeface="Poppins"/>
                        <a:ea typeface="Poppins"/>
                        <a:cs typeface="Poppins"/>
                        <a:sym typeface="Poppins"/>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Clr>
                          <a:schemeClr val="dk1"/>
                        </a:buClr>
                        <a:buSzPts val="1100"/>
                        <a:buFont typeface="Arial"/>
                        <a:buNone/>
                      </a:pPr>
                      <a:r>
                        <a:rPr lang="en" sz="1200">
                          <a:solidFill>
                            <a:srgbClr val="2D3748"/>
                          </a:solidFill>
                          <a:latin typeface="Poppins"/>
                          <a:ea typeface="Poppins"/>
                          <a:cs typeface="Poppins"/>
                          <a:sym typeface="Poppins"/>
                        </a:rPr>
                        <a:t>/clear</a:t>
                      </a:r>
                      <a:endParaRPr sz="1200">
                        <a:latin typeface="Poppins"/>
                        <a:ea typeface="Poppins"/>
                        <a:cs typeface="Poppins"/>
                        <a:sym typeface="Poppins"/>
                      </a:endParaRPr>
                    </a:p>
                  </a:txBody>
                  <a:tcPr marL="91425" marR="91425" marT="91425" marB="91425"/>
                </a:tc>
                <a:tc>
                  <a:txBody>
                    <a:bodyPr/>
                    <a:lstStyle/>
                    <a:p>
                      <a:pPr marL="0" lvl="0" indent="0" algn="ctr" rtl="0">
                        <a:spcBef>
                          <a:spcPts val="0"/>
                        </a:spcBef>
                        <a:spcAft>
                          <a:spcPts val="0"/>
                        </a:spcAft>
                        <a:buNone/>
                      </a:pPr>
                      <a:r>
                        <a:rPr lang="en" sz="1200">
                          <a:latin typeface="Poppins"/>
                          <a:ea typeface="Poppins"/>
                          <a:cs typeface="Poppins"/>
                          <a:sym typeface="Poppins"/>
                        </a:rPr>
                        <a:t>Reset context: the single most important command. Use between tasks.</a:t>
                      </a:r>
                      <a:endParaRPr sz="1200">
                        <a:latin typeface="Poppins"/>
                        <a:ea typeface="Poppins"/>
                        <a:cs typeface="Poppins"/>
                        <a:sym typeface="Poppins"/>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Clr>
                          <a:schemeClr val="dk1"/>
                        </a:buClr>
                        <a:buSzPts val="1100"/>
                        <a:buFont typeface="Arial"/>
                        <a:buNone/>
                      </a:pPr>
                      <a:r>
                        <a:rPr lang="en" sz="1200">
                          <a:solidFill>
                            <a:srgbClr val="2D3748"/>
                          </a:solidFill>
                          <a:latin typeface="Poppins"/>
                          <a:ea typeface="Poppins"/>
                          <a:cs typeface="Poppins"/>
                          <a:sym typeface="Poppins"/>
                        </a:rPr>
                        <a:t>/compact [+ details]</a:t>
                      </a:r>
                      <a:endParaRPr sz="1200">
                        <a:latin typeface="Poppins"/>
                        <a:ea typeface="Poppins"/>
                        <a:cs typeface="Poppins"/>
                        <a:sym typeface="Poppins"/>
                      </a:endParaRPr>
                    </a:p>
                  </a:txBody>
                  <a:tcPr marL="91425" marR="91425" marT="91425" marB="91425"/>
                </a:tc>
                <a:tc>
                  <a:txBody>
                    <a:bodyPr/>
                    <a:lstStyle/>
                    <a:p>
                      <a:pPr marL="0" lvl="0" indent="0" algn="ctr" rtl="0">
                        <a:spcBef>
                          <a:spcPts val="0"/>
                        </a:spcBef>
                        <a:spcAft>
                          <a:spcPts val="0"/>
                        </a:spcAft>
                        <a:buNone/>
                      </a:pPr>
                      <a:r>
                        <a:rPr lang="en" sz="1200">
                          <a:latin typeface="Poppins"/>
                          <a:ea typeface="Poppins"/>
                          <a:cs typeface="Poppins"/>
                          <a:sym typeface="Poppins"/>
                        </a:rPr>
                        <a:t>Manually trigger compaction when quality degrades</a:t>
                      </a:r>
                      <a:endParaRPr sz="1200">
                        <a:latin typeface="Poppins"/>
                        <a:ea typeface="Poppins"/>
                        <a:cs typeface="Poppins"/>
                        <a:sym typeface="Poppins"/>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ctr" rtl="0">
                        <a:spcBef>
                          <a:spcPts val="0"/>
                        </a:spcBef>
                        <a:spcAft>
                          <a:spcPts val="0"/>
                        </a:spcAft>
                        <a:buClr>
                          <a:schemeClr val="dk1"/>
                        </a:buClr>
                        <a:buSzPts val="1100"/>
                        <a:buFont typeface="Arial"/>
                        <a:buNone/>
                      </a:pPr>
                      <a:r>
                        <a:rPr lang="en" sz="1200">
                          <a:solidFill>
                            <a:srgbClr val="2D3748"/>
                          </a:solidFill>
                          <a:latin typeface="Poppins"/>
                          <a:ea typeface="Poppins"/>
                          <a:cs typeface="Poppins"/>
                          <a:sym typeface="Poppins"/>
                        </a:rPr>
                        <a:t>/context</a:t>
                      </a:r>
                      <a:endParaRPr sz="1200">
                        <a:latin typeface="Poppins"/>
                        <a:ea typeface="Poppins"/>
                        <a:cs typeface="Poppins"/>
                        <a:sym typeface="Poppins"/>
                      </a:endParaRPr>
                    </a:p>
                  </a:txBody>
                  <a:tcPr marL="91425" marR="91425" marT="91425" marB="91425"/>
                </a:tc>
                <a:tc>
                  <a:txBody>
                    <a:bodyPr/>
                    <a:lstStyle/>
                    <a:p>
                      <a:pPr marL="0" lvl="0" indent="0" algn="ctr" rtl="0">
                        <a:spcBef>
                          <a:spcPts val="0"/>
                        </a:spcBef>
                        <a:spcAft>
                          <a:spcPts val="0"/>
                        </a:spcAft>
                        <a:buNone/>
                      </a:pPr>
                      <a:r>
                        <a:rPr lang="en" sz="1200">
                          <a:latin typeface="Poppins"/>
                          <a:ea typeface="Poppins"/>
                          <a:cs typeface="Poppins"/>
                          <a:sym typeface="Poppins"/>
                        </a:rPr>
                        <a:t>Show context window usage breakdown</a:t>
                      </a:r>
                      <a:endParaRPr sz="1200">
                        <a:latin typeface="Poppins"/>
                        <a:ea typeface="Poppins"/>
                        <a:cs typeface="Poppins"/>
                        <a:sym typeface="Poppins"/>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ctr" rtl="0">
                        <a:spcBef>
                          <a:spcPts val="0"/>
                        </a:spcBef>
                        <a:spcAft>
                          <a:spcPts val="0"/>
                        </a:spcAft>
                        <a:buClr>
                          <a:schemeClr val="dk1"/>
                        </a:buClr>
                        <a:buSzPts val="1100"/>
                        <a:buFont typeface="Arial"/>
                        <a:buNone/>
                      </a:pPr>
                      <a:r>
                        <a:rPr lang="en" sz="1200">
                          <a:solidFill>
                            <a:srgbClr val="2D3748"/>
                          </a:solidFill>
                          <a:latin typeface="Poppins"/>
                          <a:ea typeface="Poppins"/>
                          <a:cs typeface="Poppins"/>
                          <a:sym typeface="Poppins"/>
                        </a:rPr>
                        <a:t>/model</a:t>
                      </a:r>
                      <a:endParaRPr sz="1200">
                        <a:latin typeface="Poppins"/>
                        <a:ea typeface="Poppins"/>
                        <a:cs typeface="Poppins"/>
                        <a:sym typeface="Poppins"/>
                      </a:endParaRPr>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 sz="1200">
                          <a:solidFill>
                            <a:srgbClr val="2D3748"/>
                          </a:solidFill>
                          <a:latin typeface="Poppins"/>
                          <a:ea typeface="Poppins"/>
                          <a:cs typeface="Poppins"/>
                          <a:sym typeface="Poppins"/>
                        </a:rPr>
                        <a:t>Switch model</a:t>
                      </a:r>
                      <a:endParaRPr sz="1200">
                        <a:latin typeface="Poppins"/>
                        <a:ea typeface="Poppins"/>
                        <a:cs typeface="Poppins"/>
                        <a:sym typeface="Poppins"/>
                      </a:endParaRPr>
                    </a:p>
                  </a:txBody>
                  <a:tcPr marL="91425" marR="91425" marT="91425" marB="91425"/>
                </a:tc>
                <a:extLst>
                  <a:ext uri="{0D108BD9-81ED-4DB2-BD59-A6C34878D82A}">
                    <a16:rowId xmlns:a16="http://schemas.microsoft.com/office/drawing/2014/main" val="10004"/>
                  </a:ext>
                </a:extLst>
              </a:tr>
              <a:tr h="381000">
                <a:tc>
                  <a:txBody>
                    <a:bodyPr/>
                    <a:lstStyle/>
                    <a:p>
                      <a:pPr marL="0" lvl="0" indent="0" algn="ctr" rtl="0">
                        <a:spcBef>
                          <a:spcPts val="0"/>
                        </a:spcBef>
                        <a:spcAft>
                          <a:spcPts val="0"/>
                        </a:spcAft>
                        <a:buClr>
                          <a:schemeClr val="dk1"/>
                        </a:buClr>
                        <a:buSzPts val="1100"/>
                        <a:buFont typeface="Arial"/>
                        <a:buNone/>
                      </a:pPr>
                      <a:r>
                        <a:rPr lang="en" sz="1200">
                          <a:solidFill>
                            <a:srgbClr val="2D3748"/>
                          </a:solidFill>
                          <a:latin typeface="Poppins"/>
                          <a:ea typeface="Poppins"/>
                          <a:cs typeface="Poppins"/>
                          <a:sym typeface="Poppins"/>
                        </a:rPr>
                        <a:t>/resume</a:t>
                      </a:r>
                      <a:endParaRPr sz="1200">
                        <a:latin typeface="Poppins"/>
                        <a:ea typeface="Poppins"/>
                        <a:cs typeface="Poppins"/>
                        <a:sym typeface="Poppins"/>
                      </a:endParaRPr>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 sz="1200">
                          <a:solidFill>
                            <a:srgbClr val="2D3748"/>
                          </a:solidFill>
                          <a:latin typeface="Poppins"/>
                          <a:ea typeface="Poppins"/>
                          <a:cs typeface="Poppins"/>
                          <a:sym typeface="Poppins"/>
                        </a:rPr>
                        <a:t>Resume a previous session</a:t>
                      </a:r>
                      <a:endParaRPr sz="1200">
                        <a:latin typeface="Poppins"/>
                        <a:ea typeface="Poppins"/>
                        <a:cs typeface="Poppins"/>
                        <a:sym typeface="Poppins"/>
                      </a:endParaRPr>
                    </a:p>
                  </a:txBody>
                  <a:tcPr marL="91425" marR="91425" marT="91425" marB="91425"/>
                </a:tc>
                <a:extLst>
                  <a:ext uri="{0D108BD9-81ED-4DB2-BD59-A6C34878D82A}">
                    <a16:rowId xmlns:a16="http://schemas.microsoft.com/office/drawing/2014/main" val="10005"/>
                  </a:ext>
                </a:extLst>
              </a:tr>
              <a:tr h="381000">
                <a:tc>
                  <a:txBody>
                    <a:bodyPr/>
                    <a:lstStyle/>
                    <a:p>
                      <a:pPr marL="0" lvl="0" indent="0" algn="ctr" rtl="0">
                        <a:spcBef>
                          <a:spcPts val="0"/>
                        </a:spcBef>
                        <a:spcAft>
                          <a:spcPts val="0"/>
                        </a:spcAft>
                        <a:buClr>
                          <a:schemeClr val="dk1"/>
                        </a:buClr>
                        <a:buSzPts val="1100"/>
                        <a:buFont typeface="Arial"/>
                        <a:buNone/>
                      </a:pPr>
                      <a:r>
                        <a:rPr lang="en" sz="1200">
                          <a:solidFill>
                            <a:srgbClr val="2D3748"/>
                          </a:solidFill>
                          <a:latin typeface="Poppins"/>
                          <a:ea typeface="Poppins"/>
                          <a:cs typeface="Poppins"/>
                          <a:sym typeface="Poppins"/>
                        </a:rPr>
                        <a:t>/rewind</a:t>
                      </a:r>
                      <a:endParaRPr sz="1200">
                        <a:latin typeface="Poppins"/>
                        <a:ea typeface="Poppins"/>
                        <a:cs typeface="Poppins"/>
                        <a:sym typeface="Poppins"/>
                      </a:endParaRPr>
                    </a:p>
                  </a:txBody>
                  <a:tcPr marL="91425" marR="91425" marT="91425" marB="91425"/>
                </a:tc>
                <a:tc>
                  <a:txBody>
                    <a:bodyPr/>
                    <a:lstStyle/>
                    <a:p>
                      <a:pPr marL="0" lvl="0" indent="0" algn="ctr" rtl="0">
                        <a:spcBef>
                          <a:spcPts val="0"/>
                        </a:spcBef>
                        <a:spcAft>
                          <a:spcPts val="0"/>
                        </a:spcAft>
                        <a:buClr>
                          <a:schemeClr val="dk1"/>
                        </a:buClr>
                        <a:buSzPts val="1100"/>
                        <a:buFont typeface="Arial"/>
                        <a:buNone/>
                      </a:pPr>
                      <a:r>
                        <a:rPr lang="en" sz="1200">
                          <a:solidFill>
                            <a:srgbClr val="2D3748"/>
                          </a:solidFill>
                          <a:latin typeface="Poppins"/>
                          <a:ea typeface="Poppins"/>
                          <a:cs typeface="Poppins"/>
                          <a:sym typeface="Poppins"/>
                        </a:rPr>
                        <a:t>Restore previous conversation and code state</a:t>
                      </a:r>
                      <a:endParaRPr sz="1200">
                        <a:latin typeface="Poppins"/>
                        <a:ea typeface="Poppins"/>
                        <a:cs typeface="Poppins"/>
                        <a:sym typeface="Poppins"/>
                      </a:endParaRPr>
                    </a:p>
                  </a:txBody>
                  <a:tcPr marL="91425" marR="91425" marT="91425" marB="91425"/>
                </a:tc>
                <a:extLst>
                  <a:ext uri="{0D108BD9-81ED-4DB2-BD59-A6C34878D82A}">
                    <a16:rowId xmlns:a16="http://schemas.microsoft.com/office/drawing/2014/main" val="10006"/>
                  </a:ext>
                </a:extLst>
              </a:tr>
            </a:tbl>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79"/>
        <p:cNvGrpSpPr/>
        <p:nvPr/>
      </p:nvGrpSpPr>
      <p:grpSpPr>
        <a:xfrm>
          <a:off x="0" y="0"/>
          <a:ext cx="0" cy="0"/>
          <a:chOff x="0" y="0"/>
          <a:chExt cx="0" cy="0"/>
        </a:xfrm>
      </p:grpSpPr>
      <p:sp>
        <p:nvSpPr>
          <p:cNvPr id="380" name="Google Shape;380;p52"/>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Claude Code CLI: context</a:t>
            </a:r>
            <a:endParaRPr/>
          </a:p>
        </p:txBody>
      </p:sp>
      <p:pic>
        <p:nvPicPr>
          <p:cNvPr id="381" name="Google Shape;381;p52"/>
          <p:cNvPicPr preferRelativeResize="0"/>
          <p:nvPr/>
        </p:nvPicPr>
        <p:blipFill>
          <a:blip r:embed="rId3">
            <a:alphaModFix/>
          </a:blip>
          <a:stretch>
            <a:fillRect/>
          </a:stretch>
        </p:blipFill>
        <p:spPr>
          <a:xfrm>
            <a:off x="2362200" y="718147"/>
            <a:ext cx="4419599" cy="3707215"/>
          </a:xfrm>
          <a:prstGeom prst="rect">
            <a:avLst/>
          </a:prstGeom>
          <a:noFill/>
          <a:ln>
            <a:noFill/>
          </a:ln>
        </p:spPr>
      </p:pic>
      <p:sp>
        <p:nvSpPr>
          <p:cNvPr id="382" name="Google Shape;382;p52"/>
          <p:cNvSpPr txBox="1"/>
          <p:nvPr/>
        </p:nvSpPr>
        <p:spPr>
          <a:xfrm>
            <a:off x="6949150" y="1278300"/>
            <a:ext cx="1918500" cy="4734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700">
                <a:solidFill>
                  <a:schemeClr val="dk1"/>
                </a:solidFill>
                <a:latin typeface="Poppins"/>
                <a:ea typeface="Poppins"/>
                <a:cs typeface="Poppins"/>
                <a:sym typeface="Poppins"/>
              </a:rPr>
              <a:t>Note:</a:t>
            </a:r>
            <a:endParaRPr sz="700">
              <a:solidFill>
                <a:schemeClr val="dk1"/>
              </a:solidFill>
              <a:latin typeface="Poppins"/>
              <a:ea typeface="Poppins"/>
              <a:cs typeface="Poppins"/>
              <a:sym typeface="Poppins"/>
            </a:endParaRPr>
          </a:p>
          <a:p>
            <a:pPr marL="0" lvl="0" indent="0" algn="ctr" rtl="0">
              <a:spcBef>
                <a:spcPts val="0"/>
              </a:spcBef>
              <a:spcAft>
                <a:spcPts val="0"/>
              </a:spcAft>
              <a:buNone/>
            </a:pPr>
            <a:r>
              <a:rPr lang="en" sz="700">
                <a:solidFill>
                  <a:schemeClr val="dk1"/>
                </a:solidFill>
                <a:latin typeface="Poppins"/>
                <a:ea typeface="Poppins"/>
                <a:cs typeface="Poppins"/>
                <a:sym typeface="Poppins"/>
              </a:rPr>
              <a:t>Memory → Long Term (stored on fs)</a:t>
            </a:r>
            <a:endParaRPr sz="700">
              <a:solidFill>
                <a:schemeClr val="dk1"/>
              </a:solidFill>
              <a:latin typeface="Poppins"/>
              <a:ea typeface="Poppins"/>
              <a:cs typeface="Poppins"/>
              <a:sym typeface="Poppins"/>
            </a:endParaRPr>
          </a:p>
          <a:p>
            <a:pPr marL="0" lvl="0" indent="0" algn="ctr" rtl="0">
              <a:spcBef>
                <a:spcPts val="0"/>
              </a:spcBef>
              <a:spcAft>
                <a:spcPts val="0"/>
              </a:spcAft>
              <a:buNone/>
            </a:pPr>
            <a:r>
              <a:rPr lang="en" sz="700">
                <a:solidFill>
                  <a:schemeClr val="dk1"/>
                </a:solidFill>
                <a:latin typeface="Poppins"/>
                <a:ea typeface="Poppins"/>
                <a:cs typeface="Poppins"/>
                <a:sym typeface="Poppins"/>
              </a:rPr>
              <a:t>Context → Short Term (conversation)</a:t>
            </a:r>
            <a:endParaRPr sz="700">
              <a:solidFill>
                <a:schemeClr val="dk1"/>
              </a:solidFill>
              <a:latin typeface="Poppins"/>
              <a:ea typeface="Poppins"/>
              <a:cs typeface="Poppins"/>
              <a:sym typeface="Poppin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53"/>
          <p:cNvSpPr txBox="1">
            <a:spLocks noGrp="1"/>
          </p:cNvSpPr>
          <p:nvPr>
            <p:ph type="title"/>
          </p:nvPr>
        </p:nvSpPr>
        <p:spPr>
          <a:xfrm>
            <a:off x="311700" y="154225"/>
            <a:ext cx="8520600" cy="5727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CLAUDE.md</a:t>
            </a:r>
            <a:endParaRPr/>
          </a:p>
        </p:txBody>
      </p:sp>
      <p:sp>
        <p:nvSpPr>
          <p:cNvPr id="388" name="Google Shape;388;p53"/>
          <p:cNvSpPr txBox="1">
            <a:spLocks noGrp="1"/>
          </p:cNvSpPr>
          <p:nvPr>
            <p:ph type="body" idx="1"/>
          </p:nvPr>
        </p:nvSpPr>
        <p:spPr>
          <a:xfrm>
            <a:off x="311700" y="979425"/>
            <a:ext cx="8520600" cy="3416400"/>
          </a:xfrm>
          <a:prstGeom prst="rect">
            <a:avLst/>
          </a:prstGeom>
        </p:spPr>
        <p:txBody>
          <a:bodyPr spcFirstLastPara="1" wrap="square" lIns="91425" tIns="91425" rIns="91425" bIns="91425" anchor="ctr" anchorCtr="0">
            <a:normAutofit fontScale="85000" lnSpcReduction="20000"/>
          </a:bodyPr>
          <a:lstStyle/>
          <a:p>
            <a:pPr marL="0" lvl="0" indent="0" algn="ctr" rtl="0">
              <a:spcBef>
                <a:spcPts val="0"/>
              </a:spcBef>
              <a:spcAft>
                <a:spcPts val="0"/>
              </a:spcAft>
              <a:buNone/>
            </a:pPr>
            <a:r>
              <a:rPr lang="en"/>
              <a:t>Markdown file placed at the root of your project (or any other directory, it is recursively considered) that gives Claude Code persistent context.</a:t>
            </a:r>
            <a:endParaRPr/>
          </a:p>
          <a:p>
            <a:pPr marL="457200" lvl="0" indent="-334328" algn="ctr" rtl="0">
              <a:spcBef>
                <a:spcPts val="1200"/>
              </a:spcBef>
              <a:spcAft>
                <a:spcPts val="0"/>
              </a:spcAft>
              <a:buSzPct val="100000"/>
              <a:buChar char="●"/>
            </a:pPr>
            <a:r>
              <a:rPr lang="en"/>
              <a:t>Project overview &amp; architecture</a:t>
            </a:r>
            <a:endParaRPr/>
          </a:p>
          <a:p>
            <a:pPr marL="457200" lvl="0" indent="-334328" algn="ctr" rtl="0">
              <a:spcBef>
                <a:spcPts val="0"/>
              </a:spcBef>
              <a:spcAft>
                <a:spcPts val="0"/>
              </a:spcAft>
              <a:buSzPct val="100000"/>
              <a:buChar char="●"/>
            </a:pPr>
            <a:r>
              <a:rPr lang="en"/>
              <a:t>Coding conventions &amp; style rules</a:t>
            </a:r>
            <a:endParaRPr/>
          </a:p>
          <a:p>
            <a:pPr marL="457200" lvl="0" indent="-334328" algn="ctr" rtl="0">
              <a:spcBef>
                <a:spcPts val="0"/>
              </a:spcBef>
              <a:spcAft>
                <a:spcPts val="0"/>
              </a:spcAft>
              <a:buSzPct val="100000"/>
              <a:buChar char="●"/>
            </a:pPr>
            <a:r>
              <a:rPr lang="en"/>
              <a:t>Preferred libraries &amp; frameworks</a:t>
            </a:r>
            <a:endParaRPr/>
          </a:p>
          <a:p>
            <a:pPr marL="457200" lvl="0" indent="-334328" algn="ctr" rtl="0">
              <a:spcBef>
                <a:spcPts val="0"/>
              </a:spcBef>
              <a:spcAft>
                <a:spcPts val="0"/>
              </a:spcAft>
              <a:buSzPct val="100000"/>
              <a:buChar char="●"/>
            </a:pPr>
            <a:r>
              <a:rPr lang="en"/>
              <a:t>Testing &amp; deployment instructions</a:t>
            </a:r>
            <a:endParaRPr/>
          </a:p>
          <a:p>
            <a:pPr marL="457200" lvl="0" indent="-334328" algn="ctr" rtl="0">
              <a:spcBef>
                <a:spcPts val="0"/>
              </a:spcBef>
              <a:spcAft>
                <a:spcPts val="0"/>
              </a:spcAft>
              <a:buSzPct val="100000"/>
              <a:buChar char="●"/>
            </a:pPr>
            <a:r>
              <a:rPr lang="en"/>
              <a:t>Common commands &amp; workflows</a:t>
            </a:r>
            <a:endParaRPr/>
          </a:p>
          <a:p>
            <a:pPr marL="457200" lvl="0" indent="-334328" algn="ctr" rtl="0">
              <a:spcBef>
                <a:spcPts val="0"/>
              </a:spcBef>
              <a:spcAft>
                <a:spcPts val="0"/>
              </a:spcAft>
              <a:buSzPct val="100000"/>
              <a:buChar char="●"/>
            </a:pPr>
            <a:r>
              <a:rPr lang="en"/>
              <a:t>Do's and Don'ts for the codebase</a:t>
            </a:r>
            <a:endParaRPr/>
          </a:p>
          <a:p>
            <a:pPr marL="0" lvl="0" indent="0" algn="ctr" rtl="0">
              <a:spcBef>
                <a:spcPts val="1200"/>
              </a:spcBef>
              <a:spcAft>
                <a:spcPts val="1200"/>
              </a:spcAft>
              <a:buNone/>
            </a:pPr>
            <a:r>
              <a:rPr lang="en" u="sng"/>
              <a:t>Useful, but do not completely rely on it</a:t>
            </a:r>
            <a:endParaRPr u="sng"/>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393" name="Google Shape;393;p5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Hands-on</a:t>
            </a:r>
            <a:endParaRPr/>
          </a:p>
        </p:txBody>
      </p:sp>
    </p:spTree>
  </p:cSld>
  <p:clrMapOvr>
    <a:masterClrMapping/>
  </p:clrMapOvr>
</p:sld>
</file>

<file path=ppt/theme/theme1.xml><?xml version="1.0" encoding="utf-8"?>
<a:theme xmlns:a="http://schemas.openxmlformats.org/drawingml/2006/main" name="Asthra HealthTech Theme">
  <a:themeElements>
    <a:clrScheme name="Simple Light">
      <a:dk1>
        <a:srgbClr val="000000"/>
      </a:dk1>
      <a:lt1>
        <a:srgbClr val="FFFFFF"/>
      </a:lt1>
      <a:dk2>
        <a:srgbClr val="33383B"/>
      </a:dk2>
      <a:lt2>
        <a:srgbClr val="929292"/>
      </a:lt2>
      <a:accent1>
        <a:srgbClr val="002D5C"/>
      </a:accent1>
      <a:accent2>
        <a:srgbClr val="055291"/>
      </a:accent2>
      <a:accent3>
        <a:srgbClr val="2A7ABC"/>
      </a:accent3>
      <a:accent4>
        <a:srgbClr val="0F95A4"/>
      </a:accent4>
      <a:accent5>
        <a:srgbClr val="5F6973"/>
      </a:accent5>
      <a:accent6>
        <a:srgbClr val="ECECED"/>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3528</Words>
  <Application>Microsoft Macintosh PowerPoint</Application>
  <PresentationFormat>On-screen Show (16:9)</PresentationFormat>
  <Paragraphs>311</Paragraphs>
  <Slides>47</Slides>
  <Notes>44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47</vt:i4>
      </vt:variant>
    </vt:vector>
  </HeadingPairs>
  <TitlesOfParts>
    <vt:vector size="52" baseType="lpstr">
      <vt:lpstr>Poppins ExtraBold</vt:lpstr>
      <vt:lpstr>Arial</vt:lpstr>
      <vt:lpstr>Poppins Light</vt:lpstr>
      <vt:lpstr>Poppins</vt:lpstr>
      <vt:lpstr>Asthra HealthTech Theme</vt:lpstr>
      <vt:lpstr>AI Agent Based Development </vt:lpstr>
      <vt:lpstr>Project Alfred: presentation</vt:lpstr>
      <vt:lpstr>Project Alfred: presentation</vt:lpstr>
      <vt:lpstr>Project Alfred: presentation</vt:lpstr>
      <vt:lpstr>Introduction</vt:lpstr>
      <vt:lpstr>Where are you with the AI?</vt:lpstr>
      <vt:lpstr>Week 1 - Overview</vt:lpstr>
      <vt:lpstr>LLMs Overview</vt:lpstr>
      <vt:lpstr>A step back: ML</vt:lpstr>
      <vt:lpstr>ML: complementary perspectives</vt:lpstr>
      <vt:lpstr>From ML to LLMs</vt:lpstr>
      <vt:lpstr>LLMs</vt:lpstr>
      <vt:lpstr>LLM: training and prompting</vt:lpstr>
      <vt:lpstr>LLM: local vs remote</vt:lpstr>
      <vt:lpstr>What LLMs are good at</vt:lpstr>
      <vt:lpstr>Limitations of LLMs (1) verbose</vt:lpstr>
      <vt:lpstr>Limitations of LLMs (2)</vt:lpstr>
      <vt:lpstr>Reasoning models</vt:lpstr>
      <vt:lpstr>Context Window and Prompt Engineering</vt:lpstr>
      <vt:lpstr>Key concepts</vt:lpstr>
      <vt:lpstr>Context Window Overview (Anthropic)</vt:lpstr>
      <vt:lpstr>Context Degradation</vt:lpstr>
      <vt:lpstr>Context Management and Workflows</vt:lpstr>
      <vt:lpstr>Workflow example</vt:lpstr>
      <vt:lpstr>Exercise 1</vt:lpstr>
      <vt:lpstr>Effective Prompt Anatomy</vt:lpstr>
      <vt:lpstr>Effective Prompt Anatomy - Examples</vt:lpstr>
      <vt:lpstr>Exercise 2</vt:lpstr>
      <vt:lpstr>Prompt improvements</vt:lpstr>
      <vt:lpstr>Prompt improvements</vt:lpstr>
      <vt:lpstr>Prompt improvements</vt:lpstr>
      <vt:lpstr>Prompt improvements</vt:lpstr>
      <vt:lpstr>Prompt improvements</vt:lpstr>
      <vt:lpstr>Divide &amp; Conquer: larger changes (features and refactoring)</vt:lpstr>
      <vt:lpstr>Divide &amp; Conquer: larger changes (features and refactoring)</vt:lpstr>
      <vt:lpstr>Exercise</vt:lpstr>
      <vt:lpstr>Exercise 0</vt:lpstr>
      <vt:lpstr>Provide the LLM with examples</vt:lpstr>
      <vt:lpstr>Final considerations</vt:lpstr>
      <vt:lpstr>We have just started scratching the surface…</vt:lpstr>
      <vt:lpstr>Claude Code</vt:lpstr>
      <vt:lpstr>Claude Code: from Chatbot to Agent</vt:lpstr>
      <vt:lpstr>Claude Code CLI: overview</vt:lpstr>
      <vt:lpstr>Useful (first) Claude Code commands</vt:lpstr>
      <vt:lpstr>Claude Code CLI: context</vt:lpstr>
      <vt:lpstr>CLAUDE.md</vt:lpstr>
      <vt:lpstr>Hands-on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Lakshitha Matarage</cp:lastModifiedBy>
  <cp:revision>3</cp:revision>
  <dcterms:modified xsi:type="dcterms:W3CDTF">2026-10-18T02:21:27Z</dcterms:modified>
</cp:coreProperties>
</file>